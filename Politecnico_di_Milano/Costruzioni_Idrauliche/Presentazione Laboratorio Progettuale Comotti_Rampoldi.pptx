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3"/>
  </p:notesMasterIdLst>
  <p:handoutMasterIdLst>
    <p:handoutMasterId r:id="rId44"/>
  </p:handoutMasterIdLst>
  <p:sldIdLst>
    <p:sldId id="256" r:id="rId3"/>
    <p:sldId id="261" r:id="rId4"/>
    <p:sldId id="270" r:id="rId5"/>
    <p:sldId id="262" r:id="rId6"/>
    <p:sldId id="263" r:id="rId7"/>
    <p:sldId id="264" r:id="rId8"/>
    <p:sldId id="303" r:id="rId9"/>
    <p:sldId id="266" r:id="rId10"/>
    <p:sldId id="265" r:id="rId11"/>
    <p:sldId id="268" r:id="rId12"/>
    <p:sldId id="269" r:id="rId13"/>
    <p:sldId id="302" r:id="rId14"/>
    <p:sldId id="271" r:id="rId15"/>
    <p:sldId id="277" r:id="rId16"/>
    <p:sldId id="278" r:id="rId17"/>
    <p:sldId id="279" r:id="rId18"/>
    <p:sldId id="280" r:id="rId19"/>
    <p:sldId id="290" r:id="rId20"/>
    <p:sldId id="284" r:id="rId21"/>
    <p:sldId id="272" r:id="rId22"/>
    <p:sldId id="285" r:id="rId23"/>
    <p:sldId id="281" r:id="rId24"/>
    <p:sldId id="288" r:id="rId25"/>
    <p:sldId id="283" r:id="rId26"/>
    <p:sldId id="304" r:id="rId27"/>
    <p:sldId id="305" r:id="rId28"/>
    <p:sldId id="306" r:id="rId29"/>
    <p:sldId id="292" r:id="rId30"/>
    <p:sldId id="276" r:id="rId31"/>
    <p:sldId id="287" r:id="rId32"/>
    <p:sldId id="286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</p:sldIdLst>
  <p:sldSz cx="12192000" cy="6858000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2142"/>
    <a:srgbClr val="1A415D"/>
    <a:srgbClr val="728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113A9D2-9D6B-4929-AA2D-F23B5EE8CBE7}" styleName="Stile con tema 2 - Color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Stile chi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ò Comotti" userId="S::10795173@polimi.it::954cdab0-7519-4e73-804a-4080ccd729b6" providerId="AD" clId="Web-{BA4579E5-F27E-2A3A-44B6-D98404D36D20}"/>
    <pc:docChg chg="modSld">
      <pc:chgData name="Nicolò Comotti" userId="S::10795173@polimi.it::954cdab0-7519-4e73-804a-4080ccd729b6" providerId="AD" clId="Web-{BA4579E5-F27E-2A3A-44B6-D98404D36D20}" dt="2024-05-14T07:40:41.676" v="7" actId="20577"/>
      <pc:docMkLst>
        <pc:docMk/>
      </pc:docMkLst>
      <pc:sldChg chg="modSp">
        <pc:chgData name="Nicolò Comotti" userId="S::10795173@polimi.it::954cdab0-7519-4e73-804a-4080ccd729b6" providerId="AD" clId="Web-{BA4579E5-F27E-2A3A-44B6-D98404D36D20}" dt="2024-05-14T07:40:41.676" v="7" actId="20577"/>
        <pc:sldMkLst>
          <pc:docMk/>
          <pc:sldMk cId="1912240870" sldId="283"/>
        </pc:sldMkLst>
        <pc:spChg chg="mod">
          <ac:chgData name="Nicolò Comotti" userId="S::10795173@polimi.it::954cdab0-7519-4e73-804a-4080ccd729b6" providerId="AD" clId="Web-{BA4579E5-F27E-2A3A-44B6-D98404D36D20}" dt="2024-05-14T07:40:41.676" v="7" actId="20577"/>
          <ac:spMkLst>
            <pc:docMk/>
            <pc:sldMk cId="1912240870" sldId="283"/>
            <ac:spMk id="3" creationId="{00000000-0000-0000-0000-000000000000}"/>
          </ac:spMkLst>
        </pc:spChg>
      </pc:sldChg>
    </pc:docChg>
  </pc:docChgLst>
  <pc:docChgLst>
    <pc:chgData name="Nicolò Comotti" userId="S::10795173@polimi.it::954cdab0-7519-4e73-804a-4080ccd729b6" providerId="AD" clId="Web-{A33B7ECB-C5EB-9E4A-0A65-EF789FEE8E76}"/>
    <pc:docChg chg="modSld">
      <pc:chgData name="Nicolò Comotti" userId="S::10795173@polimi.it::954cdab0-7519-4e73-804a-4080ccd729b6" providerId="AD" clId="Web-{A33B7ECB-C5EB-9E4A-0A65-EF789FEE8E76}" dt="2024-05-14T07:31:35.600" v="8" actId="20577"/>
      <pc:docMkLst>
        <pc:docMk/>
      </pc:docMkLst>
      <pc:sldChg chg="modSp">
        <pc:chgData name="Nicolò Comotti" userId="S::10795173@polimi.it::954cdab0-7519-4e73-804a-4080ccd729b6" providerId="AD" clId="Web-{A33B7ECB-C5EB-9E4A-0A65-EF789FEE8E76}" dt="2024-05-14T07:31:35.600" v="8" actId="20577"/>
        <pc:sldMkLst>
          <pc:docMk/>
          <pc:sldMk cId="1768773556" sldId="262"/>
        </pc:sldMkLst>
        <pc:spChg chg="mod">
          <ac:chgData name="Nicolò Comotti" userId="S::10795173@polimi.it::954cdab0-7519-4e73-804a-4080ccd729b6" providerId="AD" clId="Web-{A33B7ECB-C5EB-9E4A-0A65-EF789FEE8E76}" dt="2024-05-14T07:31:35.600" v="8" actId="20577"/>
          <ac:spMkLst>
            <pc:docMk/>
            <pc:sldMk cId="1768773556" sldId="262"/>
            <ac:spMk id="8" creationId="{BA78C8EE-43B1-4CC2-AA0C-74F6F27D36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D687A-215B-4053-8D9D-C306C2FF0CF9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F2FE9-4A00-41A8-A3A6-2697E51A530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97852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7T15:59:20.1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7T15:59:24.6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24575,'5'0'0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7T15:59:29.7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7T15:59:34.0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3T14:46:47.5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144 251 24575,'3'0'0,"-1"1"0,1-1 0,-1 1 0,1-1 0,-1 1 0,0 0 0,1 0 0,-1 0 0,0 0 0,0 1 0,1-1 0,-1 0 0,0 1 0,-1 0 0,1-1 0,0 1 0,0 0 0,-1 0 0,1 0 0,-1 0 0,2 3 0,4 7 0,0 1 0,8 22 0,-3-6 0,-11-28 0,1 4 0,0 0 0,1 0 0,0 0 0,0-1 0,0 1 0,0-1 0,1 0 0,0 1 0,5 3 0,-9-8 0,1 0 0,-1 0 0,1 1 0,-1-1 0,1 0 0,-1 0 0,0 0 0,1 0 0,-1 0 0,1 0 0,-1 0 0,1 0 0,-1 0 0,0 0 0,1-1 0,-1 1 0,1 0 0,-1 0 0,0 0 0,1 0 0,-1-1 0,1 1 0,-1 0 0,0 0 0,1-1 0,-1 1 0,0 0 0,0-1 0,1 1 0,-1 0 0,0-1 0,0 1 0,1 0 0,-1-1 0,0 1 0,0-1 0,0 1 0,0 0 0,1-1 0,-1 1 0,0-1 0,0 1 0,0-1 0,0 1 0,0 0 0,0-2 0,2-20 0,-3 17 0,-1 0 0,1 0 0,-1 0 0,0 0 0,0 0 0,-1 0 0,1 1 0,-1-1 0,0 1 0,0 0 0,0 0 0,-1 0 0,-7-6 0,-6-6 0,-31-20 0,33 23 0,0 0 0,1 0 0,1-1 0,0-1 0,1 0 0,1-1 0,0 0 0,1 0 0,1-1 0,1-1 0,0 0 0,-9-31 0,16 46 0,-8-22 0,3 20 0,3 17 0,2-1 17,0-1 0,1 1 1,0-1-1,1 1 0,0-1 0,3 13 0,-2-18-110,-1 0 0,1 0 1,0-1-1,1 1 0,-1-1 0,1 1 0,0-1 0,0 0 1,0 0-1,0 0 0,1 0 0,-1-1 0,1 0 1,0 1-1,5 2 0,7 3-6733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3T14:46:55.8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185 246 24575,'0'-5'0,"0"1"0,0 0 0,0-1 0,-1 1 0,1 0 0,-1 0 0,0-1 0,-1 1 0,1 0 0,-1 0 0,0 0 0,0 0 0,0 1 0,0-1 0,-5-6 0,-2-1 0,1-2 0,0 1 0,-6-16 0,0 1 0,4 10 0,0 2 0,-19-24 0,29 39 0,-1-1 0,1 0 0,-1 0 0,0 0 0,1 1 0,-1-1 0,0 0 0,1 0 0,-1 1 0,0-1 0,0 1 0,0-1 0,0 1 0,0-1 0,0 1 0,0 0 0,0-1 0,0 1 0,1 0 0,-1 0 0,0-1 0,-1 1 0,1 0 0,0 0 0,0 0 0,0 0 0,0 1 0,0-1 0,0 0 0,0 0 0,1 0 0,-1 1 0,0-1 0,0 1 0,0-1 0,0 1 0,0-1 0,0 1 0,0-1 0,1 1 0,-1 0 0,0-1 0,0 1 0,1 0 0,-1 0 0,1 0 0,-1-1 0,1 1 0,-1 0 0,1 0 0,-1 0 0,1 1 0,-3 4 0,0-1 0,1 1 0,0 0 0,0 0 0,0 0 0,1 1 0,-1 7 0,1 151 0,3-74 0,-2-91 0,0 0 0,0 0 0,0 0 0,0 1 0,0-1 0,0 0 0,0 0 0,0 0 0,0 0 0,0 0 0,0 0 0,0 0 0,0 1 0,0-1 0,0 0 0,0 0 0,0 0 0,0 0 0,0 0 0,1 0 0,-1 0 0,0 0 0,0 1 0,0-1 0,0 0 0,0 0 0,0 0 0,0 0 0,0 0 0,1 0 0,-1 0 0,0 0 0,0 0 0,0 0 0,0 0 0,0 0 0,0 0 0,0 0 0,1 0 0,-1 0 0,0 0 0,0 0 0,0 0 0,0 0 0,0 0 0,0 0 0,1 0 0,-1 0 0,0 0 0,0 0 0,0 0 0,0 0 0,0 0 0,0-1 0,11-5 0,7-11 0,-15 12 0,0-1 0,0 1 0,0-1 0,-1 0 0,0 0 0,0 0 0,0 0 0,-1 0 0,1 0 0,-1-8 0,0-6 0,-2-36 0,-1 139 0,0-56 0,1 0 0,6 48 0,-5-74 0,0 0 0,0 0 0,0 0 0,0 0 0,0 0 0,0 0 0,0-1 0,1 1 0,-1 0 0,0 0 0,1 0 0,-1 0 0,1-1 0,-1 1 0,1 0 0,-1 0 0,1-1 0,-1 1 0,1 0 0,1 0 0,-1-1 0,-1 0 0,1 0 0,-1 0 0,1 0 0,-1 0 0,1 0 0,-1-1 0,1 1 0,0 0 0,-1-1 0,0 1 0,1 0 0,-1-1 0,1 1 0,-1 0 0,1-1 0,-1 1 0,0-1 0,1 1 0,-1-1 0,0 1 0,1-1 0,-1 0 0,17-36 0,-5-30 0,-9 49 0,0-1 0,1 1 0,12-34 0,-16 51 0,1-1 0,-1 1 0,0 0 0,1 0 0,-1 0 0,1 0 0,0 0 0,-1 0 0,1 0 0,0 0 0,0 0 0,-1 0 0,1 1 0,0-1 0,0 0 0,2-1 0,-3 2 0,1 1 0,-1-1 0,1 0 0,-1 0 0,0 0 0,1 0 0,-1 1 0,0-1 0,1 0 0,-1 1 0,0-1 0,1 0 0,-1 0 0,0 1 0,0-1 0,1 0 0,-1 1 0,0-1 0,0 1 0,0-1 0,1 0 0,-1 1 0,0-1 0,0 1 0,0-1 0,0 0 0,0 1 0,0-1 0,0 1 0,1 4 0,0-1 0,-1 1 0,0-1 0,0 1 0,0 0 0,0-1 0,-2 8 0,-38 170 0,27-137 0,10-36 0,0 0 0,1 0 0,0 0 0,-2 17 0,4 71 0,28-114 0,-22 11 0,0-1 0,0 0 0,-1 0 0,0 0 0,0-1 0,-1 1 0,1-1 0,-2 0 0,1-1 0,-1 1 0,2-11 0,4-16 0,5-47 0,-14 79 0,33-168 0,-34 172 0,-20 39 0,14-28 0,-8 13 0,15-25 0,0 1 0,0-1 0,-1 1 0,1-1 0,0 1 0,-1-1 0,1 1 0,0-1 0,-1 0 0,1 1 0,0-1 0,-1 0 0,1 1 0,-1-1 0,1 0 0,-1 1 0,1-1 0,-1 0 0,1 0 0,-1 0 0,1 1 0,-1-1 0,1 0 0,-1 0 0,1 0 0,-1 0 0,1 0 0,-1 0 0,1 0 0,-1 0 0,1 0 0,-1 0 0,1 0 0,-1-1 0,0 1 0,1 0-39,0-1 0,0 1 0,0 0 0,0-1 0,0 1 0,0 0 0,0 0 0,0-1 0,0 1 0,0 0 0,0-1 0,0 1 0,0 0 0,0-1 0,0 1 0,0 0 0,0-1 0,0 1 0,1 0 0,-1 0 0,0-1 0,0 1 0,0 0 0,0-1 0,1 1 0,-1 0 0,0 0 0,0 0 0,1-1 0,-1 1 0,0 0 0,0 0 0,1 0 0,-1-1 0,8-4-6787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3T14:47:35.9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1649 94 24575,'8'1'0,"1"-1"0,-1-1 0,0 0 0,13-2 0,-18 2 0,1-1 0,-1 1 0,1-1 0,-1 0 0,0 0 0,0 0 0,0 0 0,0-1 0,0 1 0,0-1 0,-1 0 0,4-3 0,-1 0 0,1 0 0,0 1 0,0-1 0,0 2 0,1-1 0,0 1 0,0 0 0,14-6 0,-26 12 0,1 1 0,0 0 0,-1 0 0,1 0 0,-5 6 0,-21 14 0,21-18 0,-13 8 0,-1-2 0,0 0 0,0-2 0,-1 0 0,-35 7 0,48-13 0,-1 1 0,1 0 0,0 1 0,0 0 0,1 1 0,-18 13 0,-12 5 0,40-24 0,1 0 0,-1 0 0,0 0 0,0 0 0,0 0 0,0 0 0,0 0 0,1 0 0,-1 1 0,0-1 0,0 0 0,0 0 0,0 0 0,0 0 0,0 0 0,0 0 0,0 1 0,0-1 0,1 0 0,-1 0 0,0 0 0,0 0 0,0 0 0,0 1 0,0-1 0,0 0 0,0 0 0,0 0 0,0 0 0,0 1 0,0-1 0,0 0 0,0 0 0,0 0 0,0 0 0,0 0 0,-1 1 0,1-1 0,0 0 0,0 0 0,21-6 0,-11-2 0,0 1 0,0 1 0,1 0 0,0 0 0,0 1 0,0 1 0,20-6 0,26-10 0,-20 0 0,-31 16 0,1 0 0,0 0 0,0 1 0,0 0 0,0 0 0,14-3 0,-12 4 0,1 0 0,-1-2 0,1 1 0,-1-1 0,0 0 0,-1-1 0,1 0 0,-1 0 0,8-7 0,-8 6 0,4 0 0,-10 5 0,0 1 0,0-1 0,-1 0 0,1 0 0,0 0 0,0 0 0,-1 0 0,1 0 0,-1-1 0,1 1 0,-1 0 0,1-1 0,0-1 0,-4 0 0,-5 8 0,-6 9 0,10-10 0,-1 0 0,1-1 0,-1 1 0,1-1 0,-1 1 0,0-1 0,0 0 0,-1-1 0,1 1 0,-1-1 0,1 0 0,-1 0 0,0 0 0,-6 1 0,-23 11 0,-28 17 0,58-28 0,0-1 0,0 0 0,-1 0 0,1-1 0,0 1 0,-8 1 0,8-3 0,1 1 0,-1 0 0,1 0 0,-1 0 0,1 1 0,0-1 0,0 1 0,0 0 0,-1-1 0,2 2 0,-1-1 0,-3 3 0,-2 2 0,0 0 0,-1-1 0,0 0 0,0-1 0,0 0 0,0 0 0,-1-1 0,0 0 0,-14 4 0,15-5 0,-4 4 0,0 0 0,0 1 0,1 0 0,0 1 0,-12 11 0,13-11 0,0 1 0,-1-2 0,0 1 0,-1-2 0,-24 12 0,31-15 0,0-1 0,1 1 0,-1 0 0,1 1 0,0-1 0,0 1 0,1 0 0,-1 0 0,1 0 0,0 1 0,1 0 0,-1-1 0,-4 14 0,-25 32 0,9-18 0,18-25 0,0 1 0,0-1 0,-1-1 0,-14 14 0,10-9 0,9-11 0,1 1 0,0-1 0,-1 1 0,1-1 0,-1 1 0,1-1 0,-1 0 0,0 1 0,1-1 0,-4 1 0,9-4 0,1 0 0,-1-1 0,0 1 0,0-1 0,0 0 0,0 0 0,-1-1 0,1 1 0,-1-1 0,0 0 0,0 1 0,0-1 0,-1-1 0,5-7 0,-2 4 0,0 0 0,0 1 0,1 0 0,8-9 0,5-1 0,-1 0 0,-1-1 0,28-38 0,-37 46 0,0 2 0,0-1 0,1 1 0,0 0 0,0 1 0,20-12 0,17-14 0,-22 8 0,-24 25 0,0 0 0,0-1 0,0 1 0,1 0 0,-1 0 0,0-1 0,0 1 0,0 0 0,0-1 0,0 1 0,1-1 0,-1 1 0,0 0 0,0-1 0,0 1 0,0 0 0,0-1 0,0 1 0,0 0 0,0-1 0,0 1 0,-1-1 0,1 1 0,0 0 0,0-1 0,0 1 0,0 0 0,0-1 0,-1 1 0,0-1 0,0 1 0,0-1 0,0 1 0,0 0 0,0-1 0,0 1 0,0 0 0,0 0 0,0-1 0,0 1 0,0 0 0,0 0 0,-1 0 0,1 0 0,-2 1 0,1 0 0,-1 0 0,0 0 0,1 0 0,-1 0 0,1 1 0,-1-1 0,1 1 0,0 0 0,0 0 0,-1-1 0,1 1 0,0 1 0,1-1 0,-1 0 0,-1 3 0,-21 18 0,12-16 0,0 1 0,1 1 0,-1 0 0,2 0 0,-1 1 0,1 0 0,1 1 0,-16 23 0,22-30 0,1 0 0,-1 0 0,-1-1 0,1 1 0,-7 5 0,6-5 0,0-1 0,1 1 0,-1 0 0,1 0 0,-5 7 0,-55 117 0,34-72 0,22-40 0,-1 0 0,-1-1 0,-17 24 0,22-35 0,-16 20 0,20-25 0,0 1 0,0 0 0,0-1 0,0 1 0,0 0 0,0 0 0,0-1 0,0 1 0,0 0 0,0-1 0,0 1 0,0 0 0,0-1 0,0 1 0,0 0 0,0-1 0,0 1 0,0 0 0,-1 0 0,1-1 0,0 1 0,0 0 0,0 0 0,-1-1 0,1 1 0,0 0 0,0 0 0,-1 0 0,1-1 0,0 1 0,0 0 0,-1 0 0,1 0 0,0 0 0,-1 0 0,1 0 0,0-1 0,0 1 0,-1 0 0,1 0 0,0 0 0,-1 0 0,1 0 0,0 0 0,-1 0 0,1 0 0,0 0 0,-1 1 0,1-1 0,0 0 0,-1 0 0,1 0 0,0 0 0,0 0 0,-1 0 0,1 1 0,0-1 0,0 0 0,-1 0 0,1 0 0,0 1 0,0-1 0,0 0 0,-1 0 0,1 1 0,0-1 0,0 0 0,0 1 0,0-6 0,1 1 0,0 0 0,1 0 0,-1 0 0,1 0 0,0 0 0,0 0 0,0 0 0,0 1 0,1-1 0,0 1 0,3-4 0,17-30 0,-18 20 0,0 1 0,2-27 0,0 4 0,-6 34 0,1-1 0,0 1 0,0 1 0,1-1 0,-1 0 0,5-5 0,11-25 0,-13 23 0,1 0 0,0-1 0,1 2 0,15-22 0,9-15 0,-30 45 0,1-1 0,0 1 0,1-1 0,-1 1 0,1 0 0,-1 0 0,1 0 0,0 1 0,0-1 0,0 1 0,0-1 0,5-1 0,1 0 0,-1 0 0,1 1 0,1 1 0,8-2 0,-2-1 0,-2 0 0,1 0 0,21-13 0,-22 11 0,0 1 0,0 0 0,0 1 0,18-5 0,11-4 0,-36 10 0,1 1 0,0 0 0,0 1 0,11-2 0,51-11 0,15-1 0,-79 15 0,0-1 0,0 0 0,0 0 0,-1 0 0,1 0 0,-1-1 0,1 0 0,7-5 0,29-14 0,-1 12 0,-31 9 0,0-1 0,-1-1 0,1 0 0,10-4 0,-5-5 0,8-3 0,-22 15 0,-1 0 0,1 0 0,0 0 0,0 0 0,-1 0 0,1 0 0,0 0 0,-1 1 0,1-1 0,0 0 0,0 0 0,-1 1 0,1-1 0,0 0 0,-1 1 0,1-1 0,-1 0 0,1 1 0,-1-1 0,1 1 0,0-1 0,-1 1 0,0 0 0,1-1 0,-1 1 0,1-1 0,-1 1 0,0 0 0,1-1 0,-1 1 0,0 0 0,0-1 0,1 1 0,-1 0 0,0 1 0,1 1 0,0 0 0,-1 0 0,1 0 0,-1 1 0,0-1 0,1 0 0,-2 0 0,1 1 0,0-1 0,-1 0 0,1 0 0,-1 0 0,0 0 0,0 1 0,0-1 0,0 0 0,-1-1 0,1 1 0,-1 0 0,0 0 0,0-1 0,0 1 0,0-1 0,0 1 0,0-1 0,-5 3 0,-6 6 0,-1 0 0,0-2 0,-28 15 0,38-22 0,-34 14 0,30-14 0,1 1 0,0 0 0,0 0 0,0 0 0,-8 7 0,-21 15 0,-49 26 0,12-6 0,45-26 0,-32 15 0,-9 9 0,11-18 0,52-22 0,1 0 0,-1 0 0,0 1 0,1-1 0,0 1 0,0 0 0,0 1 0,-5 5 0,-18 14 0,-2 1 0,23-18 0,0-1 0,-1-1 0,1 1 0,-15 7 0,10-6 0,0 0 0,1 1 0,-20 17 0,20-16 0,0 0 0,0 0 0,-21 10 0,26-15 0,0 0 0,0 0 0,1 0 0,0 1 0,-7 6 0,-17 14 0,-57 48 0,40-24 0,40-44 0,1-2 0,0 1 0,0 0 0,1-1 0,-1 2 0,1-1 0,0 0 0,0 1 0,1 0 0,-1 0 0,1 0 0,0 0 0,-2 6 0,-1 2 0,-1-2 0,-12 20 0,2-6 0,10-14 0,-1-1 0,-1 0 0,0 0 0,-11 9 0,-10 9 0,30-28 0,0 0 0,0 0 0,0-1 0,0 1 0,0 0 0,0 0 0,0 0 0,0-1 0,0 1 0,0 0 0,0 0 0,0 0 0,0-1 0,0 1 0,0 0 0,-1 0 0,1 0 0,0 0 0,0-1 0,0 1 0,0 0 0,0 0 0,-1 0 0,1 0 0,0 0 0,0 0 0,0-1 0,-1 1 0,1 0 0,0 0 0,0 0 0,0 0 0,-1 0 0,1 0 0,0 0 0,0 0 0,0 0 0,-1 0 0,1 0 0,0 0 0,0 0 0,0 0 0,-1 0 0,1 0 0,0 0 0,0 0 0,-1 0 0,1 1 0,0-1 0,0 0 0,0 0 0,0 0 0,-1 0 0,1 0 0,0 0 0,0 1 0,0-1 0,7-21 0,-1 14 0,0-1 0,0-1 0,-1 1 0,0-1 0,-1 0 0,0 0 0,0 0 0,-1-1 0,0 1 0,0-1 0,0-12 0,0 7 0,1 1 0,0 0 0,0 1 0,9-18 0,1 5 0,-2-1 0,15-48 0,-23 68 0,-1 0 0,1 0 0,0 0 0,0 1 0,1-1 0,0 1 0,0 1 0,0-1 0,1 0 0,6-4 0,1-2 0,3-1 0,1 0 0,22-13 0,-18 12 0,-11 10 0,-9 8 0,-14 12 0,0-6 0,0 1 0,0 1 0,1 0 0,0 0 0,-10 16 0,-30 30 0,28-28 0,22-27 0,0 1 0,0-1 0,-1 1 0,1-1 0,-1 0 0,0 0 0,0 0 0,0 0 0,-1-1 0,1 1 0,-1-1 0,-6 4 0,5-4 0,1 0 0,0 1 0,0-1 0,0 1 0,0 1 0,1-1 0,-5 5 0,4-4 0,1 0 0,-1-1 0,0 1 0,0-1 0,-1 0 0,-6 4 0,3-4 0,1 0 0,0 1 0,0 0 0,0 0 0,0 1 0,1-1 0,-1 1 0,1 1 0,1-1 0,-9 11 0,-43 33 0,31-24 0,-1-1 0,-42 29 0,46-36 0,-5 6 0,2 2 0,1 0 0,-25 34 0,26-18 0,22-35 0,-1 0 0,0 0 0,0 0 0,-1-1 0,0 0 0,-6 8 0,6-8 0,0 0 0,0 0 0,0 1 0,1 0 0,0 0 0,0-1 0,0 2 0,-1 6 0,-4 7 0,39-42 0,-18 7 0,0-2 0,20-32 0,7-9 0,-28 40 0,0-1 0,-1 0 0,-1 0 0,10-28 0,-9 21 0,2 2 0,5-17 0,-9 13 0,-5 21 0,-2 0 0,1-1 0,-1 1 0,0-1 0,1-13 0,-3 20 0,0-1 0,0 1 0,0-1 0,0 1 0,-1-1 0,1 1 0,-1 0 0,1-1 0,-1 1 0,1-1 0,-1 1 0,1 0 0,-1 0 0,0-1 0,0 1 0,0 0 0,0 0 0,0 0 0,0 0 0,0 0 0,0 0 0,0 0 0,-1 0 0,1 0 0,0 1 0,0-1 0,-1 0 0,1 1 0,-1-1 0,1 1 0,0 0 0,-1-1 0,1 1 0,-1 0 0,-1 0 0,-24-3 0,0 2 0,-50 3 0,11 1 0,60-3 0,1 1 0,0 0 0,0 1 0,0-1 0,0 1 0,0 0 0,0 0 0,1 1 0,-1-1 0,-6 6 0,-29 13 0,35-19 0,0 0 0,-1 0 0,1 1 0,0-1 0,1 1 0,-1 1 0,0-1 0,1 1 0,0-1 0,0 1 0,0 0 0,0 1 0,1-1 0,-1 1 0,1-1 0,0 1 0,1 0 0,-1 0 0,1 0 0,0 1 0,0-1 0,1 0 0,-2 7 0,-10 16 0,11-26 0,1 0 0,-1 0 0,1 0 0,0 0 0,0 1 0,0-1 0,0 0 0,-1 5 0,2-5 0,1-1 0,-1 0 0,0 0 0,0 0 0,1 0 0,-1 1 0,0-1 0,1 0 0,-1 0 0,1 0 0,-1 0 0,1 0 0,0 0 0,0 0 0,-1 0 0,1 0 0,0 0 0,0-1 0,0 1 0,0 0 0,0 0 0,0-1 0,2 2 0,11 5 0,0-1 0,0 0 0,1 0 0,0-2 0,0 0 0,0 0 0,0-2 0,23 2 0,-34-4 0,-1 0 0,1-1 0,-1 1 0,1-1 0,-1 0 0,0 0 0,1 0 0,-1 0 0,0-1 0,0 0 0,0 1 0,0-1 0,0 0 0,4-3 0,28-15 0,-30 18 0,0 0 0,-1-1 0,1 1 0,-1-1 0,1 0 0,-1-1 0,0 1 0,-1-1 0,1 0 0,0 0 0,3-5 0,-2 3 0,-1 0 0,1 1 0,1 0 0,-1 0 0,9-5 0,13-8 0,-18 12 0,1-1 0,0 1 0,1 1 0,-1 0 0,1 0 0,20-5 0,-26 9 0,2 0 0,-1 0 0,0-1 0,0 0 0,0 0 0,0 0 0,0 0 0,-1-1 0,8-5 0,-42 37 0,16-18 0,1 0 0,1 1 0,0 1 0,-10 15 0,11-13 0,5-9 0,1 0 0,0 0 0,0 1 0,0 0 0,1 0 0,0 0 0,1 0 0,-1 0 0,0 9 0,3-14 0,1 0 0,0 0 0,0 0 0,0 0 0,0 0 0,0 0 0,0 0 0,0-1 0,1 1 0,-1 0 0,1-1 0,-1 1 0,1-1 0,0 0 0,-1 1 0,1-1 0,0 0 0,0 0 0,3 1 0,0 1 0,0-1 0,1 1 0,0-1 0,-1 0 0,12 2 0,-15-4 0,0 1 0,0-1 0,0-1 0,-1 1 0,1 0 0,0 0 0,0-1 0,0 1 0,-1-1 0,1 1 0,0-1 0,-1 0 0,1 1 0,0-1 0,-1 0 0,1 0 0,-1 0 0,1-1 0,-1 1 0,0 0 0,0 0 0,3-3 0,0-3 0,-1 1 0,1-1 0,-1 1 0,4-12 0,-6 13 0,1 0 0,1-1 0,-1 1 0,1 0 0,5-7 0,27-39 0,-29 39 0,1 1 0,1 0 0,11-12 0,-17 20 0,1 0 0,-1 0 0,0 1 0,0-1 0,-1-1 0,1 1 0,-1 0 0,1 0 0,-1-1 0,0 1 0,1-7 0,-2 9 0,0 0 0,0 0 0,1-1 0,-1 1 0,0 0 0,0-1 0,-1 1 0,1 0 0,0-1 0,0 1 0,-1 0 0,1 0 0,-1-1 0,1 1 0,-1 0 0,1 0 0,-1 0 0,0 0 0,1 0 0,-1 0 0,0 0 0,0 0 0,0 0 0,0 0 0,0 0 0,0 0 0,0 1 0,0-1 0,0 0 0,0 1 0,-1-1 0,1 1 0,-2-1 0,1 1 0,1 0 0,-1 0 0,1 0 0,-1 0 0,1 0 0,-1 0 0,1 1 0,-1-1 0,1 0 0,-1 1 0,1-1 0,0 1 0,-1 0 0,1 0 0,0-1 0,0 1 0,-2 2 0,-24 20 0,16-12 0,4-6 0,0 1 0,1-1 0,0 2 0,0-1 0,1 1 0,0-1 0,0 1 0,1 1 0,-1-1 0,2 1 0,-1-1 0,1 1 0,0 0 0,-3 16 0,-3 11 0,-2 1 0,-28 60 0,35-86 0,-3 9 0,1-1 0,-3 22 0,6-26 0,-1 1 0,0 0 0,-1-1 0,-10 21 0,12-30 0,1-1 0,0 0 0,0 0 0,0 0 0,0 1 0,1-1 0,-1 7 0,2-10 0,0 0 0,0 0 0,0 0 0,0 0 0,0 0 0,0 0 0,1 0 0,-1 0 0,0 0 0,1 0 0,-1 0 0,0 0 0,1 0 0,-1 0 0,1-1 0,0 1 0,-1 0 0,1 0 0,0 0 0,-1-1 0,1 1 0,0-1 0,0 1 0,0 0 0,-1-1 0,1 1 0,0-1 0,0 0 0,0 1 0,0-1 0,0 0 0,0 1 0,0-1 0,0 0 0,0 0 0,0 0 0,0 0 0,0 0 0,1 0 0,1 0 0,0 1 0,0-1 0,0 0 0,0 0 0,0 0 0,0 0 0,0-1 0,0 1 0,0-1 0,0 0 0,-1 0 0,1 0 0,0 0 0,0 0 0,4-3 0,-3 0 0,0 0 0,0 0 0,-1-1 0,1 1 0,-1-1 0,4-8 0,1 1 0,16-21 0,-18 27 0,-1 0 0,-1 0 0,1-1 0,-1 0 0,0 0 0,-1 0 0,6-15 0,4-21 0,-8 29 0,-1 0 0,0-1 0,-1 0 0,2-28 0,-7 47 0,0-1 0,0 1 0,0-1 0,-1 1 0,1-1 0,-1 0 0,0 0 0,1 0 0,-2-1 0,1 1 0,0-1 0,-4 3 0,-24 23 0,27-21 0,0 1 0,1-1 0,0 1 0,0-1 0,1 1 0,0 0 0,-2 12 0,-7 25 0,-3-2 0,10-26 0,-2 0 0,0-1 0,0 0 0,-2 0 0,-15 25 0,8-23 0,12-16 0,0 1 0,0 0 0,1 0 0,0 0 0,-1 0 0,1 0 0,0 1 0,1-1 0,-3 5 0,-30 126 0,31-126-273,1 1 0,0-1 0,1 1 0,-1 14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3T14:47:37.5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24575,'0'5'0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3T14:47:40.1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16 291 24575,'-1'-60'0,"-1"27"0,6-64 0,-3 93 0,1 0 0,-1-1 0,1 1 0,0 0 0,1 0 0,-1 0 0,1 1 0,-1-1 0,1 0 0,6-5 0,12-18 0,-19 24 0,-1 1 0,1-1 0,-1 1 0,1 0 0,0 0 0,0 0 0,0 0 0,3-3 0,-4 5 0,-1 0 0,0 0 0,0 0 0,1-1 0,-1 1 0,0 0 0,0 0 0,1 0 0,-1 0 0,0 0 0,1 0 0,-1 0 0,0 0 0,1 0 0,-1 0 0,0 0 0,0 0 0,1 0 0,-1 0 0,0 0 0,1 0 0,-1 0 0,0 0 0,0 0 0,1 1 0,-1-1 0,0 0 0,0 0 0,1 0 0,-1 1 0,5 15 0,-4-10 0,0 0 0,0 0 0,-1-1 0,0 1 0,0 0 0,-1 0 0,1 0 0,-1 0 0,-1 0 0,1-1 0,-1 1 0,0 0 0,0-1 0,-1 0 0,1 1 0,-7 8 0,-57 74 0,64-83 0,0-1 0,0 0 0,1 1 0,-1-1 0,1 1 0,0 0 0,1-1 0,-1 7 0,1-11 0,0 1 0,0-1 0,0 0 0,0 0 0,1 0 0,-1 1 0,0-1 0,0 0 0,0 0 0,1 0 0,-1 0 0,0 0 0,0 0 0,1 1 0,-1-1 0,0 0 0,0 0 0,1 0 0,-1 0 0,0 0 0,0 0 0,1 0 0,-1 0 0,0 0 0,0 0 0,1 0 0,-1 0 0,0 0 0,0 0 0,1 0 0,-1 0 0,0-1 0,0 1 0,0 0 0,1 0 0,-1 0 0,0 0 0,0 0 0,1-1 0,-1 1 0,0 0 0,0 0 0,0 0 0,0 0 0,0-1 0,1 1 0,12-9 0,-10 4-97,-1 1-1,1-1 1,-1 1-1,0-1 1,0 0-1,0 0 1,0 0-1,-1 0 1,0 0-1,0 0 1,-1-1-1,1 1 0,-1-7 1,0-5-6729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3T14:47:41.6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3T14:48:11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1749 24575,'-1'-57'0,"-1"28"0,2-1 0,4-33 0,-2 52 0,1 0 0,1 0 0,6-15 0,4-13 0,-6 15 0,1 0 0,0 1 0,2 0 0,1 0 0,1 1 0,19-25 0,70-81 0,-57 51 0,-24 48 0,9-17 0,-23 31 0,2 1 0,17-23 0,1-2 0,-13 16 0,-3 5 0,22-29 0,-18 30 0,-4 2 0,0 1 0,2 0 0,0 1 0,0 1 0,1 0 0,0 1 0,25-15 0,-34 23 0,-1-1 0,1 1 0,-1-1 0,1 0 0,3-5 0,8-7 0,-6 6 0,0 0 0,-1-1 0,11-14 0,-14 16 0,42-34 0,-43 39 0,0-1 0,0 1 0,1 0 0,-1 1 0,1 0 0,6-3 0,-8 4 0,1-1 0,-1 1 0,0 0 0,0-1 0,0 0 0,0 0 0,0 0 0,-1-1 0,1 1 0,-1-1 0,0 0 0,4-6 0,-2 4 0,0 0 0,0-1 0,1 2 0,0-1 0,0 1 0,0 0 0,1 0 0,0 0 0,9-4 0,-5 2 0,-1 1 0,0-1 0,10-10 0,30-23 0,0-5 0,10-9 0,-50 42 0,1 1 0,0 0 0,1 1 0,0 0 0,1 0 0,26-13 0,-14 2 0,-1 1 0,6 6 0,-20 9 0,1-1 0,-1 1 0,1-1 0,13-12 0,-18 13-170,1 1-1,-1 0 0,1 0 1,0 0-1,0 1 0,1 0 1,10-3-1,-7 3-6655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3T14:48:13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 24575,'256'0'0,"-253"0"0,0 0 0,0 0 0,-1-1 0,1 1 0,0-1 0,0 1 0,-1-1 0,1 0 0,-1 0 0,1-1 0,-1 1 0,1 0 0,-1-1 0,4-3 0,14-8 0,-19 13 0,-1 0 0,0-1 0,1 1 0,-1 0 0,0 0 0,1 0 0,-1 0 0,1 0 0,-1 0 0,0-1 0,1 1 0,-1 0 0,1 0 0,-1 0 0,0 0 0,1 1 0,-1-1 0,1 0 0,-1 0 0,0 0 0,1 0 0,-1 0 0,1 0 0,-1 1 0,0-1 0,1 0 0,-1 0 0,0 0 0,1 1 0,-1-1 0,0 0 0,0 1 0,1-1 0,-1 0 0,1 1 0,5 19 0,-5 19 0,-2-35 0,0 0 0,0 0 0,-1 0 0,1 0 0,-1-1 0,0 1 0,0 0 0,0-1 0,-1 1 0,1-1 0,-5 4 0,-14 23 0,5 19 0,14-41 0,0 0 0,0-1 0,-1 1 0,0-1 0,0 0 0,-1 0 0,-7 11 0,5-9-33,0 0 1,1 0-1,0 1 0,-6 18 0,4-9-1168,2-8-5625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3T14:48:41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1.9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25850 4409 16383 0 0,'0'-3'0'0'0,"3"-2"0"0"0,8 1 0 0 0,6 1 0 0 0,2 0 0 0 0,2 2 0 0 0,1 0 0 0 0,0 1 0 0 0,-1 0 0 0 0,0 0 0 0 0,-4-3 0 0 0,-2-2 0 0 0,1 1 0 0 0,0 1 0 0 0,1 1 0 0 0,1 0 0 0 0,1 1 0 0 0,0 1 0 0 0,1 0 0 0 0,3 0 0 0 0,1 0 0 0 0,0 1 0 0 0,2-1 0 0 0,1 0 0 0 0,-2 0 0 0 0,-11 0 0 0 0,-11 0 0 0 0,-10 0 0 0 0,-7 0 0 0 0,-5 0 0 0 0,-1 0 0 0 0,-2 0 0 0 0,0 0 0 0 0,0 0 0 0 0,1 0 0 0 0,4-3 0 0 0,1-2 0 0 0,1-2 0 0 0,-2-1 0 0 0,4-2 0 0 0,-1 0 0 0 0,0 0 0 0 0,-2 0 0 0 0,-1-1 0 0 0,-2 2 0 0 0,4-2 0 0 0,0 2 0 0 0,-1 2 0 0 0,3-1 0 0 0,7 0 0 0 0,7 3 0 0 0,8 1 0 0 0,5 2 0 0 0,3 1 0 0 0,3 0 0 0 0,0 1 0 0 0,2 1 0 0 0,-1-1 0 0 0,-1 0 0 0 0,1 1 0 0 0,-1-1 0 0 0,0 0 0 0 0,-1 0 0 0 0,1 0 0 0 0,0 0 0 0 0,-1 0 0 0 0,1 0 0 0 0,-1 0 0 0 0,1 0 0 0 0,-1 0 0 0 0,1 0 0 0 0,0 0 0 0 0,-1 0 0 0 0,1 0 0 0 0,-1 0 0 0 0,1 0 0 0 0,0 0 0 0 0,-1 0 0 0 0,1 0 0 0 0,-1 0 0 0 0,1 0 0 0 0,0 0 0 0 0,-1 0 0 0 0,1 0 0 0 0,-1 0 0 0 0,1 0 0 0 0,-1 0 0 0 0,1 0 0 0 0,0 0 0 0 0,-4 3 0 0 0,-1 2 0 0 0,-3 2 0 0 0,0 1 0 0 0,-2 2 0 0 0,-4 3 0 0 0,-1 2 0 0 0,-3 2 0 0 0,-4-2 0 0 0,-6-3 0 0 0,-4-4 0 0 0,-4-3 0 0 0,-2-3 0 0 0,-2-1 0 0 0,-1-1 0 0 0,1-1 0 0 0,-1 3 0 0 0,1 2 0 0 0,0 0 0 0 0,0-1 0 0 0,0-1 0 0 0,0 0 0 0 0,1-2 0 0 0,-1 1 0 0 0,1-1 0 0 0,-1 0 0 0 0,1-1 0 0 0,-1 1 0 0 0,0 0 0 0 0,1 0 0 0 0,-1 3 0 0 0,1 2 0 0 0,2 2 0 0 0,2 1 0 0 0,3 2 0 0 0,0-1 0 0 0,-1-1 0 0 0,-1 0 0 0 0,-3 0 0 0 0,0-2 0 0 0,1 1 0 0 0,1 0 0 0 0,0 2 0 0 0,-2-1 0 0 0,0-1 0 0 0,2 1 0 0 0,0-1 0 0 0,3 2 0 0 0,0-1 0 0 0,-1-1 0 0 0,-2 1 0 0 0,-1-1 0 0 0,1 2 0 0 0,4 3 0 0 0,0-1 0 0 0,2 1 0 0 0,0-1 0 0 0,-3 0 0 0 0,-2 3 0 0 0,1 1 0 0 0,-1-2 0 0 0,3 1 0 0 0,6-2 0 0 0,7-4 0 0 0,7-2 0 0 0,5-3 0 0 0,3-2 0 0 0,3-1 0 0 0,1 0 0 0 0,0-1 0 0 0,0 1 0 0 0,-1-1 0 0 0,1 1 0 0 0,-1 0 0 0 0,0 0 0 0 0,-1-1 0 0 0,1 1 0 0 0,-1 0 0 0 0,1 0 0 0 0,-1 0 0 0 0,1 1 0 0 0,-4 2 0 0 0,-1 1 0 0 0,1 1 0 0 0,0-2 0 0 0,1-1 0 0 0,1 0 0 0 0,1-1 0 0 0,0-1 0 0 0,1 0 0 0 0,0 0 0 0 0,-1 0 0 0 0,1-1 0 0 0,0 1 0 0 0,0 0 0 0 0,-1 0 0 0 0,1 0 0 0 0,0 0 0 0 0,-1 0 0 0 0,1 0 0 0 0,-1 0 0 0 0,1 0 0 0 0,0 0 0 0 0,-1 0 0 0 0,1 0 0 0 0,-1 0 0 0 0,1 0 0 0 0,-1 0 0 0 0,1 0 0 0 0,0 0 0 0 0,-1 0 0 0 0,1 0 0 0 0,-1 0 0 0 0,1 0 0 0 0,0 0 0 0 0,-4-3 0 0 0,-8-2 0 0 0,-4-2 0 0 0,-4-4 0 0 0,-2-4 0 0 0,0-2 0 0 0,-4 2 0 0 0,0 0 0 0 0,1-1 0 0 0,1-1 0 0 0,1-1 0 0 0,-2 0 0 0 0,0-2 0 0 0,0 1 0 0 0,2-1 0 0 0,1 0 0 0 0,1 1 0 0 0,0-1 0 0 0,-2 3 0 0 0,-2 9 0 0 0,1 8 0 0 0,1 8 0 0 0,1 5 0 0 0,0 5 0 0 0,2 2 0 0 0,0 1 0 0 0,0 0 0 0 0,0 0 0 0 0,-3-3 0 0 0,-2-2 0 0 0,1 0 0 0 0,-2-3 0 0 0,-5 0 0 0 0,-2-3 0 0 0,-3 4 0 0 0,-2 0 0 0 0,2 0 0 0 0,0 2 0 0 0,0-2 0 0 0,-1-4 0 0 0,-1-3 0 0 0,0-3 0 0 0,-1-2 0 0 0,-1-2 0 0 0,4-3 0 0 0,4-2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1.9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25665 5001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1.9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25665 5054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1.9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26006 5027 16383 0 0,'-3'0'0'0'0,"-2"0"0"0"0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1.9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25797 5027 16383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1.9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26009 4948 16383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26009 4910 16383 0 0,'0'-4'0'0'0,"0"-4"0"0"0,3-1 0 0 0,2-3 0 0 0,-1 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2.0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26035 4842 16383 0 0,'4'0'0'0'0,"4"0"0"0"0,1 0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2.0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26141 4842 16383 0 0,'0'0'0'0'0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2.0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26126 4842 16383 0 0,'0'3'0'0'0,"-4"2"0"0"0,-4 0 0 0 0,-5-2 0 0 0,-3 0 0 0 0,0-1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2.0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25848 4868 16383 0 0,'-3'0'0'0'0,"-6"0"0"0"0,-11 0 0 0 0,-6 0 0 0 0,-2 0 0 0 0,0 0 0 0 0,2 0 0 0 0,1 0 0 0 0,1 0 0 0 0,5 0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2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25585 4868 16383 0 0,'0'0'0'0'0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3:21:42.0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25504 4868 16383 0 0,'-4'0'0'0'0,"-1"0"0"0"0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25850 4409 16383 0 0,'0'-3'0'0'0,"3"-2"0"0"0,8 1 0 0 0,6 1 0 0 0,2 0 0 0 0,2 2 0 0 0,1 0 0 0 0,0 1 0 0 0,-1 0 0 0 0,0 0 0 0 0,-4-3 0 0 0,-2-2 0 0 0,1 1 0 0 0,0 1 0 0 0,1 1 0 0 0,1 0 0 0 0,1 1 0 0 0,0 1 0 0 0,1 0 0 0 0,3 0 0 0 0,1 0 0 0 0,0 1 0 0 0,2-1 0 0 0,1 0 0 0 0,-2 0 0 0 0,-11 0 0 0 0,-11 0 0 0 0,-10 0 0 0 0,-7 0 0 0 0,-5 0 0 0 0,-1 0 0 0 0,-2 0 0 0 0,0 0 0 0 0,0 0 0 0 0,1 0 0 0 0,4-3 0 0 0,1-2 0 0 0,1-2 0 0 0,-2-1 0 0 0,4-2 0 0 0,-1 0 0 0 0,0 0 0 0 0,-2 0 0 0 0,-1-1 0 0 0,-2 2 0 0 0,4-2 0 0 0,0 2 0 0 0,-1 2 0 0 0,3-1 0 0 0,7 0 0 0 0,7 3 0 0 0,8 1 0 0 0,5 2 0 0 0,3 1 0 0 0,3 0 0 0 0,0 1 0 0 0,2 1 0 0 0,-1-1 0 0 0,-1 0 0 0 0,1 1 0 0 0,-1-1 0 0 0,0 0 0 0 0,-1 0 0 0 0,1 0 0 0 0,0 0 0 0 0,-1 0 0 0 0,1 0 0 0 0,-1 0 0 0 0,1 0 0 0 0,-1 0 0 0 0,1 0 0 0 0,0 0 0 0 0,-1 0 0 0 0,1 0 0 0 0,-1 0 0 0 0,1 0 0 0 0,0 0 0 0 0,-1 0 0 0 0,1 0 0 0 0,-1 0 0 0 0,1 0 0 0 0,0 0 0 0 0,-1 0 0 0 0,1 0 0 0 0,-1 0 0 0 0,1 0 0 0 0,-1 0 0 0 0,1 0 0 0 0,0 0 0 0 0,-4 3 0 0 0,-1 2 0 0 0,-3 2 0 0 0,0 1 0 0 0,-2 2 0 0 0,-4 3 0 0 0,-1 2 0 0 0,-3 2 0 0 0,-4-2 0 0 0,-6-3 0 0 0,-4-4 0 0 0,-4-3 0 0 0,-2-3 0 0 0,-2-1 0 0 0,-1-1 0 0 0,1-1 0 0 0,-1 3 0 0 0,1 2 0 0 0,0 0 0 0 0,0-1 0 0 0,0-1 0 0 0,0 0 0 0 0,1-2 0 0 0,-1 1 0 0 0,1-1 0 0 0,-1 0 0 0 0,1-1 0 0 0,-1 1 0 0 0,0 0 0 0 0,1 0 0 0 0,-1 3 0 0 0,1 2 0 0 0,2 2 0 0 0,2 1 0 0 0,3 2 0 0 0,0-1 0 0 0,-1-1 0 0 0,-1 0 0 0 0,-3 0 0 0 0,0-2 0 0 0,1 1 0 0 0,1 0 0 0 0,0 2 0 0 0,-2-1 0 0 0,0-1 0 0 0,2 1 0 0 0,0-1 0 0 0,3 2 0 0 0,0-1 0 0 0,-1-1 0 0 0,-2 1 0 0 0,-1-1 0 0 0,1 2 0 0 0,4 3 0 0 0,0-1 0 0 0,2 1 0 0 0,0-1 0 0 0,-3 0 0 0 0,-2 3 0 0 0,1 1 0 0 0,-1-2 0 0 0,3 1 0 0 0,6-2 0 0 0,7-4 0 0 0,7-2 0 0 0,5-3 0 0 0,3-2 0 0 0,3-1 0 0 0,1 0 0 0 0,0-1 0 0 0,0 1 0 0 0,-1-1 0 0 0,1 1 0 0 0,-1 0 0 0 0,0 0 0 0 0,-1-1 0 0 0,1 1 0 0 0,-1 0 0 0 0,1 0 0 0 0,-1 0 0 0 0,1 1 0 0 0,-4 2 0 0 0,-1 1 0 0 0,1 1 0 0 0,0-2 0 0 0,1-1 0 0 0,1 0 0 0 0,1-1 0 0 0,0-1 0 0 0,1 0 0 0 0,0 0 0 0 0,-1 0 0 0 0,1-1 0 0 0,0 1 0 0 0,0 0 0 0 0,-1 0 0 0 0,1 0 0 0 0,0 0 0 0 0,-1 0 0 0 0,1 0 0 0 0,-1 0 0 0 0,1 0 0 0 0,0 0 0 0 0,-1 0 0 0 0,1 0 0 0 0,-1 0 0 0 0,1 0 0 0 0,-1 0 0 0 0,1 0 0 0 0,0 0 0 0 0,-1 0 0 0 0,1 0 0 0 0,-1 0 0 0 0,1 0 0 0 0,0 0 0 0 0,-4-3 0 0 0,-8-2 0 0 0,-4-2 0 0 0,-4-4 0 0 0,-2-4 0 0 0,0-2 0 0 0,-4 2 0 0 0,0 0 0 0 0,1-1 0 0 0,1-1 0 0 0,1-1 0 0 0,-2 0 0 0 0,0-2 0 0 0,0 1 0 0 0,2-1 0 0 0,1 0 0 0 0,1 1 0 0 0,0-1 0 0 0,-2 3 0 0 0,-2 9 0 0 0,1 8 0 0 0,1 8 0 0 0,1 5 0 0 0,0 5 0 0 0,2 2 0 0 0,0 1 0 0 0,0 0 0 0 0,0 0 0 0 0,-3-3 0 0 0,-2-2 0 0 0,1 0 0 0 0,-2-3 0 0 0,-5 0 0 0 0,-2-3 0 0 0,-3 4 0 0 0,-2 0 0 0 0,2 0 0 0 0,0 2 0 0 0,0-2 0 0 0,-1-4 0 0 0,-1-3 0 0 0,0-3 0 0 0,-1-2 0 0 0,-1-2 0 0 0,4-3 0 0 0,4-2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25665 5001 16383 0 0,'0'0'0'0'0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25665 5054 16383 0 0,'0'0'0'0'0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26006 5027 16383 0 0,'-3'0'0'0'0,"-2"0"0"0"0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25797 5027 16383 0 0,'0'0'0'0'0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26009 4948 16383 0 0,'0'0'0'0'0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26009 4910 16383 0 0,'0'-4'0'0'0,"0"-4"0"0"0,3-1 0 0 0,2-3 0 0 0,-1 1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26035 4842 16383 0 0,'4'0'0'0'0,"4"0"0"0"0,1 0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26141 4842 16383 0 0,'0'0'0'0'0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26126 4842 16383 0 0,'0'3'0'0'0,"-4"2"0"0"0,-4 0 0 0 0,-5-2 0 0 0,-3 0 0 0 0,0-1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25848 4868 16383 0 0,'-3'0'0'0'0,"-6"0"0"0"0,-11 0 0 0 0,-6 0 0 0 0,-2 0 0 0 0,0 0 0 0 0,2 0 0 0 0,1 0 0 0 0,1 0 0 0 0,5 0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25585 4868 16383 0 0,'0'0'0'0'0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25504 4868 16383 0 0,'-4'0'0'0'0,"-1"0"0"0"0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1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19195 3307 16383 0 0,'-4'0'0'0'0,"0"4"0"0"0,0 3 0 0 0,0 5 0 0 0,2 4 0 0 0,0 2 0 0 0,2 1 0 0 0,-1 1 0 0 0,1 0 0 0 0,0 1 0 0 0,1-1 0 0 0,-1 0 0 0 0,0 0 0 0 0,0 0 0 0 0,0 0 0 0 0,0-1 0 0 0,0 1 0 0 0,0 0 0 0 0,0-1 0 0 0,0 1 0 0 0,0-1 0 0 0,0 1 0 0 0,0-1 0 0 0,0 1 0 0 0,0 0 0 0 0,0-1 0 0 0,0 1 0 0 0,0-1 0 0 0,0 1 0 0 0,0 0 0 0 0,0-1 0 0 0,0 1 0 0 0,0-1 0 0 0,0 1 0 0 0,0 0 0 0 0,0-1 0 0 0,0 1 0 0 0,0-1 0 0 0,0 1 0 0 0,0 0 0 0 0,0-1 0 0 0,0 1 0 0 0,0-1 0 0 0,0 1 0 0 0,0 0 0 0 0,0-1 0 0 0,0 4 0 0 0,0 1 0 0 0,0 0 0 0 0,0-1 0 0 0,0-1 0 0 0,0-1 0 0 0,0 0 0 0 0,0 2 0 0 0,0 1 0 0 0,0-1 0 0 0,0 0 0 0 0,0-1 0 0 0,0-1 0 0 0,0-1 0 0 0,0 0 0 0 0,0 0 0 0 0,0-1 0 0 0,0 1 0 0 0,0-1 0 0 0,0 1 0 0 0,0-1 0 0 0,0 1 0 0 0,0-1 0 0 0,0 1 0 0 0,0-1 0 0 0,0 1 0 0 0,0 0 0 0 0,0-1 0 0 0,0 1 0 0 0,0-1 0 0 0,0 1 0 0 0,0 0 0 0 0,0-1 0 0 0,0 1 0 0 0,0-1 0 0 0,0 1 0 0 0,0 0 0 0 0,0-1 0 0 0,-3-3 0 0 0,-2 0 0 0 0,1-1 0 0 0,1 1 0 0 0,0 1 0 0 0,2 1 0 0 0,0 1 0 0 0,1 0 0 0 0,0 1 0 0 0,0 0 0 0 0,0 0 0 0 0,0-1 0 0 0,0 1 0 0 0,0 0 0 0 0,1 0 0 0 0,-1-1 0 0 0,0 1 0 0 0,0-1 0 0 0,0 1 0 0 0,0 0 0 0 0,0-1 0 0 0,0 1 0 0 0,0-1 0 0 0,0 1 0 0 0,0 0 0 0 0,0-1 0 0 0,0 1 0 0 0,0-1 0 0 0,0 1 0 0 0,0 0 0 0 0,0-1 0 0 0,0 1 0 0 0,0-1 0 0 0,0 1 0 0 0,0 0 0 0 0,0-1 0 0 0,0 1 0 0 0,0-1 0 0 0,0 1 0 0 0,0-1 0 0 0,0 1 0 0 0,0 0 0 0 0,0-1 0 0 0,0 1 0 0 0,0-1 0 0 0,0 1 0 0 0,0-7 0 0 0,0-9 0 0 0,0-8 0 0 0,0-7 0 0 0,0-6 0 0 0,0-5 0 0 0,3-3 0 0 0,1-7 0 0 0,1-2 0 0 0,1 2 0 0 0,1 0 0 0 0,-1 2 0 0 0,1 5 0 0 0,1 5 0 0 0,-3 2 0 0 0,-1 0 0 0 0,-1 1 0 0 0,-2-1 0 0 0,0 0 0 0 0,-1-1 0 0 0,0 0 0 0 0,-1 0 0 0 0,1-1 0 0 0,0 0 0 0 0,-1 1 0 0 0,1-1 0 0 0,0 0 0 0 0,-3 4 0 0 0,-1 1 0 0 0,-4 3 0 0 0,0 0 0 0 0,2-1 0 0 0,1 2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25850 4409 16383 0 0,'0'-3'0'0'0,"3"-2"0"0"0,8 1 0 0 0,6 1 0 0 0,2 0 0 0 0,2 2 0 0 0,1 0 0 0 0,0 1 0 0 0,-1 0 0 0 0,0 0 0 0 0,-4-3 0 0 0,-2-2 0 0 0,1 1 0 0 0,0 1 0 0 0,1 1 0 0 0,1 0 0 0 0,1 1 0 0 0,0 1 0 0 0,1 0 0 0 0,3 0 0 0 0,1 0 0 0 0,0 1 0 0 0,2-1 0 0 0,1 0 0 0 0,-2 0 0 0 0,-11 0 0 0 0,-11 0 0 0 0,-10 0 0 0 0,-7 0 0 0 0,-5 0 0 0 0,-1 0 0 0 0,-2 0 0 0 0,0 0 0 0 0,0 0 0 0 0,1 0 0 0 0,4-3 0 0 0,1-2 0 0 0,1-2 0 0 0,-2-1 0 0 0,4-2 0 0 0,-1 0 0 0 0,0 0 0 0 0,-2 0 0 0 0,-1-1 0 0 0,-2 2 0 0 0,4-2 0 0 0,0 2 0 0 0,-1 2 0 0 0,3-1 0 0 0,7 0 0 0 0,7 3 0 0 0,8 1 0 0 0,5 2 0 0 0,3 1 0 0 0,3 0 0 0 0,0 1 0 0 0,2 1 0 0 0,-1-1 0 0 0,-1 0 0 0 0,1 1 0 0 0,-1-1 0 0 0,0 0 0 0 0,-1 0 0 0 0,1 0 0 0 0,0 0 0 0 0,-1 0 0 0 0,1 0 0 0 0,-1 0 0 0 0,1 0 0 0 0,-1 0 0 0 0,1 0 0 0 0,0 0 0 0 0,-1 0 0 0 0,1 0 0 0 0,-1 0 0 0 0,1 0 0 0 0,0 0 0 0 0,-1 0 0 0 0,1 0 0 0 0,-1 0 0 0 0,1 0 0 0 0,0 0 0 0 0,-1 0 0 0 0,1 0 0 0 0,-1 0 0 0 0,1 0 0 0 0,-1 0 0 0 0,1 0 0 0 0,0 0 0 0 0,-4 3 0 0 0,-1 2 0 0 0,-3 2 0 0 0,0 1 0 0 0,-2 2 0 0 0,-4 3 0 0 0,-1 2 0 0 0,-3 2 0 0 0,-4-2 0 0 0,-6-3 0 0 0,-4-4 0 0 0,-4-3 0 0 0,-2-3 0 0 0,-2-1 0 0 0,-1-1 0 0 0,1-1 0 0 0,-1 3 0 0 0,1 2 0 0 0,0 0 0 0 0,0-1 0 0 0,0-1 0 0 0,0 0 0 0 0,1-2 0 0 0,-1 1 0 0 0,1-1 0 0 0,-1 0 0 0 0,1-1 0 0 0,-1 1 0 0 0,0 0 0 0 0,1 0 0 0 0,-1 3 0 0 0,1 2 0 0 0,2 2 0 0 0,2 1 0 0 0,3 2 0 0 0,0-1 0 0 0,-1-1 0 0 0,-1 0 0 0 0,-3 0 0 0 0,0-2 0 0 0,1 1 0 0 0,1 0 0 0 0,0 2 0 0 0,-2-1 0 0 0,0-1 0 0 0,2 1 0 0 0,0-1 0 0 0,3 2 0 0 0,0-1 0 0 0,-1-1 0 0 0,-2 1 0 0 0,-1-1 0 0 0,1 2 0 0 0,4 3 0 0 0,0-1 0 0 0,2 1 0 0 0,0-1 0 0 0,-3 0 0 0 0,-2 3 0 0 0,1 1 0 0 0,-1-2 0 0 0,3 1 0 0 0,6-2 0 0 0,7-4 0 0 0,7-2 0 0 0,5-3 0 0 0,3-2 0 0 0,3-1 0 0 0,1 0 0 0 0,0-1 0 0 0,0 1 0 0 0,-1-1 0 0 0,1 1 0 0 0,-1 0 0 0 0,0 0 0 0 0,-1-1 0 0 0,1 1 0 0 0,-1 0 0 0 0,1 0 0 0 0,-1 0 0 0 0,1 1 0 0 0,-4 2 0 0 0,-1 1 0 0 0,1 1 0 0 0,0-2 0 0 0,1-1 0 0 0,1 0 0 0 0,1-1 0 0 0,0-1 0 0 0,1 0 0 0 0,0 0 0 0 0,-1 0 0 0 0,1-1 0 0 0,0 1 0 0 0,0 0 0 0 0,-1 0 0 0 0,1 0 0 0 0,0 0 0 0 0,-1 0 0 0 0,1 0 0 0 0,-1 0 0 0 0,1 0 0 0 0,0 0 0 0 0,-1 0 0 0 0,1 0 0 0 0,-1 0 0 0 0,1 0 0 0 0,-1 0 0 0 0,1 0 0 0 0,0 0 0 0 0,-1 0 0 0 0,1 0 0 0 0,-1 0 0 0 0,1 0 0 0 0,0 0 0 0 0,-4-3 0 0 0,-8-2 0 0 0,-4-2 0 0 0,-4-4 0 0 0,-2-4 0 0 0,0-2 0 0 0,-4 2 0 0 0,0 0 0 0 0,1-1 0 0 0,1-1 0 0 0,1-1 0 0 0,-2 0 0 0 0,0-2 0 0 0,0 1 0 0 0,2-1 0 0 0,1 0 0 0 0,1 1 0 0 0,0-1 0 0 0,-2 3 0 0 0,-2 9 0 0 0,1 8 0 0 0,1 8 0 0 0,1 5 0 0 0,0 5 0 0 0,2 2 0 0 0,0 1 0 0 0,0 0 0 0 0,0 0 0 0 0,-3-3 0 0 0,-2-2 0 0 0,1 0 0 0 0,-2-3 0 0 0,-5 0 0 0 0,-2-3 0 0 0,-3 4 0 0 0,-2 0 0 0 0,2 0 0 0 0,0 2 0 0 0,0-2 0 0 0,-1-4 0 0 0,-1-3 0 0 0,0-3 0 0 0,-1-2 0 0 0,-1-2 0 0 0,4-3 0 0 0,4-2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25665 5001 16383 0 0,'0'0'0'0'0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25665 5054 16383 0 0,'0'0'0'0'0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26006 5027 16383 0 0,'-3'0'0'0'0,"-2"0"0"0"0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25797 5027 16383 0 0,'0'0'0'0'0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26009 4948 16383 0 0,'0'0'0'0'0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26009 4910 16383 0 0,'0'-4'0'0'0,"0"-4"0"0"0,3-1 0 0 0,2-3 0 0 0,-1 1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26035 4842 16383 0 0,'4'0'0'0'0,"4"0"0"0"0,1 0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26141 4842 16383 0 0,'0'0'0'0'0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26126 4842 16383 0 0,'0'3'0'0'0,"-4"2"0"0"0,-4 0 0 0 0,-5-2 0 0 0,-3 0 0 0 0,0-1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25848 4868 16383 0 0,'-3'0'0'0'0,"-6"0"0"0"0,-11 0 0 0 0,-6 0 0 0 0,-2 0 0 0 0,0 0 0 0 0,2 0 0 0 0,1 0 0 0 0,1 0 0 0 0,5 0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25585 4868 16383 0 0,'0'0'0'0'0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25504 4868 16383 0 0,'-4'0'0'0'0,"-1"0"0"0"0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19254 9834 16383 0 0,'0'-18'0'0'0,"0"-26"0"0"0,0-23 0 0 0,0-19 0 0 0,0-13 0 0 0,0-9 0 0 0,0-5 0 0 0,0-1 0 0 0,0-1 0 0 0,0 2 0 0 0,0 0 0 0 0,0 2 0 0 0,0 0 0 0 0,-8 20 0 0 0,-3 6 0 0 0,0-1 0 0 0,3-4 0 0 0,2-6 0 0 0,2-5 0 0 0,2-4 0 0 0,1-3 0 0 0,1-1 0 0 0,0-1 0 0 0,1-1 0 0 0,-1 0 0 0 0,-7 20 0 0 0,-4 5 0 0 0,0 0 0 0 0,3-5 0 0 0,2-5 0 0 0,2-5 0 0 0,2 14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51:20.02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19209 3307 16383 0 0,'0'0'0'0'0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1:05:20.44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19195 3307 16383 0 0,'-4'0'0'0'0,"0"4"0"0"0,0 3 0 0 0,0 5 0 0 0,2 4 0 0 0,0 2 0 0 0,2 1 0 0 0,-1 1 0 0 0,1 0 0 0 0,0 1 0 0 0,1-1 0 0 0,-1 0 0 0 0,0 0 0 0 0,0 0 0 0 0,0 0 0 0 0,0-1 0 0 0,0 1 0 0 0,0 0 0 0 0,0-1 0 0 0,0 1 0 0 0,0-1 0 0 0,0 1 0 0 0,0-1 0 0 0,0 1 0 0 0,0 0 0 0 0,0-1 0 0 0,0 1 0 0 0,0-1 0 0 0,0 1 0 0 0,0 0 0 0 0,0-1 0 0 0,0 1 0 0 0,0-1 0 0 0,0 1 0 0 0,0 0 0 0 0,0-1 0 0 0,0 1 0 0 0,0-1 0 0 0,0 1 0 0 0,0 0 0 0 0,0-1 0 0 0,0 1 0 0 0,0-1 0 0 0,0 1 0 0 0,0 0 0 0 0,0-1 0 0 0,0 4 0 0 0,0 1 0 0 0,0 0 0 0 0,0-1 0 0 0,0-1 0 0 0,0-1 0 0 0,0 0 0 0 0,0 2 0 0 0,0 1 0 0 0,0-1 0 0 0,0 0 0 0 0,0-1 0 0 0,0-1 0 0 0,0-1 0 0 0,0 0 0 0 0,0 0 0 0 0,0-1 0 0 0,0 1 0 0 0,0-1 0 0 0,0 1 0 0 0,0-1 0 0 0,0 1 0 0 0,0-1 0 0 0,0 1 0 0 0,0-1 0 0 0,0 1 0 0 0,0 0 0 0 0,0-1 0 0 0,0 1 0 0 0,0-1 0 0 0,0 1 0 0 0,0 0 0 0 0,0-1 0 0 0,0 1 0 0 0,0-1 0 0 0,0 1 0 0 0,0 0 0 0 0,0-1 0 0 0,-3-3 0 0 0,-2 0 0 0 0,1-1 0 0 0,1 1 0 0 0,0 1 0 0 0,2 1 0 0 0,0 1 0 0 0,1 0 0 0 0,0 1 0 0 0,0 0 0 0 0,0 0 0 0 0,0-1 0 0 0,0 1 0 0 0,0 0 0 0 0,1 0 0 0 0,-1-1 0 0 0,0 1 0 0 0,0-1 0 0 0,0 1 0 0 0,0 0 0 0 0,0-1 0 0 0,0 1 0 0 0,0-1 0 0 0,0 1 0 0 0,0 0 0 0 0,0-1 0 0 0,0 1 0 0 0,0-1 0 0 0,0 1 0 0 0,0 0 0 0 0,0-1 0 0 0,0 1 0 0 0,0-1 0 0 0,0 1 0 0 0,0 0 0 0 0,0-1 0 0 0,0 1 0 0 0,0-1 0 0 0,0 1 0 0 0,0-1 0 0 0,0 1 0 0 0,0 0 0 0 0,0-1 0 0 0,0 1 0 0 0,0-1 0 0 0,0 1 0 0 0,0-7 0 0 0,0-9 0 0 0,0-8 0 0 0,0-7 0 0 0,0-6 0 0 0,0-5 0 0 0,3-3 0 0 0,1-7 0 0 0,1-2 0 0 0,1 2 0 0 0,1 0 0 0 0,-1 2 0 0 0,1 5 0 0 0,1 5 0 0 0,-3 2 0 0 0,-1 0 0 0 0,-1 1 0 0 0,-2-1 0 0 0,0 0 0 0 0,-1-1 0 0 0,0 0 0 0 0,-1 0 0 0 0,1-1 0 0 0,0 0 0 0 0,-1 1 0 0 0,1-1 0 0 0,0 0 0 0 0,-3 4 0 0 0,-1 1 0 0 0,-4 3 0 0 0,0 0 0 0 0,2-1 0 0 0,1 2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25850 4409 16383 0 0,'0'-3'0'0'0,"3"-2"0"0"0,8 1 0 0 0,6 1 0 0 0,2 0 0 0 0,2 2 0 0 0,1 0 0 0 0,0 1 0 0 0,-1 0 0 0 0,0 0 0 0 0,-4-3 0 0 0,-2-2 0 0 0,1 1 0 0 0,0 1 0 0 0,1 1 0 0 0,1 0 0 0 0,1 1 0 0 0,0 1 0 0 0,1 0 0 0 0,3 0 0 0 0,1 0 0 0 0,0 1 0 0 0,2-1 0 0 0,1 0 0 0 0,-2 0 0 0 0,-11 0 0 0 0,-11 0 0 0 0,-10 0 0 0 0,-7 0 0 0 0,-5 0 0 0 0,-1 0 0 0 0,-2 0 0 0 0,0 0 0 0 0,0 0 0 0 0,1 0 0 0 0,4-3 0 0 0,1-2 0 0 0,1-2 0 0 0,-2-1 0 0 0,4-2 0 0 0,-1 0 0 0 0,0 0 0 0 0,-2 0 0 0 0,-1-1 0 0 0,-2 2 0 0 0,4-2 0 0 0,0 2 0 0 0,-1 2 0 0 0,3-1 0 0 0,7 0 0 0 0,7 3 0 0 0,8 1 0 0 0,5 2 0 0 0,3 1 0 0 0,3 0 0 0 0,0 1 0 0 0,2 1 0 0 0,-1-1 0 0 0,-1 0 0 0 0,1 1 0 0 0,-1-1 0 0 0,0 0 0 0 0,-1 0 0 0 0,1 0 0 0 0,0 0 0 0 0,-1 0 0 0 0,1 0 0 0 0,-1 0 0 0 0,1 0 0 0 0,-1 0 0 0 0,1 0 0 0 0,0 0 0 0 0,-1 0 0 0 0,1 0 0 0 0,-1 0 0 0 0,1 0 0 0 0,0 0 0 0 0,-1 0 0 0 0,1 0 0 0 0,-1 0 0 0 0,1 0 0 0 0,0 0 0 0 0,-1 0 0 0 0,1 0 0 0 0,-1 0 0 0 0,1 0 0 0 0,-1 0 0 0 0,1 0 0 0 0,0 0 0 0 0,-4 3 0 0 0,-1 2 0 0 0,-3 2 0 0 0,0 1 0 0 0,-2 2 0 0 0,-4 3 0 0 0,-1 2 0 0 0,-3 2 0 0 0,-4-2 0 0 0,-6-3 0 0 0,-4-4 0 0 0,-4-3 0 0 0,-2-3 0 0 0,-2-1 0 0 0,-1-1 0 0 0,1-1 0 0 0,-1 3 0 0 0,1 2 0 0 0,0 0 0 0 0,0-1 0 0 0,0-1 0 0 0,0 0 0 0 0,1-2 0 0 0,-1 1 0 0 0,1-1 0 0 0,-1 0 0 0 0,1-1 0 0 0,-1 1 0 0 0,0 0 0 0 0,1 0 0 0 0,-1 3 0 0 0,1 2 0 0 0,2 2 0 0 0,2 1 0 0 0,3 2 0 0 0,0-1 0 0 0,-1-1 0 0 0,-1 0 0 0 0,-3 0 0 0 0,0-2 0 0 0,1 1 0 0 0,1 0 0 0 0,0 2 0 0 0,-2-1 0 0 0,0-1 0 0 0,2 1 0 0 0,0-1 0 0 0,3 2 0 0 0,0-1 0 0 0,-1-1 0 0 0,-2 1 0 0 0,-1-1 0 0 0,1 2 0 0 0,4 3 0 0 0,0-1 0 0 0,2 1 0 0 0,0-1 0 0 0,-3 0 0 0 0,-2 3 0 0 0,1 1 0 0 0,-1-2 0 0 0,3 1 0 0 0,6-2 0 0 0,7-4 0 0 0,7-2 0 0 0,5-3 0 0 0,3-2 0 0 0,3-1 0 0 0,1 0 0 0 0,0-1 0 0 0,0 1 0 0 0,-1-1 0 0 0,1 1 0 0 0,-1 0 0 0 0,0 0 0 0 0,-1-1 0 0 0,1 1 0 0 0,-1 0 0 0 0,1 0 0 0 0,-1 0 0 0 0,1 1 0 0 0,-4 2 0 0 0,-1 1 0 0 0,1 1 0 0 0,0-2 0 0 0,1-1 0 0 0,1 0 0 0 0,1-1 0 0 0,0-1 0 0 0,1 0 0 0 0,0 0 0 0 0,-1 0 0 0 0,1-1 0 0 0,0 1 0 0 0,0 0 0 0 0,-1 0 0 0 0,1 0 0 0 0,0 0 0 0 0,-1 0 0 0 0,1 0 0 0 0,-1 0 0 0 0,1 0 0 0 0,0 0 0 0 0,-1 0 0 0 0,1 0 0 0 0,-1 0 0 0 0,1 0 0 0 0,-1 0 0 0 0,1 0 0 0 0,0 0 0 0 0,-1 0 0 0 0,1 0 0 0 0,-1 0 0 0 0,1 0 0 0 0,0 0 0 0 0,-4-3 0 0 0,-8-2 0 0 0,-4-2 0 0 0,-4-4 0 0 0,-2-4 0 0 0,0-2 0 0 0,-4 2 0 0 0,0 0 0 0 0,1-1 0 0 0,1-1 0 0 0,1-1 0 0 0,-2 0 0 0 0,0-2 0 0 0,0 1 0 0 0,2-1 0 0 0,1 0 0 0 0,1 1 0 0 0,0-1 0 0 0,-2 3 0 0 0,-2 9 0 0 0,1 8 0 0 0,1 8 0 0 0,1 5 0 0 0,0 5 0 0 0,2 2 0 0 0,0 1 0 0 0,0 0 0 0 0,0 0 0 0 0,-3-3 0 0 0,-2-2 0 0 0,1 0 0 0 0,-2-3 0 0 0,-5 0 0 0 0,-2-3 0 0 0,-3 4 0 0 0,-2 0 0 0 0,2 0 0 0 0,0 2 0 0 0,0-2 0 0 0,-1-4 0 0 0,-1-3 0 0 0,0-3 0 0 0,-1-2 0 0 0,-1-2 0 0 0,4-3 0 0 0,4-2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25665 5001 16383 0 0,'0'0'0'0'0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25665 5054 16383 0 0,'0'0'0'0'0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26006 5027 16383 0 0,'-3'0'0'0'0,"-2"0"0"0"0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25797 5027 16383 0 0,'0'0'0'0'0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26009 4948 16383 0 0,'0'0'0'0'0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26009 4910 16383 0 0,'0'-4'0'0'0,"0"-4"0"0"0,3-1 0 0 0,2-3 0 0 0,-1 1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26035 4842 16383 0 0,'4'0'0'0'0,"4"0"0"0"0,1 0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26141 4842 16383 0 0,'0'0'0'0'0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26126 4842 16383 0 0,'0'3'0'0'0,"-4"2"0"0"0,-4 0 0 0 0,-5-2 0 0 0,-3 0 0 0 0,0-1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25848 4868 16383 0 0,'-3'0'0'0'0,"-6"0"0"0"0,-11 0 0 0 0,-6 0 0 0 0,-2 0 0 0 0,0 0 0 0 0,2 0 0 0 0,1 0 0 0 0,1 0 0 0 0,5 0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25585 4868 16383 0 0,'0'0'0'0'0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7-05T10:29:48.7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25504 4868 16383 0 0,'-4'0'0'0'0,"-1"0"0"0"0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416C2-3C24-443B-9560-1BFD7B36DCFA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FC082-6BFA-43E3-AC94-9CAFBA23582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4553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FC082-6BFA-43E3-AC94-9CAFBA235827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8014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FC082-6BFA-43E3-AC94-9CAFBA235827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263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FC082-6BFA-43E3-AC94-9CAFBA235827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6087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FC082-6BFA-43E3-AC94-9CAFBA235827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2995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FC082-6BFA-43E3-AC94-9CAFBA235827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6805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FC082-6BFA-43E3-AC94-9CAFBA235827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6939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FC082-6BFA-43E3-AC94-9CAFBA235827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5117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FC082-6BFA-43E3-AC94-9CAFBA235827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8479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FC082-6BFA-43E3-AC94-9CAFBA235827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6016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FC082-6BFA-43E3-AC94-9CAFBA235827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6737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ttangolo 167"/>
          <p:cNvSpPr/>
          <p:nvPr userDrawn="1"/>
        </p:nvSpPr>
        <p:spPr>
          <a:xfrm>
            <a:off x="0" y="0"/>
            <a:ext cx="12192000" cy="1847850"/>
          </a:xfrm>
          <a:prstGeom prst="rect">
            <a:avLst/>
          </a:prstGeom>
          <a:solidFill>
            <a:srgbClr val="1A4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grpSp>
        <p:nvGrpSpPr>
          <p:cNvPr id="371" name="Gruppo 370"/>
          <p:cNvGrpSpPr/>
          <p:nvPr userDrawn="1"/>
        </p:nvGrpSpPr>
        <p:grpSpPr>
          <a:xfrm>
            <a:off x="48007" y="1654176"/>
            <a:ext cx="12143993" cy="180000"/>
            <a:chOff x="1218340" y="275867"/>
            <a:chExt cx="17715122" cy="567843"/>
          </a:xfrm>
        </p:grpSpPr>
        <p:cxnSp>
          <p:nvCxnSpPr>
            <p:cNvPr id="372" name="Connettore 1 169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Connettore 1 170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Connettore 1 171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ttore 1 172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ttore 1 173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ttore 1 174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ttore 1 175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Connettore 1 176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Connettore 1 177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Connettore 1 178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Connettore 1 179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Connettore 1 180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Connettore 1 181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Connettore 1 182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Connettore 1 183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Connettore 1 184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Connettore 1 185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Connettore 1 186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Connettore 1 187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Connettore 1 188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Connettore 1 189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Connettore 1 190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Connettore 1 191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Connettore 1 192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Connettore 1 193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Connettore 1 194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Connettore 1 195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Connettore 1 196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Connettore 1 197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Connettore 1 198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ttore 1 199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Connettore 1 200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Connettore 1 201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nettore 1 202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Connettore 1 203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Connettore 1 204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Connettore 1 205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Connettore 1 206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Connettore 1 207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Connettore 1 208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Connettore 1 209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Connettore 1 210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Connettore 1 211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Connettore 1 212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Connettore 1 213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Connettore 1 214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Connettore 1 215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Connettore 1 216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Connettore 1 217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Connettore 1 218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Connettore 1 219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Connettore 1 220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Connettore 1 221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Connettore 1 222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Connettore 1 223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Connettore 1 224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Connettore 1 225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Connettore 1 226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Connettore 1 227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Connettore 1 228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Connettore 1 229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Connettore 1 230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Connettore 1 231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Connettore 1 232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Connettore 1 233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Connettore 1 234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Connettore 1 235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Connettore 1 236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Connettore 1 237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Connettore 1 238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Connettore 1 239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Connettore 1 240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Connettore 1 241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Connettore 1 242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Connettore 1 243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Connettore 1 244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Connettore 1 245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Connettore 1 246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Connettore 1 247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Connettore 1 248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Connettore 1 249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Connettore 1 250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Connettore 1 251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Connettore 1 252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Connettore 1 253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Connettore 1 254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Connettore 1 255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Connettore 1 256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Connettore 1 257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Connettore 1 258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Connettore 1 259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Connettore 1 260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Connettore 1 261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Connettore 1 262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Connettore 1 263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Connettore 1 264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Connettore 1 265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Connettore 1 266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Connettore 1 267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Connettore 1 268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Connettore 1 269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Connettore 1 270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Connettore 1 271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Connettore 1 272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Connettore 1 273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Connettore 1 274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Connettore 1 275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Connettore 1 276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Connettore 1 277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Connettore 1 278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Connettore 1 279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Connettore 1 280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Connettore 1 281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Connettore 1 282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Connettore 1 283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Connettore 1 284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Connettore 1 285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Connettore 1 286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Connettore 1 287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Connettore 1 288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2" name="Picture 6" descr="Y:\IMMAGINE _COORDINATA_2014\PPT\loghi_PNG\01_polimi_centrato_BN_negativo_outline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574" y="275290"/>
            <a:ext cx="1442830" cy="110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81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1"/>
            <a:ext cx="11098301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 userDrawn="1"/>
        </p:nvSpPr>
        <p:spPr>
          <a:xfrm>
            <a:off x="0" y="6229351"/>
            <a:ext cx="12192000" cy="638175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131" name="Picture 3" descr="Y:\IMMAGINE _COORDINATA_2014\PPT\loghi_PNG\03_Polimi_bandiera-1riga_BN_negativo_outline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98" y="6262075"/>
            <a:ext cx="3380261" cy="574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olo 1"/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noFill/>
        </p:spPr>
        <p:txBody>
          <a:bodyPr/>
          <a:lstStyle/>
          <a:p>
            <a:endParaRPr lang="it-IT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886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19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006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095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44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5977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58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06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155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96E2279-029F-964F-A5B1-8676BDA67CCA}" type="datetimeFigureOut">
              <a:rPr lang="it-IT" smtClean="0"/>
              <a:t>28/10/2024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834947A-1B05-2B43-AD85-E646CE852B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66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 userDrawn="1"/>
        </p:nvSpPr>
        <p:spPr>
          <a:xfrm>
            <a:off x="0" y="1"/>
            <a:ext cx="12192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1"/>
            <a:ext cx="11098301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 userDrawn="1"/>
        </p:nvSpPr>
        <p:spPr>
          <a:xfrm>
            <a:off x="0" y="6126163"/>
            <a:ext cx="12192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grpSp>
        <p:nvGrpSpPr>
          <p:cNvPr id="132" name="Gruppo 131"/>
          <p:cNvGrpSpPr/>
          <p:nvPr userDrawn="1"/>
        </p:nvGrpSpPr>
        <p:grpSpPr>
          <a:xfrm>
            <a:off x="64010" y="1089904"/>
            <a:ext cx="12048863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531" y="6346379"/>
            <a:ext cx="3706832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886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85793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196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rgbClr val="003399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85793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1961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marL="0" indent="0" algn="l" defTabSz="457200" rtl="0" eaLnBrk="1" latinLnBrk="0" hangingPunct="1">
        <a:spcBef>
          <a:spcPct val="0"/>
        </a:spcBef>
        <a:buNone/>
        <a:defRPr sz="2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charset="2"/>
        <a:buNone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customXml" Target="../ink/ink2.xml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customXml" Target="../ink/ink10.xml"/><Relationship Id="rId18" Type="http://schemas.openxmlformats.org/officeDocument/2006/relationships/image" Target="../media/image28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25.png"/><Relationship Id="rId17" Type="http://schemas.openxmlformats.org/officeDocument/2006/relationships/customXml" Target="../ink/ink12.xml"/><Relationship Id="rId2" Type="http://schemas.openxmlformats.org/officeDocument/2006/relationships/image" Target="../media/image20.jpeg"/><Relationship Id="rId16" Type="http://schemas.openxmlformats.org/officeDocument/2006/relationships/image" Target="../media/image27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10" Type="http://schemas.openxmlformats.org/officeDocument/2006/relationships/image" Target="../media/image24.png"/><Relationship Id="rId19" Type="http://schemas.openxmlformats.org/officeDocument/2006/relationships/customXml" Target="../ink/ink13.xml"/><Relationship Id="rId4" Type="http://schemas.openxmlformats.org/officeDocument/2006/relationships/image" Target="../media/image21.png"/><Relationship Id="rId9" Type="http://schemas.openxmlformats.org/officeDocument/2006/relationships/customXml" Target="../ink/ink8.xml"/><Relationship Id="rId1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40.png"/><Relationship Id="rId18" Type="http://schemas.openxmlformats.org/officeDocument/2006/relationships/image" Target="../media/image42.png"/><Relationship Id="rId3" Type="http://schemas.openxmlformats.org/officeDocument/2006/relationships/customXml" Target="../ink/ink14.xml"/><Relationship Id="rId21" Type="http://schemas.openxmlformats.org/officeDocument/2006/relationships/customXml" Target="../ink/ink25.xml"/><Relationship Id="rId7" Type="http://schemas.openxmlformats.org/officeDocument/2006/relationships/customXml" Target="../ink/ink16.xml"/><Relationship Id="rId12" Type="http://schemas.openxmlformats.org/officeDocument/2006/relationships/customXml" Target="../ink/ink20.xml"/><Relationship Id="rId17" Type="http://schemas.openxmlformats.org/officeDocument/2006/relationships/customXml" Target="../ink/ink23.xml"/><Relationship Id="rId2" Type="http://schemas.openxmlformats.org/officeDocument/2006/relationships/image" Target="../media/image36.png"/><Relationship Id="rId16" Type="http://schemas.openxmlformats.org/officeDocument/2006/relationships/customXml" Target="../ink/ink22.xml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customXml" Target="../ink/ink19.xml"/><Relationship Id="rId5" Type="http://schemas.openxmlformats.org/officeDocument/2006/relationships/customXml" Target="../ink/ink15.xml"/><Relationship Id="rId15" Type="http://schemas.openxmlformats.org/officeDocument/2006/relationships/image" Target="../media/image41.png"/><Relationship Id="rId10" Type="http://schemas.openxmlformats.org/officeDocument/2006/relationships/customXml" Target="../ink/ink18.xml"/><Relationship Id="rId19" Type="http://schemas.openxmlformats.org/officeDocument/2006/relationships/customXml" Target="../ink/ink24.xml"/><Relationship Id="rId4" Type="http://schemas.openxmlformats.org/officeDocument/2006/relationships/image" Target="../media/image37.png"/><Relationship Id="rId9" Type="http://schemas.openxmlformats.org/officeDocument/2006/relationships/image" Target="../media/image39.png"/><Relationship Id="rId14" Type="http://schemas.openxmlformats.org/officeDocument/2006/relationships/customXml" Target="../ink/ink21.xml"/><Relationship Id="rId22" Type="http://schemas.openxmlformats.org/officeDocument/2006/relationships/customXml" Target="../ink/ink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image" Target="../media/image40.png"/><Relationship Id="rId18" Type="http://schemas.openxmlformats.org/officeDocument/2006/relationships/image" Target="../media/image42.png"/><Relationship Id="rId3" Type="http://schemas.openxmlformats.org/officeDocument/2006/relationships/customXml" Target="../ink/ink27.xml"/><Relationship Id="rId21" Type="http://schemas.openxmlformats.org/officeDocument/2006/relationships/customXml" Target="../ink/ink38.xml"/><Relationship Id="rId7" Type="http://schemas.openxmlformats.org/officeDocument/2006/relationships/customXml" Target="../ink/ink29.xml"/><Relationship Id="rId12" Type="http://schemas.openxmlformats.org/officeDocument/2006/relationships/customXml" Target="../ink/ink33.xml"/><Relationship Id="rId17" Type="http://schemas.openxmlformats.org/officeDocument/2006/relationships/customXml" Target="../ink/ink36.xml"/><Relationship Id="rId25" Type="http://schemas.openxmlformats.org/officeDocument/2006/relationships/image" Target="../media/image47.png"/><Relationship Id="rId2" Type="http://schemas.openxmlformats.org/officeDocument/2006/relationships/image" Target="../media/image36.png"/><Relationship Id="rId16" Type="http://schemas.openxmlformats.org/officeDocument/2006/relationships/customXml" Target="../ink/ink35.xml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customXml" Target="../ink/ink32.xml"/><Relationship Id="rId24" Type="http://schemas.openxmlformats.org/officeDocument/2006/relationships/image" Target="../media/image46.png"/><Relationship Id="rId5" Type="http://schemas.openxmlformats.org/officeDocument/2006/relationships/customXml" Target="../ink/ink28.xml"/><Relationship Id="rId15" Type="http://schemas.openxmlformats.org/officeDocument/2006/relationships/image" Target="../media/image41.png"/><Relationship Id="rId23" Type="http://schemas.openxmlformats.org/officeDocument/2006/relationships/image" Target="../media/image45.png"/><Relationship Id="rId10" Type="http://schemas.openxmlformats.org/officeDocument/2006/relationships/customXml" Target="../ink/ink31.xml"/><Relationship Id="rId19" Type="http://schemas.openxmlformats.org/officeDocument/2006/relationships/customXml" Target="../ink/ink37.xml"/><Relationship Id="rId4" Type="http://schemas.openxmlformats.org/officeDocument/2006/relationships/image" Target="../media/image37.png"/><Relationship Id="rId9" Type="http://schemas.openxmlformats.org/officeDocument/2006/relationships/image" Target="../media/image39.png"/><Relationship Id="rId14" Type="http://schemas.openxmlformats.org/officeDocument/2006/relationships/customXml" Target="../ink/ink34.xml"/><Relationship Id="rId22" Type="http://schemas.openxmlformats.org/officeDocument/2006/relationships/customXml" Target="../ink/ink3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customXml" Target="../ink/ink46.xml"/><Relationship Id="rId18" Type="http://schemas.openxmlformats.org/officeDocument/2006/relationships/customXml" Target="../ink/ink49.xml"/><Relationship Id="rId26" Type="http://schemas.openxmlformats.org/officeDocument/2006/relationships/image" Target="../media/image49.png"/><Relationship Id="rId3" Type="http://schemas.openxmlformats.org/officeDocument/2006/relationships/image" Target="../media/image48.png"/><Relationship Id="rId21" Type="http://schemas.openxmlformats.org/officeDocument/2006/relationships/customXml" Target="../ink/ink51.xml"/><Relationship Id="rId7" Type="http://schemas.openxmlformats.org/officeDocument/2006/relationships/customXml" Target="../ink/ink42.xml"/><Relationship Id="rId12" Type="http://schemas.openxmlformats.org/officeDocument/2006/relationships/customXml" Target="../ink/ink45.xml"/><Relationship Id="rId17" Type="http://schemas.openxmlformats.org/officeDocument/2006/relationships/image" Target="../media/image41.png"/><Relationship Id="rId25" Type="http://schemas.openxmlformats.org/officeDocument/2006/relationships/customXml" Target="../ink/ink54.xml"/><Relationship Id="rId2" Type="http://schemas.openxmlformats.org/officeDocument/2006/relationships/customXml" Target="../ink/ink40.xml"/><Relationship Id="rId16" Type="http://schemas.openxmlformats.org/officeDocument/2006/relationships/customXml" Target="../ink/ink48.xml"/><Relationship Id="rId20" Type="http://schemas.openxmlformats.org/officeDocument/2006/relationships/image" Target="../media/image42.pn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39.png"/><Relationship Id="rId24" Type="http://schemas.openxmlformats.org/officeDocument/2006/relationships/customXml" Target="../ink/ink53.xml"/><Relationship Id="rId5" Type="http://schemas.openxmlformats.org/officeDocument/2006/relationships/customXml" Target="../ink/ink41.xml"/><Relationship Id="rId15" Type="http://schemas.openxmlformats.org/officeDocument/2006/relationships/image" Target="../media/image40.png"/><Relationship Id="rId23" Type="http://schemas.openxmlformats.org/officeDocument/2006/relationships/customXml" Target="../ink/ink52.xml"/><Relationship Id="rId28" Type="http://schemas.openxmlformats.org/officeDocument/2006/relationships/image" Target="../media/image50.png"/><Relationship Id="rId10" Type="http://schemas.openxmlformats.org/officeDocument/2006/relationships/customXml" Target="../ink/ink44.xml"/><Relationship Id="rId19" Type="http://schemas.openxmlformats.org/officeDocument/2006/relationships/customXml" Target="../ink/ink50.xml"/><Relationship Id="rId4" Type="http://schemas.openxmlformats.org/officeDocument/2006/relationships/image" Target="../media/image36.png"/><Relationship Id="rId9" Type="http://schemas.openxmlformats.org/officeDocument/2006/relationships/customXml" Target="../ink/ink43.xml"/><Relationship Id="rId14" Type="http://schemas.openxmlformats.org/officeDocument/2006/relationships/customXml" Target="../ink/ink47.xml"/><Relationship Id="rId22" Type="http://schemas.openxmlformats.org/officeDocument/2006/relationships/image" Target="../media/image43.png"/><Relationship Id="rId27" Type="http://schemas.openxmlformats.org/officeDocument/2006/relationships/customXml" Target="../ink/ink5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customXml" Target="../ink/ink62.xml"/><Relationship Id="rId18" Type="http://schemas.openxmlformats.org/officeDocument/2006/relationships/customXml" Target="../ink/ink65.xml"/><Relationship Id="rId26" Type="http://schemas.openxmlformats.org/officeDocument/2006/relationships/image" Target="../media/image54.png"/><Relationship Id="rId3" Type="http://schemas.openxmlformats.org/officeDocument/2006/relationships/image" Target="../media/image48.png"/><Relationship Id="rId21" Type="http://schemas.openxmlformats.org/officeDocument/2006/relationships/customXml" Target="../ink/ink67.xml"/><Relationship Id="rId7" Type="http://schemas.openxmlformats.org/officeDocument/2006/relationships/customXml" Target="../ink/ink58.xml"/><Relationship Id="rId12" Type="http://schemas.openxmlformats.org/officeDocument/2006/relationships/customXml" Target="../ink/ink61.xml"/><Relationship Id="rId17" Type="http://schemas.openxmlformats.org/officeDocument/2006/relationships/image" Target="../media/image41.png"/><Relationship Id="rId25" Type="http://schemas.openxmlformats.org/officeDocument/2006/relationships/image" Target="../media/image53.png"/><Relationship Id="rId2" Type="http://schemas.openxmlformats.org/officeDocument/2006/relationships/customXml" Target="../ink/ink56.xml"/><Relationship Id="rId16" Type="http://schemas.openxmlformats.org/officeDocument/2006/relationships/customXml" Target="../ink/ink64.xml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39.png"/><Relationship Id="rId24" Type="http://schemas.openxmlformats.org/officeDocument/2006/relationships/customXml" Target="../ink/ink69.xml"/><Relationship Id="rId5" Type="http://schemas.openxmlformats.org/officeDocument/2006/relationships/customXml" Target="../ink/ink57.xml"/><Relationship Id="rId15" Type="http://schemas.openxmlformats.org/officeDocument/2006/relationships/image" Target="../media/image40.png"/><Relationship Id="rId23" Type="http://schemas.openxmlformats.org/officeDocument/2006/relationships/customXml" Target="../ink/ink68.xml"/><Relationship Id="rId28" Type="http://schemas.openxmlformats.org/officeDocument/2006/relationships/image" Target="../media/image56.png"/><Relationship Id="rId10" Type="http://schemas.openxmlformats.org/officeDocument/2006/relationships/customXml" Target="../ink/ink60.xml"/><Relationship Id="rId19" Type="http://schemas.openxmlformats.org/officeDocument/2006/relationships/customXml" Target="../ink/ink66.xml"/><Relationship Id="rId4" Type="http://schemas.openxmlformats.org/officeDocument/2006/relationships/image" Target="../media/image36.png"/><Relationship Id="rId9" Type="http://schemas.openxmlformats.org/officeDocument/2006/relationships/customXml" Target="../ink/ink59.xml"/><Relationship Id="rId14" Type="http://schemas.openxmlformats.org/officeDocument/2006/relationships/customXml" Target="../ink/ink63.xml"/><Relationship Id="rId22" Type="http://schemas.openxmlformats.org/officeDocument/2006/relationships/image" Target="../media/image43.png"/><Relationship Id="rId27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9.png"/><Relationship Id="rId4" Type="http://schemas.openxmlformats.org/officeDocument/2006/relationships/image" Target="../media/image7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1.png"/><Relationship Id="rId4" Type="http://schemas.openxmlformats.org/officeDocument/2006/relationships/image" Target="../media/image7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ctrTitle" idx="4294967295"/>
          </p:nvPr>
        </p:nvSpPr>
        <p:spPr>
          <a:xfrm>
            <a:off x="1546769" y="2711990"/>
            <a:ext cx="9095116" cy="2219205"/>
          </a:xfrm>
        </p:spPr>
        <p:txBody>
          <a:bodyPr>
            <a:noAutofit/>
          </a:bodyPr>
          <a:lstStyle/>
          <a:p>
            <a:pPr algn="ctr"/>
            <a:r>
              <a:rPr lang="it-IT" sz="4000" u="sng">
                <a:solidFill>
                  <a:schemeClr val="tx2"/>
                </a:solidFill>
                <a:latin typeface="Arial Nova"/>
                <a:ea typeface="STHupo"/>
              </a:rPr>
              <a:t>LABORATORIO PROGETTUALE</a:t>
            </a:r>
            <a:br>
              <a:rPr lang="it-IT" sz="2800" u="sng">
                <a:latin typeface="Arial Nova"/>
              </a:rPr>
            </a:br>
            <a:br>
              <a:rPr lang="it-IT" sz="2800">
                <a:solidFill>
                  <a:schemeClr val="tx2"/>
                </a:solidFill>
              </a:rPr>
            </a:br>
            <a:r>
              <a:rPr lang="it-IT" sz="2800" b="0">
                <a:latin typeface="Arial Nova"/>
              </a:rPr>
              <a:t>CORSO DI COSTRUZIONI IDRAULICHE</a:t>
            </a:r>
            <a:endParaRPr lang="it-IT">
              <a:solidFill>
                <a:srgbClr val="1F497D"/>
              </a:solidFill>
              <a:latin typeface="Arial Nova"/>
            </a:endParaRPr>
          </a:p>
          <a:p>
            <a:pPr algn="ctr"/>
            <a:r>
              <a:rPr lang="it-IT" sz="2800" b="0">
                <a:latin typeface="Arial Nova"/>
              </a:rPr>
              <a:t>A.A. 2023/2024</a:t>
            </a:r>
            <a:br>
              <a:rPr lang="it-IT" sz="2800" b="0">
                <a:latin typeface="Arial Nova"/>
              </a:rPr>
            </a:br>
            <a:br>
              <a:rPr lang="it-IT" sz="2800" b="0"/>
            </a:br>
            <a:br>
              <a:rPr lang="it-IT" sz="2800"/>
            </a:br>
            <a:br>
              <a:rPr lang="it-IT" sz="2800"/>
            </a:br>
            <a:br>
              <a:rPr lang="it-IT" sz="2800"/>
            </a:br>
            <a:endParaRPr lang="it-IT" sz="2800">
              <a:solidFill>
                <a:schemeClr val="tx2"/>
              </a:solidFill>
            </a:endParaRPr>
          </a:p>
        </p:txBody>
      </p:sp>
      <p:sp>
        <p:nvSpPr>
          <p:cNvPr id="11" name="Sottotitolo 10"/>
          <p:cNvSpPr>
            <a:spLocks noGrp="1"/>
          </p:cNvSpPr>
          <p:nvPr>
            <p:ph type="subTitle" idx="4294967295"/>
          </p:nvPr>
        </p:nvSpPr>
        <p:spPr>
          <a:xfrm>
            <a:off x="1780895" y="5045785"/>
            <a:ext cx="9095116" cy="13335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it-IT" b="1">
              <a:solidFill>
                <a:schemeClr val="tx2"/>
              </a:solidFill>
            </a:endParaRPr>
          </a:p>
          <a:p>
            <a:pPr algn="ctr"/>
            <a:r>
              <a:rPr lang="it-IT" b="1">
                <a:solidFill>
                  <a:schemeClr val="tx2"/>
                </a:solidFill>
              </a:rPr>
              <a:t>Comotti Nicolò(10795173), Rampoldi Alessandro (10737899)</a:t>
            </a:r>
            <a:endParaRPr lang="it-IT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27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INTRODUZIONE LABORATORIO PROGETTUALE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895600" y="1772730"/>
            <a:ext cx="6411282" cy="6153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it-IT" sz="2400">
                <a:latin typeface="Arial Nova"/>
              </a:rPr>
              <a:t>Il progetto si divide nelle seguenti parti:</a:t>
            </a:r>
          </a:p>
          <a:p>
            <a:endParaRPr lang="it-IT" sz="1800"/>
          </a:p>
          <a:p>
            <a:pPr marL="1085850" lvl="1" indent="-342900">
              <a:buFont typeface="Arial" charset="2"/>
              <a:buChar char="•"/>
            </a:pPr>
            <a:endParaRPr lang="it-IT" sz="1800"/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A44689DC-6A74-4CF2-C679-692FF9CCDA0C}"/>
              </a:ext>
            </a:extLst>
          </p:cNvPr>
          <p:cNvGrpSpPr/>
          <p:nvPr/>
        </p:nvGrpSpPr>
        <p:grpSpPr>
          <a:xfrm>
            <a:off x="129576" y="3098500"/>
            <a:ext cx="4005533" cy="1820174"/>
            <a:chOff x="5894896" y="2264613"/>
            <a:chExt cx="4537495" cy="1820174"/>
          </a:xfrm>
        </p:grpSpPr>
        <p:sp>
          <p:nvSpPr>
            <p:cNvPr id="7" name="Rettangolo con angoli arrotondati 6">
              <a:extLst>
                <a:ext uri="{FF2B5EF4-FFF2-40B4-BE49-F238E27FC236}">
                  <a16:creationId xmlns:a16="http://schemas.microsoft.com/office/drawing/2014/main" id="{8F638EA8-5454-5700-B19E-EAEBA28C00AF}"/>
                </a:ext>
              </a:extLst>
            </p:cNvPr>
            <p:cNvSpPr/>
            <p:nvPr/>
          </p:nvSpPr>
          <p:spPr>
            <a:xfrm>
              <a:off x="5894896" y="2264613"/>
              <a:ext cx="4537495" cy="1820174"/>
            </a:xfrm>
            <a:prstGeom prst="roundRect">
              <a:avLst/>
            </a:prstGeom>
            <a:noFill/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>
                <a:solidFill>
                  <a:schemeClr val="tx1"/>
                </a:solidFill>
                <a:cs typeface="Calibri"/>
              </a:endParaRPr>
            </a:p>
            <a:p>
              <a:pPr algn="ctr"/>
              <a:endParaRPr lang="it-IT">
                <a:solidFill>
                  <a:schemeClr val="tx1"/>
                </a:solidFill>
                <a:cs typeface="Calibri"/>
              </a:endParaRPr>
            </a:p>
            <a:p>
              <a:pPr algn="ctr"/>
              <a:endParaRPr lang="it-IT">
                <a:cs typeface="Calibri"/>
              </a:endParaRP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6A5E7929-D3F0-CB47-4D0B-498D27BF38C3}"/>
                </a:ext>
              </a:extLst>
            </p:cNvPr>
            <p:cNvSpPr txBox="1"/>
            <p:nvPr/>
          </p:nvSpPr>
          <p:spPr>
            <a:xfrm>
              <a:off x="6221216" y="2941608"/>
              <a:ext cx="388996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Wingdings"/>
                <a:buChar char="§"/>
              </a:pPr>
              <a:r>
                <a:rPr lang="it-IT">
                  <a:latin typeface="Arial Nova"/>
                  <a:cs typeface="Arial"/>
                </a:rPr>
                <a:t>RETE DI ADDUZIONE</a:t>
              </a:r>
              <a:r>
                <a:rPr lang="en-US">
                  <a:latin typeface="Arial Nova"/>
                  <a:cs typeface="Arial"/>
                </a:rPr>
                <a:t>​</a:t>
              </a:r>
              <a:endParaRPr lang="it-IT">
                <a:latin typeface="Arial Nova"/>
              </a:endParaRPr>
            </a:p>
            <a:p>
              <a:pPr marL="285750" indent="-285750">
                <a:buFont typeface="Wingdings"/>
                <a:buChar char="§"/>
              </a:pPr>
              <a:r>
                <a:rPr lang="it-IT">
                  <a:latin typeface="Arial Nova"/>
                  <a:cs typeface="Arial"/>
                </a:rPr>
                <a:t>SERBATOIO DI COMPENSO</a:t>
              </a:r>
              <a:r>
                <a:rPr lang="en-US">
                  <a:latin typeface="Arial Nova"/>
                  <a:cs typeface="Arial"/>
                </a:rPr>
                <a:t>​</a:t>
              </a:r>
            </a:p>
            <a:p>
              <a:pPr marL="285750" indent="-285750">
                <a:buFont typeface="Wingdings"/>
                <a:buChar char="§"/>
              </a:pPr>
              <a:r>
                <a:rPr lang="it-IT">
                  <a:latin typeface="Arial Nova"/>
                  <a:cs typeface="Arial"/>
                </a:rPr>
                <a:t>RETE DI DISTRIBUZIONE</a:t>
              </a:r>
              <a:r>
                <a:rPr lang="en-US">
                  <a:latin typeface="Arial Nova"/>
                  <a:cs typeface="Arial"/>
                </a:rPr>
                <a:t>​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25B731D7-C451-2297-E01F-B2E70D8538A2}"/>
                </a:ext>
              </a:extLst>
            </p:cNvPr>
            <p:cNvSpPr txBox="1"/>
            <p:nvPr/>
          </p:nvSpPr>
          <p:spPr>
            <a:xfrm>
              <a:off x="6507480" y="2453640"/>
              <a:ext cx="3215640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sz="2000" b="1" u="sng">
                  <a:solidFill>
                    <a:schemeClr val="accent1"/>
                  </a:solidFill>
                  <a:latin typeface="Arial Nova"/>
                  <a:cs typeface="Calibri"/>
                </a:rPr>
                <a:t>ACQUEDOTTO</a:t>
              </a:r>
              <a:endParaRPr lang="it-IT" sz="2000" b="1" u="sng">
                <a:solidFill>
                  <a:schemeClr val="accent1"/>
                </a:solidFill>
                <a:latin typeface="Arial Nova"/>
              </a:endParaRPr>
            </a:p>
          </p:txBody>
        </p:sp>
      </p:grp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6FD90D0E-3687-1884-61EF-EB40C7E98D71}"/>
              </a:ext>
            </a:extLst>
          </p:cNvPr>
          <p:cNvGrpSpPr/>
          <p:nvPr/>
        </p:nvGrpSpPr>
        <p:grpSpPr>
          <a:xfrm>
            <a:off x="4370896" y="3098499"/>
            <a:ext cx="4178061" cy="1820174"/>
            <a:chOff x="5894896" y="2264613"/>
            <a:chExt cx="4537495" cy="1820174"/>
          </a:xfrm>
        </p:grpSpPr>
        <p:sp>
          <p:nvSpPr>
            <p:cNvPr id="14" name="Rettangolo con angoli arrotondati 13">
              <a:extLst>
                <a:ext uri="{FF2B5EF4-FFF2-40B4-BE49-F238E27FC236}">
                  <a16:creationId xmlns:a16="http://schemas.microsoft.com/office/drawing/2014/main" id="{635840CD-7837-1B1E-7176-13D298CF9D1A}"/>
                </a:ext>
              </a:extLst>
            </p:cNvPr>
            <p:cNvSpPr/>
            <p:nvPr/>
          </p:nvSpPr>
          <p:spPr>
            <a:xfrm>
              <a:off x="5894896" y="2264613"/>
              <a:ext cx="4537495" cy="1820174"/>
            </a:xfrm>
            <a:prstGeom prst="roundRect">
              <a:avLst/>
            </a:prstGeom>
            <a:noFill/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>
                <a:solidFill>
                  <a:schemeClr val="tx1"/>
                </a:solidFill>
                <a:cs typeface="Calibri"/>
              </a:endParaRPr>
            </a:p>
            <a:p>
              <a:pPr algn="ctr"/>
              <a:endParaRPr lang="it-IT">
                <a:solidFill>
                  <a:schemeClr val="tx1"/>
                </a:solidFill>
                <a:cs typeface="Calibri"/>
              </a:endParaRPr>
            </a:p>
            <a:p>
              <a:pPr algn="ctr"/>
              <a:endParaRPr lang="it-IT">
                <a:cs typeface="Calibri"/>
              </a:endParaRPr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7FCAD4F2-5D77-2DAC-D085-87F62A5D3832}"/>
                </a:ext>
              </a:extLst>
            </p:cNvPr>
            <p:cNvSpPr txBox="1"/>
            <p:nvPr/>
          </p:nvSpPr>
          <p:spPr>
            <a:xfrm>
              <a:off x="6392174" y="2941608"/>
              <a:ext cx="356270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Wingdings"/>
                <a:buChar char="§"/>
              </a:pPr>
              <a:r>
                <a:rPr lang="it-IT">
                  <a:latin typeface="Arial Nova"/>
                  <a:cs typeface="Arial"/>
                </a:rPr>
                <a:t>VASCA DI PRESA</a:t>
              </a:r>
            </a:p>
            <a:p>
              <a:pPr marL="285750" indent="-285750">
                <a:buFont typeface="Wingdings"/>
                <a:buChar char="§"/>
              </a:pPr>
              <a:r>
                <a:rPr lang="it-IT">
                  <a:latin typeface="Arial Nova"/>
                  <a:cs typeface="Arial"/>
                </a:rPr>
                <a:t>CONDOTTA DI MANDATA</a:t>
              </a:r>
            </a:p>
            <a:p>
              <a:pPr marL="285750" indent="-285750">
                <a:buFont typeface="Wingdings"/>
                <a:buChar char="§"/>
              </a:pPr>
              <a:r>
                <a:rPr lang="it-IT">
                  <a:latin typeface="Arial Nova"/>
                  <a:cs typeface="Arial"/>
                </a:rPr>
                <a:t>SISTEMA DI POMPE</a:t>
              </a:r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99CCD750-88B4-EFB0-879B-B95D1F7FD0C8}"/>
                </a:ext>
              </a:extLst>
            </p:cNvPr>
            <p:cNvSpPr txBox="1"/>
            <p:nvPr/>
          </p:nvSpPr>
          <p:spPr>
            <a:xfrm>
              <a:off x="6061782" y="2453640"/>
              <a:ext cx="42076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sz="2000" b="1" u="sng">
                  <a:solidFill>
                    <a:schemeClr val="accent1"/>
                  </a:solidFill>
                  <a:latin typeface="Arial Nova"/>
                  <a:cs typeface="Calibri"/>
                </a:rPr>
                <a:t>IMPIANTO DI SOLLEVAMENTO</a:t>
              </a:r>
              <a:endParaRPr lang="it-IT" sz="2000" b="1" u="sng">
                <a:solidFill>
                  <a:schemeClr val="accent1"/>
                </a:solidFill>
                <a:latin typeface="Arial Nova"/>
              </a:endParaRPr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7D9EF858-259C-EE3A-E6A6-CC5258B2F1B8}"/>
              </a:ext>
            </a:extLst>
          </p:cNvPr>
          <p:cNvGrpSpPr/>
          <p:nvPr/>
        </p:nvGrpSpPr>
        <p:grpSpPr>
          <a:xfrm>
            <a:off x="8784745" y="3098499"/>
            <a:ext cx="3171648" cy="1820174"/>
            <a:chOff x="5894896" y="2264613"/>
            <a:chExt cx="4537495" cy="1820174"/>
          </a:xfrm>
        </p:grpSpPr>
        <p:sp>
          <p:nvSpPr>
            <p:cNvPr id="18" name="Rettangolo con angoli arrotondati 17">
              <a:extLst>
                <a:ext uri="{FF2B5EF4-FFF2-40B4-BE49-F238E27FC236}">
                  <a16:creationId xmlns:a16="http://schemas.microsoft.com/office/drawing/2014/main" id="{CC647DFF-25A2-4E69-C647-752D5414354E}"/>
                </a:ext>
              </a:extLst>
            </p:cNvPr>
            <p:cNvSpPr/>
            <p:nvPr/>
          </p:nvSpPr>
          <p:spPr>
            <a:xfrm>
              <a:off x="5894896" y="2264613"/>
              <a:ext cx="4537495" cy="1820174"/>
            </a:xfrm>
            <a:prstGeom prst="roundRect">
              <a:avLst/>
            </a:prstGeom>
            <a:noFill/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>
                <a:solidFill>
                  <a:schemeClr val="tx1"/>
                </a:solidFill>
                <a:cs typeface="Calibri"/>
              </a:endParaRPr>
            </a:p>
            <a:p>
              <a:pPr algn="ctr"/>
              <a:endParaRPr lang="it-IT">
                <a:solidFill>
                  <a:schemeClr val="tx1"/>
                </a:solidFill>
                <a:cs typeface="Calibri"/>
              </a:endParaRPr>
            </a:p>
            <a:p>
              <a:pPr algn="ctr"/>
              <a:endParaRPr lang="it-IT">
                <a:cs typeface="Calibri"/>
              </a:endParaRP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729F4142-5406-3348-568F-68C8C60EFBCC}"/>
                </a:ext>
              </a:extLst>
            </p:cNvPr>
            <p:cNvSpPr txBox="1"/>
            <p:nvPr/>
          </p:nvSpPr>
          <p:spPr>
            <a:xfrm>
              <a:off x="6213021" y="2941608"/>
              <a:ext cx="3921016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Wingdings"/>
                <a:buChar char="§"/>
              </a:pPr>
              <a:r>
                <a:rPr lang="it-IT">
                  <a:latin typeface="Arial Nova"/>
                  <a:cs typeface="Arial"/>
                </a:rPr>
                <a:t>RETE NERA</a:t>
              </a:r>
              <a:endParaRPr lang="it-IT">
                <a:latin typeface="Arial Nova"/>
              </a:endParaRPr>
            </a:p>
            <a:p>
              <a:pPr marL="285750" indent="-285750">
                <a:buFont typeface="Wingdings"/>
                <a:buChar char="§"/>
              </a:pPr>
              <a:r>
                <a:rPr lang="it-IT">
                  <a:latin typeface="Arial Nova"/>
                  <a:cs typeface="Arial"/>
                </a:rPr>
                <a:t>RETE BIANCA</a:t>
              </a:r>
              <a:endParaRPr lang="en-US">
                <a:latin typeface="Arial Nova"/>
                <a:cs typeface="Arial"/>
              </a:endParaRPr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7A45B743-259B-332F-7CEB-B7C20344EA26}"/>
                </a:ext>
              </a:extLst>
            </p:cNvPr>
            <p:cNvSpPr txBox="1"/>
            <p:nvPr/>
          </p:nvSpPr>
          <p:spPr>
            <a:xfrm>
              <a:off x="6507480" y="2453640"/>
              <a:ext cx="3215640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it-IT" sz="2000" b="1" u="sng">
                  <a:solidFill>
                    <a:schemeClr val="accent1"/>
                  </a:solidFill>
                  <a:latin typeface="Arial Nova"/>
                  <a:cs typeface="Calibri"/>
                </a:rPr>
                <a:t>FOGNATURA</a:t>
              </a:r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942972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1B3B15-1E18-CFD8-6487-AF343CCA6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49" y="2053390"/>
            <a:ext cx="11098301" cy="4024648"/>
          </a:xfrm>
        </p:spPr>
        <p:txBody>
          <a:bodyPr anchor="t">
            <a:normAutofit/>
          </a:bodyPr>
          <a:lstStyle/>
          <a:p>
            <a:pPr algn="ctr"/>
            <a:r>
              <a:rPr lang="it-IT" sz="6000" u="sng">
                <a:solidFill>
                  <a:schemeClr val="tx2"/>
                </a:solidFill>
                <a:latin typeface="Arial Nova"/>
                <a:ea typeface="STHupo"/>
              </a:rPr>
              <a:t>ACQUEDOTTO</a:t>
            </a:r>
            <a:endParaRPr lang="it-IT" sz="60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0C53982-E519-F694-B9B3-D4BBD57EA81E}"/>
              </a:ext>
            </a:extLst>
          </p:cNvPr>
          <p:cNvSpPr txBox="1"/>
          <p:nvPr/>
        </p:nvSpPr>
        <p:spPr>
          <a:xfrm>
            <a:off x="3576451" y="3717758"/>
            <a:ext cx="503909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it-IT" sz="2800">
                <a:latin typeface="Arial Nova"/>
                <a:cs typeface="Arial"/>
              </a:rPr>
              <a:t>RETE DI ADDUZIONE</a:t>
            </a:r>
            <a:r>
              <a:rPr lang="en-US" sz="2800">
                <a:latin typeface="Arial Nova"/>
                <a:cs typeface="Arial"/>
              </a:rPr>
              <a:t>​</a:t>
            </a:r>
            <a:endParaRPr lang="it-IT" sz="2800">
              <a:latin typeface="Arial Nova"/>
            </a:endParaRPr>
          </a:p>
          <a:p>
            <a:pPr marL="285750" indent="-285750">
              <a:buFont typeface="Wingdings"/>
              <a:buChar char="§"/>
            </a:pPr>
            <a:r>
              <a:rPr lang="it-IT" sz="2800">
                <a:latin typeface="Arial Nova"/>
                <a:cs typeface="Arial"/>
              </a:rPr>
              <a:t>SERBATOIO DI COMPENSO</a:t>
            </a:r>
            <a:r>
              <a:rPr lang="en-US" sz="2800">
                <a:latin typeface="Arial Nova"/>
                <a:cs typeface="Arial"/>
              </a:rPr>
              <a:t>​</a:t>
            </a:r>
          </a:p>
          <a:p>
            <a:pPr marL="285750" indent="-285750">
              <a:buFont typeface="Wingdings"/>
              <a:buChar char="§"/>
            </a:pPr>
            <a:r>
              <a:rPr lang="it-IT" sz="2800">
                <a:latin typeface="Arial Nova"/>
                <a:cs typeface="Arial"/>
              </a:rPr>
              <a:t>RETE DI DISTRIBUZIONE</a:t>
            </a:r>
            <a:r>
              <a:rPr lang="en-US" sz="2800">
                <a:latin typeface="Arial Nova"/>
                <a:cs typeface="Arial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206450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RETE DI ADDUZIONE - Dimensionamento</a:t>
            </a:r>
          </a:p>
        </p:txBody>
      </p:sp>
      <p:pic>
        <p:nvPicPr>
          <p:cNvPr id="4" name="Immagine 4" descr="Immagine che contiene diagramma, linea, schermata, Carattere&#10;&#10;Descrizione generata automaticamente">
            <a:extLst>
              <a:ext uri="{FF2B5EF4-FFF2-40B4-BE49-F238E27FC236}">
                <a16:creationId xmlns:a16="http://schemas.microsoft.com/office/drawing/2014/main" id="{94634D19-DAC1-4B3C-A94E-BD3EFBBCE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960" y="1709814"/>
            <a:ext cx="5260677" cy="1891343"/>
          </a:xfrm>
          <a:ln w="28575">
            <a:solidFill>
              <a:schemeClr val="tx1"/>
            </a:solidFill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3E80D10-D2B5-0C72-5C55-43BCDAD7B55E}"/>
              </a:ext>
            </a:extLst>
          </p:cNvPr>
          <p:cNvSpPr txBox="1"/>
          <p:nvPr/>
        </p:nvSpPr>
        <p:spPr>
          <a:xfrm rot="-10800000" flipV="1">
            <a:off x="6470674" y="2052051"/>
            <a:ext cx="495587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Note le quote dei punti, le lunghezze dei tratti e le portate circolanti (Q media del giorno di max consumo) abbiamo dimensionato la rete</a:t>
            </a:r>
          </a:p>
          <a:p>
            <a:endParaRPr lang="it-IT">
              <a:cs typeface="Calibri"/>
            </a:endParaRPr>
          </a:p>
        </p:txBody>
      </p:sp>
      <p:pic>
        <p:nvPicPr>
          <p:cNvPr id="7" name="Immagine 7" descr="Immagine che contiene testo, Carattere, calligrafia, numero&#10;&#10;Descrizione generata automaticamente">
            <a:extLst>
              <a:ext uri="{FF2B5EF4-FFF2-40B4-BE49-F238E27FC236}">
                <a16:creationId xmlns:a16="http://schemas.microsoft.com/office/drawing/2014/main" id="{97879F9F-E66F-7543-D3F4-ED3390E720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" t="955" r="1022" b="1432"/>
          <a:stretch/>
        </p:blipFill>
        <p:spPr>
          <a:xfrm>
            <a:off x="6233670" y="4036263"/>
            <a:ext cx="2701146" cy="191043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BA78C8EE-43B1-4CC2-AA0C-74F6F27D3613}"/>
              </a:ext>
            </a:extLst>
          </p:cNvPr>
          <p:cNvSpPr txBox="1"/>
          <p:nvPr/>
        </p:nvSpPr>
        <p:spPr>
          <a:xfrm>
            <a:off x="587957" y="3940071"/>
            <a:ext cx="505968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cs typeface="Calibri"/>
              </a:rPr>
              <a:t>Abbiamo fatto uso delle seguenti equazioni:</a:t>
            </a:r>
            <a:endParaRPr lang="en-US">
              <a:cs typeface="Calibri"/>
            </a:endParaRPr>
          </a:p>
          <a:p>
            <a:endParaRPr lang="it-IT">
              <a:cs typeface="Calibri"/>
            </a:endParaRPr>
          </a:p>
          <a:p>
            <a:pPr marL="285750" indent="-285750">
              <a:buFont typeface="Calibri,Sans-Serif"/>
              <a:buChar char="-"/>
            </a:pPr>
            <a:r>
              <a:rPr lang="it-IT">
                <a:cs typeface="Calibri"/>
              </a:rPr>
              <a:t>Equazione del moto per tutti i tratti della rete</a:t>
            </a:r>
            <a:endParaRPr lang="en-US">
              <a:cs typeface="Calibri"/>
            </a:endParaRPr>
          </a:p>
          <a:p>
            <a:pPr marL="285750" indent="-285750">
              <a:buFont typeface="Calibri,Sans-Serif"/>
              <a:buChar char="-"/>
            </a:pPr>
            <a:r>
              <a:rPr lang="it-IT">
                <a:cs typeface="Calibri"/>
              </a:rPr>
              <a:t>Equazione di minima passività nei nodi B e D</a:t>
            </a:r>
            <a:endParaRPr lang="en-US">
              <a:cs typeface="Calibri"/>
            </a:endParaRPr>
          </a:p>
          <a:p>
            <a:pPr marL="285750" indent="-285750">
              <a:buFont typeface="Calibri,Sans-Serif"/>
              <a:buChar char="-"/>
            </a:pPr>
            <a:r>
              <a:rPr lang="it-IT">
                <a:cs typeface="Calibri"/>
              </a:rPr>
              <a:t>Formula di </a:t>
            </a:r>
            <a:r>
              <a:rPr lang="it-IT" err="1">
                <a:cs typeface="Calibri"/>
              </a:rPr>
              <a:t>Chezy</a:t>
            </a:r>
          </a:p>
          <a:p>
            <a:pPr marL="285750" indent="-285750">
              <a:buFont typeface="Calibri,Sans-Serif"/>
              <a:buChar char="-"/>
            </a:pPr>
            <a:endParaRPr lang="it-IT">
              <a:cs typeface="Calibri"/>
            </a:endParaRPr>
          </a:p>
          <a:p>
            <a:r>
              <a:rPr lang="it-IT">
                <a:cs typeface="Calibri"/>
              </a:rPr>
              <a:t>Incognite: 5 diametri e 2 carichi ai nodi</a:t>
            </a:r>
            <a:endParaRPr lang="it-IT">
              <a:ea typeface="Calibri"/>
              <a:cs typeface="Calibri"/>
            </a:endParaRPr>
          </a:p>
        </p:txBody>
      </p:sp>
      <p:pic>
        <p:nvPicPr>
          <p:cNvPr id="9" name="Immagine 9" descr="Immagine che contiene Carattere, testo, calligrafia, numero&#10;&#10;Descrizione generata automaticamente">
            <a:extLst>
              <a:ext uri="{FF2B5EF4-FFF2-40B4-BE49-F238E27FC236}">
                <a16:creationId xmlns:a16="http://schemas.microsoft.com/office/drawing/2014/main" id="{3AE98CE9-5186-467F-50FE-08BD38DABF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4" t="1045" r="277" b="1342"/>
          <a:stretch/>
        </p:blipFill>
        <p:spPr>
          <a:xfrm>
            <a:off x="9676237" y="4195675"/>
            <a:ext cx="1671915" cy="678725"/>
          </a:xfrm>
          <a:prstGeom prst="rect">
            <a:avLst/>
          </a:prstGeom>
        </p:spPr>
      </p:pic>
      <p:pic>
        <p:nvPicPr>
          <p:cNvPr id="10" name="Immagine 10" descr="Immagine che contiene Carattere, testo, bianco, calligrafia&#10;&#10;Descrizione generata automaticamente">
            <a:extLst>
              <a:ext uri="{FF2B5EF4-FFF2-40B4-BE49-F238E27FC236}">
                <a16:creationId xmlns:a16="http://schemas.microsoft.com/office/drawing/2014/main" id="{4AC3939D-160B-E26E-E902-8349FE1789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9" t="2041" r="779" b="2721"/>
          <a:stretch/>
        </p:blipFill>
        <p:spPr>
          <a:xfrm>
            <a:off x="9632454" y="5109504"/>
            <a:ext cx="1776853" cy="653146"/>
          </a:xfrm>
          <a:prstGeom prst="rect">
            <a:avLst/>
          </a:prstGeom>
          <a:ln w="6350">
            <a:noFill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0B77181-16FE-30AA-DD4A-638B64B4EC11}"/>
              </a:ext>
            </a:extLst>
          </p:cNvPr>
          <p:cNvSpPr txBox="1"/>
          <p:nvPr/>
        </p:nvSpPr>
        <p:spPr>
          <a:xfrm>
            <a:off x="6714088" y="3601157"/>
            <a:ext cx="174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/>
              <a:t>Sistema di equazioni</a:t>
            </a:r>
            <a:r>
              <a:rPr lang="it-IT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768773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RETE DI ADDUZIONE - Dimensionamento</a:t>
            </a:r>
            <a:endParaRPr lang="it-IT" b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26809" y="1366405"/>
            <a:ext cx="62484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it-IT" sz="1800">
              <a:latin typeface="Calibri"/>
            </a:endParaRPr>
          </a:p>
          <a:p>
            <a:r>
              <a:rPr lang="it-IT" sz="1800">
                <a:latin typeface="Calibri"/>
              </a:rPr>
              <a:t>Coefficienti di scabrezza utilizzati (per tubi in acciaio):</a:t>
            </a:r>
          </a:p>
          <a:p>
            <a:r>
              <a:rPr lang="it-IT" sz="1800" err="1">
                <a:latin typeface="Calibri"/>
              </a:rPr>
              <a:t>Ks_nuovi</a:t>
            </a:r>
            <a:r>
              <a:rPr lang="it-IT" sz="1800">
                <a:latin typeface="Calibri"/>
              </a:rPr>
              <a:t> = 130 m</a:t>
            </a:r>
            <a:r>
              <a:rPr lang="it-IT" sz="1800" baseline="30000">
                <a:latin typeface="Calibri"/>
              </a:rPr>
              <a:t>1/3</a:t>
            </a:r>
            <a:r>
              <a:rPr lang="it-IT" sz="1800">
                <a:latin typeface="Calibri"/>
              </a:rPr>
              <a:t>/s</a:t>
            </a:r>
          </a:p>
          <a:p>
            <a:r>
              <a:rPr lang="it-IT" sz="1800" err="1">
                <a:latin typeface="Calibri"/>
              </a:rPr>
              <a:t>Ks_usati</a:t>
            </a:r>
            <a:r>
              <a:rPr lang="it-IT" sz="1800">
                <a:latin typeface="Calibri"/>
              </a:rPr>
              <a:t>  =  90 m</a:t>
            </a:r>
            <a:r>
              <a:rPr lang="it-IT" sz="1800" baseline="30000">
                <a:latin typeface="Calibri"/>
              </a:rPr>
              <a:t>1/3</a:t>
            </a:r>
            <a:r>
              <a:rPr lang="it-IT" sz="1800">
                <a:latin typeface="Calibri"/>
              </a:rPr>
              <a:t>/s </a:t>
            </a:r>
          </a:p>
          <a:p>
            <a:endParaRPr lang="it-IT" sz="1800">
              <a:latin typeface="Calibri"/>
            </a:endParaRPr>
          </a:p>
          <a:p>
            <a:endParaRPr lang="it-IT" sz="1800">
              <a:latin typeface="Calibri"/>
            </a:endParaRPr>
          </a:p>
          <a:p>
            <a:r>
              <a:rPr lang="it-IT" sz="1800">
                <a:latin typeface="Calibri"/>
              </a:rPr>
              <a:t>Passaggio da diametri teorici a diametri commerciali:</a:t>
            </a:r>
          </a:p>
          <a:p>
            <a:endParaRPr lang="it-IT" sz="1800">
              <a:latin typeface="Calibri"/>
            </a:endParaRPr>
          </a:p>
          <a:p>
            <a:endParaRPr lang="it-IT" sz="1800">
              <a:latin typeface="Calibri"/>
            </a:endParaRPr>
          </a:p>
          <a:p>
            <a:endParaRPr lang="it-IT" sz="1800">
              <a:latin typeface="Calibri"/>
            </a:endParaRPr>
          </a:p>
          <a:p>
            <a:endParaRPr lang="it-IT" sz="1800">
              <a:latin typeface="Calibri"/>
            </a:endParaRPr>
          </a:p>
          <a:p>
            <a:endParaRPr lang="it-IT" sz="1800">
              <a:latin typeface="Calibri"/>
            </a:endParaRPr>
          </a:p>
          <a:p>
            <a:endParaRPr lang="it-IT" sz="1800">
              <a:latin typeface="Calibri"/>
            </a:endParaRP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921E98D1-20D2-0684-1AB7-FC68986B8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844782"/>
              </p:ext>
            </p:extLst>
          </p:nvPr>
        </p:nvGraphicFramePr>
        <p:xfrm>
          <a:off x="4229306" y="4033683"/>
          <a:ext cx="2167605" cy="1244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7552">
                  <a:extLst>
                    <a:ext uri="{9D8B030D-6E8A-4147-A177-3AD203B41FA5}">
                      <a16:colId xmlns:a16="http://schemas.microsoft.com/office/drawing/2014/main" val="419526274"/>
                    </a:ext>
                  </a:extLst>
                </a:gridCol>
                <a:gridCol w="732501">
                  <a:extLst>
                    <a:ext uri="{9D8B030D-6E8A-4147-A177-3AD203B41FA5}">
                      <a16:colId xmlns:a16="http://schemas.microsoft.com/office/drawing/2014/main" val="1581586391"/>
                    </a:ext>
                  </a:extLst>
                </a:gridCol>
                <a:gridCol w="717552">
                  <a:extLst>
                    <a:ext uri="{9D8B030D-6E8A-4147-A177-3AD203B41FA5}">
                      <a16:colId xmlns:a16="http://schemas.microsoft.com/office/drawing/2014/main" val="3293279244"/>
                    </a:ext>
                  </a:extLst>
                </a:gridCol>
              </a:tblGrid>
              <a:tr h="24881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Dc_ab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0,25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279534"/>
                  </a:ext>
                </a:extLst>
              </a:tr>
              <a:tr h="24881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Dc_bc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0,15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284816"/>
                  </a:ext>
                </a:extLst>
              </a:tr>
              <a:tr h="24881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Dc_bd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0,25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761075"/>
                  </a:ext>
                </a:extLst>
              </a:tr>
              <a:tr h="24881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Dc_de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0,15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011497"/>
                  </a:ext>
                </a:extLst>
              </a:tr>
              <a:tr h="24881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Dc_df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0,20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822791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913694DA-3273-382E-37FE-6BEEE208B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062829"/>
              </p:ext>
            </p:extLst>
          </p:nvPr>
        </p:nvGraphicFramePr>
        <p:xfrm>
          <a:off x="738750" y="4041056"/>
          <a:ext cx="2167605" cy="124825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22535">
                  <a:extLst>
                    <a:ext uri="{9D8B030D-6E8A-4147-A177-3AD203B41FA5}">
                      <a16:colId xmlns:a16="http://schemas.microsoft.com/office/drawing/2014/main" val="2602913568"/>
                    </a:ext>
                  </a:extLst>
                </a:gridCol>
                <a:gridCol w="722535">
                  <a:extLst>
                    <a:ext uri="{9D8B030D-6E8A-4147-A177-3AD203B41FA5}">
                      <a16:colId xmlns:a16="http://schemas.microsoft.com/office/drawing/2014/main" val="2483724418"/>
                    </a:ext>
                  </a:extLst>
                </a:gridCol>
                <a:gridCol w="722535">
                  <a:extLst>
                    <a:ext uri="{9D8B030D-6E8A-4147-A177-3AD203B41FA5}">
                      <a16:colId xmlns:a16="http://schemas.microsoft.com/office/drawing/2014/main" val="1981485064"/>
                    </a:ext>
                  </a:extLst>
                </a:gridCol>
              </a:tblGrid>
              <a:tr h="25300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D_ab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0,2339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757651"/>
                  </a:ext>
                </a:extLst>
              </a:tr>
              <a:tr h="24881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D_bc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0,1245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46415"/>
                  </a:ext>
                </a:extLst>
              </a:tr>
              <a:tr h="24881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D_bd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0,2017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996944"/>
                  </a:ext>
                </a:extLst>
              </a:tr>
              <a:tr h="24881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D_de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0,1314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166875"/>
                  </a:ext>
                </a:extLst>
              </a:tr>
              <a:tr h="24881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D_df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0,1598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381298"/>
                  </a:ext>
                </a:extLst>
              </a:tr>
            </a:tbl>
          </a:graphicData>
        </a:graphic>
      </p:graphicFrame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511AF020-23AB-8B3B-3E1D-02C3616B7D2F}"/>
              </a:ext>
            </a:extLst>
          </p:cNvPr>
          <p:cNvSpPr/>
          <p:nvPr/>
        </p:nvSpPr>
        <p:spPr>
          <a:xfrm>
            <a:off x="3280237" y="4449234"/>
            <a:ext cx="575187" cy="4277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F5B6EA9-9DD2-15D2-DED2-CB918060C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207" y="2210438"/>
            <a:ext cx="3362325" cy="333375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9BAC9E06-D652-8812-E5C0-D4BEA1F06B20}"/>
              </a:ext>
            </a:extLst>
          </p:cNvPr>
          <p:cNvSpPr txBox="1"/>
          <p:nvPr/>
        </p:nvSpPr>
        <p:spPr>
          <a:xfrm>
            <a:off x="8081003" y="1564107"/>
            <a:ext cx="303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/>
              <a:t>DIAMETRI COMMERCIALI</a:t>
            </a:r>
          </a:p>
          <a:p>
            <a:pPr algn="ctr"/>
            <a:r>
              <a:rPr lang="it-IT"/>
              <a:t>(Tubi in acciaio per condotte)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5CC8EA7-BA9D-6CD9-7A4B-F399C0C3C425}"/>
              </a:ext>
            </a:extLst>
          </p:cNvPr>
          <p:cNvSpPr txBox="1"/>
          <p:nvPr/>
        </p:nvSpPr>
        <p:spPr>
          <a:xfrm>
            <a:off x="7000566" y="5646809"/>
            <a:ext cx="5191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/>
              <a:t>Fonte: https://www.irrifarma.it/content/30-tabella-comparativa-diametri-interni-delle-tubazioni</a:t>
            </a:r>
          </a:p>
          <a:p>
            <a:endParaRPr lang="it-IT" sz="1000"/>
          </a:p>
        </p:txBody>
      </p:sp>
    </p:spTree>
    <p:extLst>
      <p:ext uri="{BB962C8B-B14F-4D97-AF65-F5344CB8AC3E}">
        <p14:creationId xmlns:p14="http://schemas.microsoft.com/office/powerpoint/2010/main" val="210380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RETE DI ADDUZIONE - Verifiche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4695" y="1600201"/>
            <a:ext cx="11551665" cy="4525963"/>
          </a:xfrm>
        </p:spPr>
        <p:txBody>
          <a:bodyPr/>
          <a:lstStyle/>
          <a:p>
            <a:r>
              <a:rPr lang="it-IT" sz="1800">
                <a:latin typeface="+mn-lt"/>
              </a:rPr>
              <a:t>Utilizzando i diametri commerciali ricavati abbiamo calcolato le cadenti, con cui abbiamo eseguito le seguenti verifiche:</a:t>
            </a:r>
          </a:p>
          <a:p>
            <a:endParaRPr lang="it-IT" sz="1800">
              <a:latin typeface="+mn-lt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A02735F-EB21-448E-E8FA-1E139E223521}"/>
              </a:ext>
            </a:extLst>
          </p:cNvPr>
          <p:cNvSpPr txBox="1"/>
          <p:nvPr/>
        </p:nvSpPr>
        <p:spPr>
          <a:xfrm>
            <a:off x="609600" y="2182762"/>
            <a:ext cx="1824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- Carichi ai picchi: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5DF6D87-B6A5-3C75-93BD-001323244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964" y="2166366"/>
            <a:ext cx="2404076" cy="402124"/>
          </a:xfrm>
          <a:prstGeom prst="rect">
            <a:avLst/>
          </a:prstGeom>
        </p:spPr>
      </p:pic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87F462B0-1E24-F3DB-808A-41246D62F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417681"/>
              </p:ext>
            </p:extLst>
          </p:nvPr>
        </p:nvGraphicFramePr>
        <p:xfrm>
          <a:off x="1521869" y="2867793"/>
          <a:ext cx="2496094" cy="897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141">
                  <a:extLst>
                    <a:ext uri="{9D8B030D-6E8A-4147-A177-3AD203B41FA5}">
                      <a16:colId xmlns:a16="http://schemas.microsoft.com/office/drawing/2014/main" val="789644779"/>
                    </a:ext>
                  </a:extLst>
                </a:gridCol>
                <a:gridCol w="1334953">
                  <a:extLst>
                    <a:ext uri="{9D8B030D-6E8A-4147-A177-3AD203B41FA5}">
                      <a16:colId xmlns:a16="http://schemas.microsoft.com/office/drawing/2014/main" val="1465792490"/>
                    </a:ext>
                  </a:extLst>
                </a:gridCol>
              </a:tblGrid>
              <a:tr h="29932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CARICO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[m]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579540"/>
                  </a:ext>
                </a:extLst>
              </a:tr>
              <a:tr h="29932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H_P1 - Z_P1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6,56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575589"/>
                  </a:ext>
                </a:extLst>
              </a:tr>
              <a:tr h="29932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H_P2 - Z_P2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40,88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44310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86C9CD08-8912-4631-EBB9-03BF8F013E33}"/>
              </a:ext>
            </a:extLst>
          </p:cNvPr>
          <p:cNvSpPr txBox="1"/>
          <p:nvPr/>
        </p:nvSpPr>
        <p:spPr>
          <a:xfrm>
            <a:off x="6889416" y="2185033"/>
            <a:ext cx="116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-  Velocità: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CD60774B-8AB4-B325-EA3A-D23D30B44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829" y="2147077"/>
            <a:ext cx="2564963" cy="421413"/>
          </a:xfrm>
          <a:prstGeom prst="rect">
            <a:avLst/>
          </a:prstGeom>
        </p:spPr>
      </p:pic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593B0DAA-F56A-8C12-F4B5-F6D14323C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535969"/>
              </p:ext>
            </p:extLst>
          </p:nvPr>
        </p:nvGraphicFramePr>
        <p:xfrm>
          <a:off x="8058454" y="2874761"/>
          <a:ext cx="2018482" cy="13912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8645">
                  <a:extLst>
                    <a:ext uri="{9D8B030D-6E8A-4147-A177-3AD203B41FA5}">
                      <a16:colId xmlns:a16="http://schemas.microsoft.com/office/drawing/2014/main" val="3116557688"/>
                    </a:ext>
                  </a:extLst>
                </a:gridCol>
                <a:gridCol w="1029837">
                  <a:extLst>
                    <a:ext uri="{9D8B030D-6E8A-4147-A177-3AD203B41FA5}">
                      <a16:colId xmlns:a16="http://schemas.microsoft.com/office/drawing/2014/main" val="4136937078"/>
                    </a:ext>
                  </a:extLst>
                </a:gridCol>
              </a:tblGrid>
              <a:tr h="26646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VELOCIT</a:t>
                      </a:r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À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[m]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42393"/>
                  </a:ext>
                </a:extLst>
              </a:tr>
              <a:tr h="22496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  <a:latin typeface="+mn-lt"/>
                        </a:rPr>
                        <a:t>V_ab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1,870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646277"/>
                  </a:ext>
                </a:extLst>
              </a:tr>
              <a:tr h="22496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  <a:latin typeface="+mn-lt"/>
                        </a:rPr>
                        <a:t>V_bc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1,728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739400"/>
                  </a:ext>
                </a:extLst>
              </a:tr>
              <a:tr h="22496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  <a:latin typeface="+mn-lt"/>
                        </a:rPr>
                        <a:t>V_bd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1,248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316028"/>
                  </a:ext>
                </a:extLst>
              </a:tr>
              <a:tr h="22496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V_de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1,252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639949"/>
                  </a:ext>
                </a:extLst>
              </a:tr>
              <a:tr h="22496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V_df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1,246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218777"/>
                  </a:ext>
                </a:extLst>
              </a:tr>
            </a:tbl>
          </a:graphicData>
        </a:graphic>
      </p:graphicFrame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F382116-6698-53D0-5935-B82EAE6604D3}"/>
              </a:ext>
            </a:extLst>
          </p:cNvPr>
          <p:cNvSpPr txBox="1"/>
          <p:nvPr/>
        </p:nvSpPr>
        <p:spPr>
          <a:xfrm>
            <a:off x="511277" y="4644935"/>
            <a:ext cx="4088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Abbiamo infine calcolato le perdite delle valvole di dissipazioni a tubi nuovi ed usati e posizionato delle valvole di sfiato in corrispondenza dei picchi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89C24F65-B96A-4963-23A7-77CD34FA8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757015"/>
              </p:ext>
            </p:extLst>
          </p:nvPr>
        </p:nvGraphicFramePr>
        <p:xfrm>
          <a:off x="4858443" y="4801365"/>
          <a:ext cx="2202427" cy="8874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3688">
                  <a:extLst>
                    <a:ext uri="{9D8B030D-6E8A-4147-A177-3AD203B41FA5}">
                      <a16:colId xmlns:a16="http://schemas.microsoft.com/office/drawing/2014/main" val="1676089800"/>
                    </a:ext>
                  </a:extLst>
                </a:gridCol>
                <a:gridCol w="1078739">
                  <a:extLst>
                    <a:ext uri="{9D8B030D-6E8A-4147-A177-3AD203B41FA5}">
                      <a16:colId xmlns:a16="http://schemas.microsoft.com/office/drawing/2014/main" val="3976823118"/>
                    </a:ext>
                  </a:extLst>
                </a:gridCol>
              </a:tblGrid>
              <a:tr h="22453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TUBI NUOVI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[m]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107693"/>
                  </a:ext>
                </a:extLst>
              </a:tr>
              <a:tr h="20532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∆</a:t>
                      </a:r>
                      <a:r>
                        <a:rPr lang="it-IT" sz="1400" u="none" strike="noStrike" err="1">
                          <a:effectLst/>
                          <a:latin typeface="+mn-lt"/>
                        </a:rPr>
                        <a:t>H_ac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32,67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693405"/>
                  </a:ext>
                </a:extLst>
              </a:tr>
              <a:tr h="20532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∆H_ae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11,95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516297"/>
                  </a:ext>
                </a:extLst>
              </a:tr>
              <a:tr h="20532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∆</a:t>
                      </a:r>
                      <a:r>
                        <a:rPr lang="it-IT" sz="1400" u="none" strike="noStrike" err="1">
                          <a:effectLst/>
                          <a:latin typeface="+mn-lt"/>
                        </a:rPr>
                        <a:t>H_af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17,65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07860"/>
                  </a:ext>
                </a:extLst>
              </a:tr>
            </a:tbl>
          </a:graphicData>
        </a:graphic>
      </p:graphicFrame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C30B6CA0-8FDE-0826-A6D9-B73A18D94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681859"/>
              </p:ext>
            </p:extLst>
          </p:nvPr>
        </p:nvGraphicFramePr>
        <p:xfrm>
          <a:off x="7851976" y="4815839"/>
          <a:ext cx="2094271" cy="88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8506">
                  <a:extLst>
                    <a:ext uri="{9D8B030D-6E8A-4147-A177-3AD203B41FA5}">
                      <a16:colId xmlns:a16="http://schemas.microsoft.com/office/drawing/2014/main" val="3422646436"/>
                    </a:ext>
                  </a:extLst>
                </a:gridCol>
                <a:gridCol w="1025765">
                  <a:extLst>
                    <a:ext uri="{9D8B030D-6E8A-4147-A177-3AD203B41FA5}">
                      <a16:colId xmlns:a16="http://schemas.microsoft.com/office/drawing/2014/main" val="51940657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TUBI USATI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[m]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1997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∆</a:t>
                      </a:r>
                      <a:r>
                        <a:rPr lang="it-IT" sz="1400" u="none" strike="noStrike" err="1">
                          <a:effectLst/>
                          <a:latin typeface="+mn-lt"/>
                        </a:rPr>
                        <a:t>H_ac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25,03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463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∆</a:t>
                      </a:r>
                      <a:r>
                        <a:rPr lang="it-IT" sz="1400" u="none" strike="noStrike" err="1">
                          <a:effectLst/>
                          <a:latin typeface="+mn-lt"/>
                        </a:rPr>
                        <a:t>H_ae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7,93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261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∆</a:t>
                      </a:r>
                      <a:r>
                        <a:rPr lang="it-IT" sz="1400" u="none" strike="noStrike" err="1">
                          <a:effectLst/>
                          <a:latin typeface="+mn-lt"/>
                        </a:rPr>
                        <a:t>H_af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14,40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011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752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204F240C-69C5-A007-70E9-DA92129B35F7}"/>
              </a:ext>
            </a:extLst>
          </p:cNvPr>
          <p:cNvSpPr txBox="1"/>
          <p:nvPr/>
        </p:nvSpPr>
        <p:spPr>
          <a:xfrm>
            <a:off x="384695" y="1360745"/>
            <a:ext cx="8518358" cy="46537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RETE DI ADDUZIONE – Linee piezometriche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CA3DFAB0-F533-F358-96DB-141A8DEB6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236" y="4734181"/>
            <a:ext cx="428286" cy="410805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FCFAEE5D-5CE9-F9EE-772E-ACE4DCBD6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762" y="5196604"/>
            <a:ext cx="428286" cy="410805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1DA4FC1-0464-D2DB-8C2B-35D13F3ACEB7}"/>
              </a:ext>
            </a:extLst>
          </p:cNvPr>
          <p:cNvSpPr txBox="1"/>
          <p:nvPr/>
        </p:nvSpPr>
        <p:spPr>
          <a:xfrm>
            <a:off x="1299494" y="2615157"/>
            <a:ext cx="32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A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CE33578-8E7A-C611-0B26-8A268BCDFBDA}"/>
              </a:ext>
            </a:extLst>
          </p:cNvPr>
          <p:cNvSpPr txBox="1"/>
          <p:nvPr/>
        </p:nvSpPr>
        <p:spPr>
          <a:xfrm>
            <a:off x="3109932" y="3439061"/>
            <a:ext cx="32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B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6A8FB09-B3AF-B5DC-8C02-50F11307ACCA}"/>
              </a:ext>
            </a:extLst>
          </p:cNvPr>
          <p:cNvSpPr txBox="1"/>
          <p:nvPr/>
        </p:nvSpPr>
        <p:spPr>
          <a:xfrm>
            <a:off x="2609632" y="3069729"/>
            <a:ext cx="401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P</a:t>
            </a:r>
            <a:r>
              <a:rPr lang="it-IT" b="1" baseline="-25000"/>
              <a:t>1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87D3B29-DE01-303B-8021-5A96E384566E}"/>
              </a:ext>
            </a:extLst>
          </p:cNvPr>
          <p:cNvSpPr txBox="1"/>
          <p:nvPr/>
        </p:nvSpPr>
        <p:spPr>
          <a:xfrm>
            <a:off x="8217518" y="5196604"/>
            <a:ext cx="32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F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14F9FB4-E764-38BA-589A-7B6AA1C7D067}"/>
              </a:ext>
            </a:extLst>
          </p:cNvPr>
          <p:cNvSpPr txBox="1"/>
          <p:nvPr/>
        </p:nvSpPr>
        <p:spPr>
          <a:xfrm>
            <a:off x="6255569" y="4622883"/>
            <a:ext cx="32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D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6FA441F-9B8A-7B98-0C00-4EF1EE0A6456}"/>
              </a:ext>
            </a:extLst>
          </p:cNvPr>
          <p:cNvSpPr txBox="1"/>
          <p:nvPr/>
        </p:nvSpPr>
        <p:spPr>
          <a:xfrm>
            <a:off x="4077753" y="4492943"/>
            <a:ext cx="32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C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562B805-D120-7220-142F-A7844F91C2E2}"/>
              </a:ext>
            </a:extLst>
          </p:cNvPr>
          <p:cNvSpPr txBox="1"/>
          <p:nvPr/>
        </p:nvSpPr>
        <p:spPr>
          <a:xfrm>
            <a:off x="8122947" y="4734181"/>
            <a:ext cx="32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E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F79D182F-8965-4FF5-7241-509E4A5207E1}"/>
              </a:ext>
            </a:extLst>
          </p:cNvPr>
          <p:cNvSpPr txBox="1"/>
          <p:nvPr/>
        </p:nvSpPr>
        <p:spPr>
          <a:xfrm>
            <a:off x="5507233" y="4290620"/>
            <a:ext cx="401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P</a:t>
            </a:r>
            <a:r>
              <a:rPr lang="it-IT" b="1" baseline="-25000"/>
              <a:t>2</a:t>
            </a:r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97C23C91-A0BA-C330-E69B-63BF53EFA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50" y="4161854"/>
            <a:ext cx="326770" cy="3134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9" name="Input penna 28">
                <a:extLst>
                  <a:ext uri="{FF2B5EF4-FFF2-40B4-BE49-F238E27FC236}">
                    <a16:creationId xmlns:a16="http://schemas.microsoft.com/office/drawing/2014/main" id="{AB7FE3F0-886F-50AA-4AE9-4EE80C210981}"/>
                  </a:ext>
                </a:extLst>
              </p14:cNvPr>
              <p14:cNvContentPartPr/>
              <p14:nvPr/>
            </p14:nvContentPartPr>
            <p14:xfrm>
              <a:off x="2772557" y="2943590"/>
              <a:ext cx="360" cy="360"/>
            </p14:xfrm>
          </p:contentPart>
        </mc:Choice>
        <mc:Fallback xmlns="">
          <p:pic>
            <p:nvPicPr>
              <p:cNvPr id="29" name="Input penna 28">
                <a:extLst>
                  <a:ext uri="{FF2B5EF4-FFF2-40B4-BE49-F238E27FC236}">
                    <a16:creationId xmlns:a16="http://schemas.microsoft.com/office/drawing/2014/main" id="{AB7FE3F0-886F-50AA-4AE9-4EE80C2109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6557" y="290759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0" name="Input penna 29">
                <a:extLst>
                  <a:ext uri="{FF2B5EF4-FFF2-40B4-BE49-F238E27FC236}">
                    <a16:creationId xmlns:a16="http://schemas.microsoft.com/office/drawing/2014/main" id="{F7E411F6-1BDB-5562-5333-D25B45077D65}"/>
                  </a:ext>
                </a:extLst>
              </p14:cNvPr>
              <p14:cNvContentPartPr/>
              <p14:nvPr/>
            </p14:nvContentPartPr>
            <p14:xfrm>
              <a:off x="3451517" y="3448670"/>
              <a:ext cx="1800" cy="360"/>
            </p14:xfrm>
          </p:contentPart>
        </mc:Choice>
        <mc:Fallback xmlns="">
          <p:pic>
            <p:nvPicPr>
              <p:cNvPr id="30" name="Input penna 29">
                <a:extLst>
                  <a:ext uri="{FF2B5EF4-FFF2-40B4-BE49-F238E27FC236}">
                    <a16:creationId xmlns:a16="http://schemas.microsoft.com/office/drawing/2014/main" id="{F7E411F6-1BDB-5562-5333-D25B45077D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21517" y="3412670"/>
                <a:ext cx="615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1" name="Input penna 30">
                <a:extLst>
                  <a:ext uri="{FF2B5EF4-FFF2-40B4-BE49-F238E27FC236}">
                    <a16:creationId xmlns:a16="http://schemas.microsoft.com/office/drawing/2014/main" id="{13B71154-387E-6948-132E-4E8A8FFB70DE}"/>
                  </a:ext>
                </a:extLst>
              </p14:cNvPr>
              <p14:cNvContentPartPr/>
              <p14:nvPr/>
            </p14:nvContentPartPr>
            <p14:xfrm>
              <a:off x="5658064" y="4207818"/>
              <a:ext cx="360" cy="360"/>
            </p14:xfrm>
          </p:contentPart>
        </mc:Choice>
        <mc:Fallback xmlns="">
          <p:pic>
            <p:nvPicPr>
              <p:cNvPr id="31" name="Input penna 30">
                <a:extLst>
                  <a:ext uri="{FF2B5EF4-FFF2-40B4-BE49-F238E27FC236}">
                    <a16:creationId xmlns:a16="http://schemas.microsoft.com/office/drawing/2014/main" id="{13B71154-387E-6948-132E-4E8A8FFB70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22064" y="417181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put penna 31">
                <a:extLst>
                  <a:ext uri="{FF2B5EF4-FFF2-40B4-BE49-F238E27FC236}">
                    <a16:creationId xmlns:a16="http://schemas.microsoft.com/office/drawing/2014/main" id="{7B7EBE55-6137-5835-0B7D-61358D086398}"/>
                  </a:ext>
                </a:extLst>
              </p14:cNvPr>
              <p14:cNvContentPartPr/>
              <p14:nvPr/>
            </p14:nvContentPartPr>
            <p14:xfrm>
              <a:off x="6560477" y="4563590"/>
              <a:ext cx="360" cy="360"/>
            </p14:xfrm>
          </p:contentPart>
        </mc:Choice>
        <mc:Fallback xmlns="">
          <p:pic>
            <p:nvPicPr>
              <p:cNvPr id="32" name="Input penna 31">
                <a:extLst>
                  <a:ext uri="{FF2B5EF4-FFF2-40B4-BE49-F238E27FC236}">
                    <a16:creationId xmlns:a16="http://schemas.microsoft.com/office/drawing/2014/main" id="{7B7EBE55-6137-5835-0B7D-61358D0863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24477" y="4527590"/>
                <a:ext cx="72000" cy="72000"/>
              </a:xfrm>
              <a:prstGeom prst="rect">
                <a:avLst/>
              </a:prstGeom>
            </p:spPr>
          </p:pic>
        </mc:Fallback>
      </mc:AlternateContent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75E65634-2005-17B7-F079-5AFB82950AFB}"/>
              </a:ext>
            </a:extLst>
          </p:cNvPr>
          <p:cNvCxnSpPr>
            <a:cxnSpLocks/>
          </p:cNvCxnSpPr>
          <p:nvPr/>
        </p:nvCxnSpPr>
        <p:spPr>
          <a:xfrm>
            <a:off x="3436702" y="2678315"/>
            <a:ext cx="641051" cy="477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B12435BA-BE28-ADA1-AD8F-A8C47B2E21DB}"/>
              </a:ext>
            </a:extLst>
          </p:cNvPr>
          <p:cNvCxnSpPr>
            <a:cxnSpLocks/>
          </p:cNvCxnSpPr>
          <p:nvPr/>
        </p:nvCxnSpPr>
        <p:spPr>
          <a:xfrm>
            <a:off x="3436702" y="2678315"/>
            <a:ext cx="3123775" cy="343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2EAC1FB9-7782-3C30-9520-F0AF2976CED6}"/>
              </a:ext>
            </a:extLst>
          </p:cNvPr>
          <p:cNvCxnSpPr>
            <a:cxnSpLocks/>
          </p:cNvCxnSpPr>
          <p:nvPr/>
        </p:nvCxnSpPr>
        <p:spPr>
          <a:xfrm>
            <a:off x="6560477" y="3021731"/>
            <a:ext cx="1122758" cy="3013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diritto 52">
            <a:extLst>
              <a:ext uri="{FF2B5EF4-FFF2-40B4-BE49-F238E27FC236}">
                <a16:creationId xmlns:a16="http://schemas.microsoft.com/office/drawing/2014/main" id="{48F8BD74-FDD5-8220-A5BE-7D5A06A598A8}"/>
              </a:ext>
            </a:extLst>
          </p:cNvPr>
          <p:cNvCxnSpPr>
            <a:cxnSpLocks/>
          </p:cNvCxnSpPr>
          <p:nvPr/>
        </p:nvCxnSpPr>
        <p:spPr>
          <a:xfrm>
            <a:off x="6560477" y="3021731"/>
            <a:ext cx="1213285" cy="4597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diritto 56">
            <a:extLst>
              <a:ext uri="{FF2B5EF4-FFF2-40B4-BE49-F238E27FC236}">
                <a16:creationId xmlns:a16="http://schemas.microsoft.com/office/drawing/2014/main" id="{5749538F-498B-C62F-9C0C-AE654DC2DA8A}"/>
              </a:ext>
            </a:extLst>
          </p:cNvPr>
          <p:cNvCxnSpPr>
            <a:cxnSpLocks/>
            <a:stCxn id="104" idx="1"/>
          </p:cNvCxnSpPr>
          <p:nvPr/>
        </p:nvCxnSpPr>
        <p:spPr>
          <a:xfrm flipV="1">
            <a:off x="4064027" y="2841547"/>
            <a:ext cx="3350" cy="1319899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8C9432CF-54FC-979A-35FF-D9D20B73792E}"/>
              </a:ext>
            </a:extLst>
          </p:cNvPr>
          <p:cNvCxnSpPr>
            <a:cxnSpLocks/>
          </p:cNvCxnSpPr>
          <p:nvPr/>
        </p:nvCxnSpPr>
        <p:spPr>
          <a:xfrm flipV="1">
            <a:off x="7773762" y="3021731"/>
            <a:ext cx="0" cy="217487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diritto 61">
            <a:extLst>
              <a:ext uri="{FF2B5EF4-FFF2-40B4-BE49-F238E27FC236}">
                <a16:creationId xmlns:a16="http://schemas.microsoft.com/office/drawing/2014/main" id="{1B70CA32-DB5F-2E5C-4814-08372DF8B571}"/>
              </a:ext>
            </a:extLst>
          </p:cNvPr>
          <p:cNvCxnSpPr>
            <a:cxnSpLocks/>
          </p:cNvCxnSpPr>
          <p:nvPr/>
        </p:nvCxnSpPr>
        <p:spPr>
          <a:xfrm flipV="1">
            <a:off x="7683236" y="2877450"/>
            <a:ext cx="0" cy="1856731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Immagine 66">
            <a:extLst>
              <a:ext uri="{FF2B5EF4-FFF2-40B4-BE49-F238E27FC236}">
                <a16:creationId xmlns:a16="http://schemas.microsoft.com/office/drawing/2014/main" id="{10E21171-64C0-ED46-7DD4-57A78C2B16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5997" y="5037926"/>
            <a:ext cx="337510" cy="337510"/>
          </a:xfrm>
          <a:prstGeom prst="rect">
            <a:avLst/>
          </a:prstGeom>
          <a:noFill/>
        </p:spPr>
      </p:pic>
      <p:pic>
        <p:nvPicPr>
          <p:cNvPr id="68" name="Immagine 67">
            <a:extLst>
              <a:ext uri="{FF2B5EF4-FFF2-40B4-BE49-F238E27FC236}">
                <a16:creationId xmlns:a16="http://schemas.microsoft.com/office/drawing/2014/main" id="{FFF107E7-172E-908F-FB90-36A5C97ACB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3056" y="4565426"/>
            <a:ext cx="337510" cy="337510"/>
          </a:xfrm>
          <a:prstGeom prst="rect">
            <a:avLst/>
          </a:prstGeom>
          <a:noFill/>
        </p:spPr>
      </p:pic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ED545AF5-E368-B768-9A40-D491ACA5B023}"/>
              </a:ext>
            </a:extLst>
          </p:cNvPr>
          <p:cNvCxnSpPr>
            <a:cxnSpLocks/>
          </p:cNvCxnSpPr>
          <p:nvPr/>
        </p:nvCxnSpPr>
        <p:spPr>
          <a:xfrm>
            <a:off x="1626264" y="2334899"/>
            <a:ext cx="1810438" cy="343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diritto 69">
            <a:extLst>
              <a:ext uri="{FF2B5EF4-FFF2-40B4-BE49-F238E27FC236}">
                <a16:creationId xmlns:a16="http://schemas.microsoft.com/office/drawing/2014/main" id="{7FBBD6A3-6A7E-A8CC-23AC-516E21A93349}"/>
              </a:ext>
            </a:extLst>
          </p:cNvPr>
          <p:cNvCxnSpPr>
            <a:cxnSpLocks/>
          </p:cNvCxnSpPr>
          <p:nvPr/>
        </p:nvCxnSpPr>
        <p:spPr>
          <a:xfrm>
            <a:off x="1611766" y="2326093"/>
            <a:ext cx="1824936" cy="21970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5" name="Connettore diritto 74">
            <a:extLst>
              <a:ext uri="{FF2B5EF4-FFF2-40B4-BE49-F238E27FC236}">
                <a16:creationId xmlns:a16="http://schemas.microsoft.com/office/drawing/2014/main" id="{41A22D25-FEDE-5709-E365-1E09A8E803F5}"/>
              </a:ext>
            </a:extLst>
          </p:cNvPr>
          <p:cNvCxnSpPr>
            <a:cxnSpLocks/>
          </p:cNvCxnSpPr>
          <p:nvPr/>
        </p:nvCxnSpPr>
        <p:spPr>
          <a:xfrm>
            <a:off x="3436702" y="2544555"/>
            <a:ext cx="647942" cy="27826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8" name="Connettore diritto 77">
            <a:extLst>
              <a:ext uri="{FF2B5EF4-FFF2-40B4-BE49-F238E27FC236}">
                <a16:creationId xmlns:a16="http://schemas.microsoft.com/office/drawing/2014/main" id="{62424774-EBA7-C8F6-0F98-8E927794A6FF}"/>
              </a:ext>
            </a:extLst>
          </p:cNvPr>
          <p:cNvCxnSpPr>
            <a:cxnSpLocks/>
          </p:cNvCxnSpPr>
          <p:nvPr/>
        </p:nvCxnSpPr>
        <p:spPr>
          <a:xfrm>
            <a:off x="3433352" y="2541371"/>
            <a:ext cx="3182702" cy="20983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4" name="Connettore diritto 83">
            <a:extLst>
              <a:ext uri="{FF2B5EF4-FFF2-40B4-BE49-F238E27FC236}">
                <a16:creationId xmlns:a16="http://schemas.microsoft.com/office/drawing/2014/main" id="{80AE405C-4554-5C98-1B3F-18876B54FFD8}"/>
              </a:ext>
            </a:extLst>
          </p:cNvPr>
          <p:cNvCxnSpPr>
            <a:cxnSpLocks/>
          </p:cNvCxnSpPr>
          <p:nvPr/>
        </p:nvCxnSpPr>
        <p:spPr>
          <a:xfrm>
            <a:off x="6580386" y="2744110"/>
            <a:ext cx="1102849" cy="126893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6" name="Connettore diritto 85">
            <a:extLst>
              <a:ext uri="{FF2B5EF4-FFF2-40B4-BE49-F238E27FC236}">
                <a16:creationId xmlns:a16="http://schemas.microsoft.com/office/drawing/2014/main" id="{C27FE73F-B938-D4B4-02F1-65EDE6BEB8FB}"/>
              </a:ext>
            </a:extLst>
          </p:cNvPr>
          <p:cNvCxnSpPr>
            <a:cxnSpLocks/>
          </p:cNvCxnSpPr>
          <p:nvPr/>
        </p:nvCxnSpPr>
        <p:spPr>
          <a:xfrm>
            <a:off x="6582337" y="2748907"/>
            <a:ext cx="1211334" cy="25708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1" name="CasellaDiTesto 90">
            <a:extLst>
              <a:ext uri="{FF2B5EF4-FFF2-40B4-BE49-F238E27FC236}">
                <a16:creationId xmlns:a16="http://schemas.microsoft.com/office/drawing/2014/main" id="{64596A32-BE4D-B039-0D4C-DE5123E3B21B}"/>
              </a:ext>
            </a:extLst>
          </p:cNvPr>
          <p:cNvSpPr txBox="1"/>
          <p:nvPr/>
        </p:nvSpPr>
        <p:spPr>
          <a:xfrm>
            <a:off x="6920534" y="1639360"/>
            <a:ext cx="1529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solidFill>
                  <a:schemeClr val="accent3"/>
                </a:solidFill>
              </a:rPr>
              <a:t>LP tubi nuovi</a:t>
            </a:r>
          </a:p>
          <a:p>
            <a:r>
              <a:rPr lang="it-IT">
                <a:solidFill>
                  <a:schemeClr val="accent1"/>
                </a:solidFill>
              </a:rPr>
              <a:t>LP tubi usati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01C39ECC-A7CD-3B4D-0C67-34B46C8DE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736" y="2195302"/>
            <a:ext cx="416113" cy="410805"/>
          </a:xfrm>
          <a:prstGeom prst="rect">
            <a:avLst/>
          </a:prstGeom>
        </p:spPr>
      </p:pic>
      <p:sp>
        <p:nvSpPr>
          <p:cNvPr id="97" name="Figura a mano libera: forma 96">
            <a:extLst>
              <a:ext uri="{FF2B5EF4-FFF2-40B4-BE49-F238E27FC236}">
                <a16:creationId xmlns:a16="http://schemas.microsoft.com/office/drawing/2014/main" id="{C3C5893C-90EC-533C-EF6A-55476420B081}"/>
              </a:ext>
            </a:extLst>
          </p:cNvPr>
          <p:cNvSpPr/>
          <p:nvPr/>
        </p:nvSpPr>
        <p:spPr>
          <a:xfrm>
            <a:off x="1633155" y="2590236"/>
            <a:ext cx="3345014" cy="1856686"/>
          </a:xfrm>
          <a:custGeom>
            <a:avLst/>
            <a:gdLst>
              <a:gd name="connsiteX0" fmla="*/ 8939 w 4493475"/>
              <a:gd name="connsiteY0" fmla="*/ 0 h 1700118"/>
              <a:gd name="connsiteX1" fmla="*/ 120258 w 4493475"/>
              <a:gd name="connsiteY1" fmla="*/ 938254 h 1700118"/>
              <a:gd name="connsiteX2" fmla="*/ 851778 w 4493475"/>
              <a:gd name="connsiteY2" fmla="*/ 604300 h 1700118"/>
              <a:gd name="connsiteX3" fmla="*/ 2585162 w 4493475"/>
              <a:gd name="connsiteY3" fmla="*/ 1669774 h 1700118"/>
              <a:gd name="connsiteX4" fmla="*/ 3658588 w 4493475"/>
              <a:gd name="connsiteY4" fmla="*/ 1431235 h 1700118"/>
              <a:gd name="connsiteX5" fmla="*/ 4493475 w 4493475"/>
              <a:gd name="connsiteY5" fmla="*/ 1669774 h 1700118"/>
              <a:gd name="connsiteX0" fmla="*/ 18926 w 4503462"/>
              <a:gd name="connsiteY0" fmla="*/ 0 h 1702489"/>
              <a:gd name="connsiteX1" fmla="*/ 130245 w 4503462"/>
              <a:gd name="connsiteY1" fmla="*/ 938254 h 1702489"/>
              <a:gd name="connsiteX2" fmla="*/ 1097186 w 4503462"/>
              <a:gd name="connsiteY2" fmla="*/ 561770 h 1702489"/>
              <a:gd name="connsiteX3" fmla="*/ 2595149 w 4503462"/>
              <a:gd name="connsiteY3" fmla="*/ 1669774 h 1702489"/>
              <a:gd name="connsiteX4" fmla="*/ 3668575 w 4503462"/>
              <a:gd name="connsiteY4" fmla="*/ 1431235 h 1702489"/>
              <a:gd name="connsiteX5" fmla="*/ 4503462 w 4503462"/>
              <a:gd name="connsiteY5" fmla="*/ 1669774 h 1702489"/>
              <a:gd name="connsiteX0" fmla="*/ 653 w 4485189"/>
              <a:gd name="connsiteY0" fmla="*/ 0 h 1702489"/>
              <a:gd name="connsiteX1" fmla="*/ 398571 w 4485189"/>
              <a:gd name="connsiteY1" fmla="*/ 906357 h 1702489"/>
              <a:gd name="connsiteX2" fmla="*/ 1078913 w 4485189"/>
              <a:gd name="connsiteY2" fmla="*/ 561770 h 1702489"/>
              <a:gd name="connsiteX3" fmla="*/ 2576876 w 4485189"/>
              <a:gd name="connsiteY3" fmla="*/ 1669774 h 1702489"/>
              <a:gd name="connsiteX4" fmla="*/ 3650302 w 4485189"/>
              <a:gd name="connsiteY4" fmla="*/ 1431235 h 1702489"/>
              <a:gd name="connsiteX5" fmla="*/ 4485189 w 4485189"/>
              <a:gd name="connsiteY5" fmla="*/ 1669774 h 1702489"/>
              <a:gd name="connsiteX0" fmla="*/ 12268 w 4496804"/>
              <a:gd name="connsiteY0" fmla="*/ 0 h 1702489"/>
              <a:gd name="connsiteX1" fmla="*/ 144058 w 4496804"/>
              <a:gd name="connsiteY1" fmla="*/ 980785 h 1702489"/>
              <a:gd name="connsiteX2" fmla="*/ 1090528 w 4496804"/>
              <a:gd name="connsiteY2" fmla="*/ 561770 h 1702489"/>
              <a:gd name="connsiteX3" fmla="*/ 2588491 w 4496804"/>
              <a:gd name="connsiteY3" fmla="*/ 1669774 h 1702489"/>
              <a:gd name="connsiteX4" fmla="*/ 3661917 w 4496804"/>
              <a:gd name="connsiteY4" fmla="*/ 1431235 h 1702489"/>
              <a:gd name="connsiteX5" fmla="*/ 4496804 w 4496804"/>
              <a:gd name="connsiteY5" fmla="*/ 1669774 h 1702489"/>
              <a:gd name="connsiteX0" fmla="*/ 20557 w 4505093"/>
              <a:gd name="connsiteY0" fmla="*/ 0 h 1702489"/>
              <a:gd name="connsiteX1" fmla="*/ 152347 w 4505093"/>
              <a:gd name="connsiteY1" fmla="*/ 980785 h 1702489"/>
              <a:gd name="connsiteX2" fmla="*/ 1098817 w 4505093"/>
              <a:gd name="connsiteY2" fmla="*/ 561770 h 1702489"/>
              <a:gd name="connsiteX3" fmla="*/ 2596780 w 4505093"/>
              <a:gd name="connsiteY3" fmla="*/ 1669774 h 1702489"/>
              <a:gd name="connsiteX4" fmla="*/ 3670206 w 4505093"/>
              <a:gd name="connsiteY4" fmla="*/ 1431235 h 1702489"/>
              <a:gd name="connsiteX5" fmla="*/ 4505093 w 4505093"/>
              <a:gd name="connsiteY5" fmla="*/ 1669774 h 1702489"/>
              <a:gd name="connsiteX0" fmla="*/ 867 w 4485403"/>
              <a:gd name="connsiteY0" fmla="*/ 0 h 1702489"/>
              <a:gd name="connsiteX1" fmla="*/ 368077 w 4485403"/>
              <a:gd name="connsiteY1" fmla="*/ 714971 h 1702489"/>
              <a:gd name="connsiteX2" fmla="*/ 1079127 w 4485403"/>
              <a:gd name="connsiteY2" fmla="*/ 561770 h 1702489"/>
              <a:gd name="connsiteX3" fmla="*/ 2577090 w 4485403"/>
              <a:gd name="connsiteY3" fmla="*/ 1669774 h 1702489"/>
              <a:gd name="connsiteX4" fmla="*/ 3650516 w 4485403"/>
              <a:gd name="connsiteY4" fmla="*/ 1431235 h 1702489"/>
              <a:gd name="connsiteX5" fmla="*/ 4485403 w 4485403"/>
              <a:gd name="connsiteY5" fmla="*/ 1669774 h 1702489"/>
              <a:gd name="connsiteX0" fmla="*/ 859 w 4485395"/>
              <a:gd name="connsiteY0" fmla="*/ 0 h 1709820"/>
              <a:gd name="connsiteX1" fmla="*/ 368069 w 4485395"/>
              <a:gd name="connsiteY1" fmla="*/ 714971 h 1709820"/>
              <a:gd name="connsiteX2" fmla="*/ 1253125 w 4485395"/>
              <a:gd name="connsiteY2" fmla="*/ 434179 h 1709820"/>
              <a:gd name="connsiteX3" fmla="*/ 2577082 w 4485395"/>
              <a:gd name="connsiteY3" fmla="*/ 1669774 h 1709820"/>
              <a:gd name="connsiteX4" fmla="*/ 3650508 w 4485395"/>
              <a:gd name="connsiteY4" fmla="*/ 1431235 h 1709820"/>
              <a:gd name="connsiteX5" fmla="*/ 4485395 w 4485395"/>
              <a:gd name="connsiteY5" fmla="*/ 1669774 h 1709820"/>
              <a:gd name="connsiteX0" fmla="*/ 822 w 4485358"/>
              <a:gd name="connsiteY0" fmla="*/ 0 h 1714866"/>
              <a:gd name="connsiteX1" fmla="*/ 368032 w 4485358"/>
              <a:gd name="connsiteY1" fmla="*/ 714971 h 1714866"/>
              <a:gd name="connsiteX2" fmla="*/ 1201910 w 4485358"/>
              <a:gd name="connsiteY2" fmla="*/ 349119 h 1714866"/>
              <a:gd name="connsiteX3" fmla="*/ 2577045 w 4485358"/>
              <a:gd name="connsiteY3" fmla="*/ 1669774 h 1714866"/>
              <a:gd name="connsiteX4" fmla="*/ 3650471 w 4485358"/>
              <a:gd name="connsiteY4" fmla="*/ 1431235 h 1714866"/>
              <a:gd name="connsiteX5" fmla="*/ 4485358 w 4485358"/>
              <a:gd name="connsiteY5" fmla="*/ 1669774 h 1714866"/>
              <a:gd name="connsiteX0" fmla="*/ 822 w 4485358"/>
              <a:gd name="connsiteY0" fmla="*/ 0 h 1669774"/>
              <a:gd name="connsiteX1" fmla="*/ 368032 w 4485358"/>
              <a:gd name="connsiteY1" fmla="*/ 714971 h 1669774"/>
              <a:gd name="connsiteX2" fmla="*/ 1201910 w 4485358"/>
              <a:gd name="connsiteY2" fmla="*/ 349119 h 1669774"/>
              <a:gd name="connsiteX3" fmla="*/ 2658930 w 4485358"/>
              <a:gd name="connsiteY3" fmla="*/ 1520918 h 1669774"/>
              <a:gd name="connsiteX4" fmla="*/ 3650471 w 4485358"/>
              <a:gd name="connsiteY4" fmla="*/ 1431235 h 1669774"/>
              <a:gd name="connsiteX5" fmla="*/ 4485358 w 4485358"/>
              <a:gd name="connsiteY5" fmla="*/ 1669774 h 1669774"/>
              <a:gd name="connsiteX0" fmla="*/ 822 w 4485358"/>
              <a:gd name="connsiteY0" fmla="*/ 0 h 1930966"/>
              <a:gd name="connsiteX1" fmla="*/ 368032 w 4485358"/>
              <a:gd name="connsiteY1" fmla="*/ 714971 h 1930966"/>
              <a:gd name="connsiteX2" fmla="*/ 1201910 w 4485358"/>
              <a:gd name="connsiteY2" fmla="*/ 349119 h 1930966"/>
              <a:gd name="connsiteX3" fmla="*/ 2658930 w 4485358"/>
              <a:gd name="connsiteY3" fmla="*/ 1520918 h 1930966"/>
              <a:gd name="connsiteX4" fmla="*/ 3241043 w 4485358"/>
              <a:gd name="connsiteY4" fmla="*/ 1930966 h 1930966"/>
              <a:gd name="connsiteX5" fmla="*/ 4485358 w 4485358"/>
              <a:gd name="connsiteY5" fmla="*/ 1669774 h 1930966"/>
              <a:gd name="connsiteX0" fmla="*/ 822 w 4485358"/>
              <a:gd name="connsiteY0" fmla="*/ 0 h 1930966"/>
              <a:gd name="connsiteX1" fmla="*/ 368032 w 4485358"/>
              <a:gd name="connsiteY1" fmla="*/ 714971 h 1930966"/>
              <a:gd name="connsiteX2" fmla="*/ 1201910 w 4485358"/>
              <a:gd name="connsiteY2" fmla="*/ 349119 h 1930966"/>
              <a:gd name="connsiteX3" fmla="*/ 2658930 w 4485358"/>
              <a:gd name="connsiteY3" fmla="*/ 1520918 h 1930966"/>
              <a:gd name="connsiteX4" fmla="*/ 2792757 w 4485358"/>
              <a:gd name="connsiteY4" fmla="*/ 1686890 h 1930966"/>
              <a:gd name="connsiteX5" fmla="*/ 3241043 w 4485358"/>
              <a:gd name="connsiteY5" fmla="*/ 1930966 h 1930966"/>
              <a:gd name="connsiteX6" fmla="*/ 4485358 w 4485358"/>
              <a:gd name="connsiteY6" fmla="*/ 1669774 h 1930966"/>
              <a:gd name="connsiteX0" fmla="*/ 822 w 4485358"/>
              <a:gd name="connsiteY0" fmla="*/ 0 h 1930966"/>
              <a:gd name="connsiteX1" fmla="*/ 368032 w 4485358"/>
              <a:gd name="connsiteY1" fmla="*/ 714971 h 1930966"/>
              <a:gd name="connsiteX2" fmla="*/ 1201910 w 4485358"/>
              <a:gd name="connsiteY2" fmla="*/ 349119 h 1930966"/>
              <a:gd name="connsiteX3" fmla="*/ 2658930 w 4485358"/>
              <a:gd name="connsiteY3" fmla="*/ 1520918 h 1930966"/>
              <a:gd name="connsiteX4" fmla="*/ 2772286 w 4485358"/>
              <a:gd name="connsiteY4" fmla="*/ 1633727 h 1930966"/>
              <a:gd name="connsiteX5" fmla="*/ 3241043 w 4485358"/>
              <a:gd name="connsiteY5" fmla="*/ 1930966 h 1930966"/>
              <a:gd name="connsiteX6" fmla="*/ 4485358 w 4485358"/>
              <a:gd name="connsiteY6" fmla="*/ 1669774 h 1930966"/>
              <a:gd name="connsiteX0" fmla="*/ 822 w 4485358"/>
              <a:gd name="connsiteY0" fmla="*/ 0 h 1930966"/>
              <a:gd name="connsiteX1" fmla="*/ 368032 w 4485358"/>
              <a:gd name="connsiteY1" fmla="*/ 714971 h 1930966"/>
              <a:gd name="connsiteX2" fmla="*/ 1201910 w 4485358"/>
              <a:gd name="connsiteY2" fmla="*/ 349119 h 1930966"/>
              <a:gd name="connsiteX3" fmla="*/ 2658930 w 4485358"/>
              <a:gd name="connsiteY3" fmla="*/ 1520918 h 1930966"/>
              <a:gd name="connsiteX4" fmla="*/ 3241043 w 4485358"/>
              <a:gd name="connsiteY4" fmla="*/ 1930966 h 1930966"/>
              <a:gd name="connsiteX5" fmla="*/ 4485358 w 4485358"/>
              <a:gd name="connsiteY5" fmla="*/ 1669774 h 1930966"/>
              <a:gd name="connsiteX0" fmla="*/ 822 w 4280645"/>
              <a:gd name="connsiteY0" fmla="*/ 0 h 1930966"/>
              <a:gd name="connsiteX1" fmla="*/ 368032 w 4280645"/>
              <a:gd name="connsiteY1" fmla="*/ 714971 h 1930966"/>
              <a:gd name="connsiteX2" fmla="*/ 1201910 w 4280645"/>
              <a:gd name="connsiteY2" fmla="*/ 349119 h 1930966"/>
              <a:gd name="connsiteX3" fmla="*/ 2658930 w 4280645"/>
              <a:gd name="connsiteY3" fmla="*/ 1520918 h 1930966"/>
              <a:gd name="connsiteX4" fmla="*/ 3241043 w 4280645"/>
              <a:gd name="connsiteY4" fmla="*/ 1930966 h 1930966"/>
              <a:gd name="connsiteX5" fmla="*/ 4280645 w 4280645"/>
              <a:gd name="connsiteY5" fmla="*/ 1520919 h 1930966"/>
              <a:gd name="connsiteX0" fmla="*/ 822 w 4280645"/>
              <a:gd name="connsiteY0" fmla="*/ 0 h 1930966"/>
              <a:gd name="connsiteX1" fmla="*/ 368032 w 4280645"/>
              <a:gd name="connsiteY1" fmla="*/ 714971 h 1930966"/>
              <a:gd name="connsiteX2" fmla="*/ 1201910 w 4280645"/>
              <a:gd name="connsiteY2" fmla="*/ 349119 h 1930966"/>
              <a:gd name="connsiteX3" fmla="*/ 2658930 w 4280645"/>
              <a:gd name="connsiteY3" fmla="*/ 1520918 h 1930966"/>
              <a:gd name="connsiteX4" fmla="*/ 3241043 w 4280645"/>
              <a:gd name="connsiteY4" fmla="*/ 1930966 h 1930966"/>
              <a:gd name="connsiteX5" fmla="*/ 4280645 w 4280645"/>
              <a:gd name="connsiteY5" fmla="*/ 1520919 h 1930966"/>
              <a:gd name="connsiteX0" fmla="*/ 808 w 4280631"/>
              <a:gd name="connsiteY0" fmla="*/ 0 h 1930966"/>
              <a:gd name="connsiteX1" fmla="*/ 368018 w 4280631"/>
              <a:gd name="connsiteY1" fmla="*/ 714971 h 1930966"/>
              <a:gd name="connsiteX2" fmla="*/ 1181425 w 4280631"/>
              <a:gd name="connsiteY2" fmla="*/ 412915 h 1930966"/>
              <a:gd name="connsiteX3" fmla="*/ 2658916 w 4280631"/>
              <a:gd name="connsiteY3" fmla="*/ 1520918 h 1930966"/>
              <a:gd name="connsiteX4" fmla="*/ 3241029 w 4280631"/>
              <a:gd name="connsiteY4" fmla="*/ 1930966 h 1930966"/>
              <a:gd name="connsiteX5" fmla="*/ 4280631 w 4280631"/>
              <a:gd name="connsiteY5" fmla="*/ 1520919 h 1930966"/>
              <a:gd name="connsiteX0" fmla="*/ 808 w 4280631"/>
              <a:gd name="connsiteY0" fmla="*/ 0 h 1930966"/>
              <a:gd name="connsiteX1" fmla="*/ 368018 w 4280631"/>
              <a:gd name="connsiteY1" fmla="*/ 714971 h 1930966"/>
              <a:gd name="connsiteX2" fmla="*/ 1181425 w 4280631"/>
              <a:gd name="connsiteY2" fmla="*/ 412915 h 1930966"/>
              <a:gd name="connsiteX3" fmla="*/ 2587266 w 4280631"/>
              <a:gd name="connsiteY3" fmla="*/ 1563448 h 1930966"/>
              <a:gd name="connsiteX4" fmla="*/ 3241029 w 4280631"/>
              <a:gd name="connsiteY4" fmla="*/ 1930966 h 1930966"/>
              <a:gd name="connsiteX5" fmla="*/ 4280631 w 4280631"/>
              <a:gd name="connsiteY5" fmla="*/ 1520919 h 1930966"/>
              <a:gd name="connsiteX0" fmla="*/ 751 w 4280574"/>
              <a:gd name="connsiteY0" fmla="*/ 0 h 1930966"/>
              <a:gd name="connsiteX1" fmla="*/ 367961 w 4280574"/>
              <a:gd name="connsiteY1" fmla="*/ 714971 h 1930966"/>
              <a:gd name="connsiteX2" fmla="*/ 1089247 w 4280574"/>
              <a:gd name="connsiteY2" fmla="*/ 434180 h 1930966"/>
              <a:gd name="connsiteX3" fmla="*/ 2587209 w 4280574"/>
              <a:gd name="connsiteY3" fmla="*/ 1563448 h 1930966"/>
              <a:gd name="connsiteX4" fmla="*/ 3240972 w 4280574"/>
              <a:gd name="connsiteY4" fmla="*/ 1930966 h 1930966"/>
              <a:gd name="connsiteX5" fmla="*/ 4280574 w 4280574"/>
              <a:gd name="connsiteY5" fmla="*/ 1520919 h 1930966"/>
              <a:gd name="connsiteX0" fmla="*/ 508 w 4280331"/>
              <a:gd name="connsiteY0" fmla="*/ 0 h 1930966"/>
              <a:gd name="connsiteX1" fmla="*/ 470075 w 4280331"/>
              <a:gd name="connsiteY1" fmla="*/ 746868 h 1930966"/>
              <a:gd name="connsiteX2" fmla="*/ 1089004 w 4280331"/>
              <a:gd name="connsiteY2" fmla="*/ 434180 h 1930966"/>
              <a:gd name="connsiteX3" fmla="*/ 2586966 w 4280331"/>
              <a:gd name="connsiteY3" fmla="*/ 1563448 h 1930966"/>
              <a:gd name="connsiteX4" fmla="*/ 3240729 w 4280331"/>
              <a:gd name="connsiteY4" fmla="*/ 1930966 h 1930966"/>
              <a:gd name="connsiteX5" fmla="*/ 4280331 w 4280331"/>
              <a:gd name="connsiteY5" fmla="*/ 1520919 h 1930966"/>
              <a:gd name="connsiteX0" fmla="*/ 524 w 4280347"/>
              <a:gd name="connsiteY0" fmla="*/ 0 h 1930966"/>
              <a:gd name="connsiteX1" fmla="*/ 470091 w 4280347"/>
              <a:gd name="connsiteY1" fmla="*/ 746868 h 1930966"/>
              <a:gd name="connsiteX2" fmla="*/ 1150434 w 4280347"/>
              <a:gd name="connsiteY2" fmla="*/ 434180 h 1930966"/>
              <a:gd name="connsiteX3" fmla="*/ 2586982 w 4280347"/>
              <a:gd name="connsiteY3" fmla="*/ 1563448 h 1930966"/>
              <a:gd name="connsiteX4" fmla="*/ 3240745 w 4280347"/>
              <a:gd name="connsiteY4" fmla="*/ 1930966 h 1930966"/>
              <a:gd name="connsiteX5" fmla="*/ 4280347 w 4280347"/>
              <a:gd name="connsiteY5" fmla="*/ 1520919 h 1930966"/>
              <a:gd name="connsiteX0" fmla="*/ 524 w 4198462"/>
              <a:gd name="connsiteY0" fmla="*/ 0 h 1930966"/>
              <a:gd name="connsiteX1" fmla="*/ 470091 w 4198462"/>
              <a:gd name="connsiteY1" fmla="*/ 746868 h 1930966"/>
              <a:gd name="connsiteX2" fmla="*/ 1150434 w 4198462"/>
              <a:gd name="connsiteY2" fmla="*/ 434180 h 1930966"/>
              <a:gd name="connsiteX3" fmla="*/ 2586982 w 4198462"/>
              <a:gd name="connsiteY3" fmla="*/ 1563448 h 1930966"/>
              <a:gd name="connsiteX4" fmla="*/ 3240745 w 4198462"/>
              <a:gd name="connsiteY4" fmla="*/ 1930966 h 1930966"/>
              <a:gd name="connsiteX5" fmla="*/ 4198462 w 4198462"/>
              <a:gd name="connsiteY5" fmla="*/ 1616612 h 1930966"/>
              <a:gd name="connsiteX0" fmla="*/ 524 w 4198462"/>
              <a:gd name="connsiteY0" fmla="*/ 0 h 1930966"/>
              <a:gd name="connsiteX1" fmla="*/ 470091 w 4198462"/>
              <a:gd name="connsiteY1" fmla="*/ 746868 h 1930966"/>
              <a:gd name="connsiteX2" fmla="*/ 1150434 w 4198462"/>
              <a:gd name="connsiteY2" fmla="*/ 434180 h 1930966"/>
              <a:gd name="connsiteX3" fmla="*/ 1728949 w 4198462"/>
              <a:gd name="connsiteY3" fmla="*/ 868184 h 1930966"/>
              <a:gd name="connsiteX4" fmla="*/ 2586982 w 4198462"/>
              <a:gd name="connsiteY4" fmla="*/ 1563448 h 1930966"/>
              <a:gd name="connsiteX5" fmla="*/ 3240745 w 4198462"/>
              <a:gd name="connsiteY5" fmla="*/ 1930966 h 1930966"/>
              <a:gd name="connsiteX6" fmla="*/ 4198462 w 4198462"/>
              <a:gd name="connsiteY6" fmla="*/ 1616612 h 1930966"/>
              <a:gd name="connsiteX0" fmla="*/ 524 w 3240745"/>
              <a:gd name="connsiteY0" fmla="*/ 0 h 1930966"/>
              <a:gd name="connsiteX1" fmla="*/ 470091 w 3240745"/>
              <a:gd name="connsiteY1" fmla="*/ 746868 h 1930966"/>
              <a:gd name="connsiteX2" fmla="*/ 1150434 w 3240745"/>
              <a:gd name="connsiteY2" fmla="*/ 434180 h 1930966"/>
              <a:gd name="connsiteX3" fmla="*/ 1728949 w 3240745"/>
              <a:gd name="connsiteY3" fmla="*/ 868184 h 1930966"/>
              <a:gd name="connsiteX4" fmla="*/ 2586982 w 3240745"/>
              <a:gd name="connsiteY4" fmla="*/ 1563448 h 1930966"/>
              <a:gd name="connsiteX5" fmla="*/ 3240745 w 3240745"/>
              <a:gd name="connsiteY5" fmla="*/ 1930966 h 1930966"/>
              <a:gd name="connsiteX0" fmla="*/ 610 w 3189653"/>
              <a:gd name="connsiteY0" fmla="*/ 0 h 1888436"/>
              <a:gd name="connsiteX1" fmla="*/ 418999 w 3189653"/>
              <a:gd name="connsiteY1" fmla="*/ 704338 h 1888436"/>
              <a:gd name="connsiteX2" fmla="*/ 1099342 w 3189653"/>
              <a:gd name="connsiteY2" fmla="*/ 391650 h 1888436"/>
              <a:gd name="connsiteX3" fmla="*/ 1677857 w 3189653"/>
              <a:gd name="connsiteY3" fmla="*/ 825654 h 1888436"/>
              <a:gd name="connsiteX4" fmla="*/ 2535890 w 3189653"/>
              <a:gd name="connsiteY4" fmla="*/ 1520918 h 1888436"/>
              <a:gd name="connsiteX5" fmla="*/ 3189653 w 3189653"/>
              <a:gd name="connsiteY5" fmla="*/ 1888436 h 1888436"/>
              <a:gd name="connsiteX0" fmla="*/ 601 w 3189644"/>
              <a:gd name="connsiteY0" fmla="*/ 0 h 1888436"/>
              <a:gd name="connsiteX1" fmla="*/ 418990 w 3189644"/>
              <a:gd name="connsiteY1" fmla="*/ 704338 h 1888436"/>
              <a:gd name="connsiteX2" fmla="*/ 1073743 w 3189644"/>
              <a:gd name="connsiteY2" fmla="*/ 381017 h 1888436"/>
              <a:gd name="connsiteX3" fmla="*/ 1677848 w 3189644"/>
              <a:gd name="connsiteY3" fmla="*/ 825654 h 1888436"/>
              <a:gd name="connsiteX4" fmla="*/ 2535881 w 3189644"/>
              <a:gd name="connsiteY4" fmla="*/ 1520918 h 1888436"/>
              <a:gd name="connsiteX5" fmla="*/ 3189644 w 3189644"/>
              <a:gd name="connsiteY5" fmla="*/ 1888436 h 1888436"/>
              <a:gd name="connsiteX0" fmla="*/ 547 w 3220155"/>
              <a:gd name="connsiteY0" fmla="*/ 0 h 1856686"/>
              <a:gd name="connsiteX1" fmla="*/ 449501 w 3220155"/>
              <a:gd name="connsiteY1" fmla="*/ 672588 h 1856686"/>
              <a:gd name="connsiteX2" fmla="*/ 1104254 w 3220155"/>
              <a:gd name="connsiteY2" fmla="*/ 349267 h 1856686"/>
              <a:gd name="connsiteX3" fmla="*/ 1708359 w 3220155"/>
              <a:gd name="connsiteY3" fmla="*/ 793904 h 1856686"/>
              <a:gd name="connsiteX4" fmla="*/ 2566392 w 3220155"/>
              <a:gd name="connsiteY4" fmla="*/ 1489168 h 1856686"/>
              <a:gd name="connsiteX5" fmla="*/ 3220155 w 3220155"/>
              <a:gd name="connsiteY5" fmla="*/ 1856686 h 1856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20155" h="1856686">
                <a:moveTo>
                  <a:pt x="547" y="0"/>
                </a:moveTo>
                <a:cubicBezTo>
                  <a:pt x="-14030" y="418768"/>
                  <a:pt x="265550" y="614377"/>
                  <a:pt x="449501" y="672588"/>
                </a:cubicBezTo>
                <a:cubicBezTo>
                  <a:pt x="633452" y="730799"/>
                  <a:pt x="894444" y="329048"/>
                  <a:pt x="1104254" y="349267"/>
                </a:cubicBezTo>
                <a:cubicBezTo>
                  <a:pt x="1314064" y="369486"/>
                  <a:pt x="1468934" y="605693"/>
                  <a:pt x="1708359" y="793904"/>
                </a:cubicBezTo>
                <a:cubicBezTo>
                  <a:pt x="1947784" y="982115"/>
                  <a:pt x="2314426" y="1312038"/>
                  <a:pt x="2566392" y="1489168"/>
                </a:cubicBezTo>
                <a:cubicBezTo>
                  <a:pt x="2818358" y="1666298"/>
                  <a:pt x="2915750" y="1831877"/>
                  <a:pt x="3220155" y="1856686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9" name="Figura a mano libera: forma 98">
            <a:extLst>
              <a:ext uri="{FF2B5EF4-FFF2-40B4-BE49-F238E27FC236}">
                <a16:creationId xmlns:a16="http://schemas.microsoft.com/office/drawing/2014/main" id="{49F2E305-1552-E2A4-DA90-6A59EDD39EB7}"/>
              </a:ext>
            </a:extLst>
          </p:cNvPr>
          <p:cNvSpPr/>
          <p:nvPr/>
        </p:nvSpPr>
        <p:spPr>
          <a:xfrm>
            <a:off x="4978168" y="4194323"/>
            <a:ext cx="2690037" cy="540780"/>
          </a:xfrm>
          <a:custGeom>
            <a:avLst/>
            <a:gdLst>
              <a:gd name="connsiteX0" fmla="*/ 0 w 3482163"/>
              <a:gd name="connsiteY0" fmla="*/ 294339 h 591303"/>
              <a:gd name="connsiteX1" fmla="*/ 685800 w 3482163"/>
              <a:gd name="connsiteY1" fmla="*/ 1944 h 591303"/>
              <a:gd name="connsiteX2" fmla="*/ 1584251 w 3482163"/>
              <a:gd name="connsiteY2" fmla="*/ 421930 h 591303"/>
              <a:gd name="connsiteX3" fmla="*/ 2695353 w 3482163"/>
              <a:gd name="connsiteY3" fmla="*/ 586735 h 591303"/>
              <a:gd name="connsiteX4" fmla="*/ 3482163 w 3482163"/>
              <a:gd name="connsiteY4" fmla="*/ 262442 h 591303"/>
              <a:gd name="connsiteX0" fmla="*/ 0 w 2695353"/>
              <a:gd name="connsiteY0" fmla="*/ 294339 h 591303"/>
              <a:gd name="connsiteX1" fmla="*/ 685800 w 2695353"/>
              <a:gd name="connsiteY1" fmla="*/ 1944 h 591303"/>
              <a:gd name="connsiteX2" fmla="*/ 1584251 w 2695353"/>
              <a:gd name="connsiteY2" fmla="*/ 421930 h 591303"/>
              <a:gd name="connsiteX3" fmla="*/ 2695353 w 2695353"/>
              <a:gd name="connsiteY3" fmla="*/ 586735 h 591303"/>
              <a:gd name="connsiteX0" fmla="*/ 0 w 2695353"/>
              <a:gd name="connsiteY0" fmla="*/ 293194 h 590158"/>
              <a:gd name="connsiteX1" fmla="*/ 186070 w 2695353"/>
              <a:gd name="connsiteY1" fmla="*/ 314460 h 590158"/>
              <a:gd name="connsiteX2" fmla="*/ 685800 w 2695353"/>
              <a:gd name="connsiteY2" fmla="*/ 799 h 590158"/>
              <a:gd name="connsiteX3" fmla="*/ 1584251 w 2695353"/>
              <a:gd name="connsiteY3" fmla="*/ 420785 h 590158"/>
              <a:gd name="connsiteX4" fmla="*/ 2695353 w 2695353"/>
              <a:gd name="connsiteY4" fmla="*/ 585590 h 590158"/>
              <a:gd name="connsiteX0" fmla="*/ 0 w 2695353"/>
              <a:gd name="connsiteY0" fmla="*/ 296143 h 593107"/>
              <a:gd name="connsiteX1" fmla="*/ 297712 w 2695353"/>
              <a:gd name="connsiteY1" fmla="*/ 221716 h 593107"/>
              <a:gd name="connsiteX2" fmla="*/ 685800 w 2695353"/>
              <a:gd name="connsiteY2" fmla="*/ 3748 h 593107"/>
              <a:gd name="connsiteX3" fmla="*/ 1584251 w 2695353"/>
              <a:gd name="connsiteY3" fmla="*/ 423734 h 593107"/>
              <a:gd name="connsiteX4" fmla="*/ 2695353 w 2695353"/>
              <a:gd name="connsiteY4" fmla="*/ 588539 h 593107"/>
              <a:gd name="connsiteX0" fmla="*/ 0 w 2695353"/>
              <a:gd name="connsiteY0" fmla="*/ 296143 h 593107"/>
              <a:gd name="connsiteX1" fmla="*/ 297712 w 2695353"/>
              <a:gd name="connsiteY1" fmla="*/ 221716 h 593107"/>
              <a:gd name="connsiteX2" fmla="*/ 685800 w 2695353"/>
              <a:gd name="connsiteY2" fmla="*/ 3748 h 593107"/>
              <a:gd name="connsiteX3" fmla="*/ 1584251 w 2695353"/>
              <a:gd name="connsiteY3" fmla="*/ 423734 h 593107"/>
              <a:gd name="connsiteX4" fmla="*/ 2695353 w 2695353"/>
              <a:gd name="connsiteY4" fmla="*/ 588539 h 593107"/>
              <a:gd name="connsiteX0" fmla="*/ 0 w 2695353"/>
              <a:gd name="connsiteY0" fmla="*/ 296143 h 593107"/>
              <a:gd name="connsiteX1" fmla="*/ 132907 w 2695353"/>
              <a:gd name="connsiteY1" fmla="*/ 296143 h 593107"/>
              <a:gd name="connsiteX2" fmla="*/ 297712 w 2695353"/>
              <a:gd name="connsiteY2" fmla="*/ 221716 h 593107"/>
              <a:gd name="connsiteX3" fmla="*/ 685800 w 2695353"/>
              <a:gd name="connsiteY3" fmla="*/ 3748 h 593107"/>
              <a:gd name="connsiteX4" fmla="*/ 1584251 w 2695353"/>
              <a:gd name="connsiteY4" fmla="*/ 423734 h 593107"/>
              <a:gd name="connsiteX5" fmla="*/ 2695353 w 2695353"/>
              <a:gd name="connsiteY5" fmla="*/ 588539 h 593107"/>
              <a:gd name="connsiteX0" fmla="*/ 0 w 2695353"/>
              <a:gd name="connsiteY0" fmla="*/ 275264 h 572103"/>
              <a:gd name="connsiteX1" fmla="*/ 132907 w 2695353"/>
              <a:gd name="connsiteY1" fmla="*/ 275264 h 572103"/>
              <a:gd name="connsiteX2" fmla="*/ 297712 w 2695353"/>
              <a:gd name="connsiteY2" fmla="*/ 200837 h 572103"/>
              <a:gd name="connsiteX3" fmla="*/ 765544 w 2695353"/>
              <a:gd name="connsiteY3" fmla="*/ 4134 h 572103"/>
              <a:gd name="connsiteX4" fmla="*/ 1584251 w 2695353"/>
              <a:gd name="connsiteY4" fmla="*/ 402855 h 572103"/>
              <a:gd name="connsiteX5" fmla="*/ 2695353 w 2695353"/>
              <a:gd name="connsiteY5" fmla="*/ 567660 h 572103"/>
              <a:gd name="connsiteX0" fmla="*/ 0 w 2695353"/>
              <a:gd name="connsiteY0" fmla="*/ 291213 h 572103"/>
              <a:gd name="connsiteX1" fmla="*/ 132907 w 2695353"/>
              <a:gd name="connsiteY1" fmla="*/ 275264 h 572103"/>
              <a:gd name="connsiteX2" fmla="*/ 297712 w 2695353"/>
              <a:gd name="connsiteY2" fmla="*/ 200837 h 572103"/>
              <a:gd name="connsiteX3" fmla="*/ 765544 w 2695353"/>
              <a:gd name="connsiteY3" fmla="*/ 4134 h 572103"/>
              <a:gd name="connsiteX4" fmla="*/ 1584251 w 2695353"/>
              <a:gd name="connsiteY4" fmla="*/ 402855 h 572103"/>
              <a:gd name="connsiteX5" fmla="*/ 2695353 w 2695353"/>
              <a:gd name="connsiteY5" fmla="*/ 567660 h 572103"/>
              <a:gd name="connsiteX0" fmla="*/ 0 w 2690037"/>
              <a:gd name="connsiteY0" fmla="*/ 285897 h 572103"/>
              <a:gd name="connsiteX1" fmla="*/ 127591 w 2690037"/>
              <a:gd name="connsiteY1" fmla="*/ 275264 h 572103"/>
              <a:gd name="connsiteX2" fmla="*/ 292396 w 2690037"/>
              <a:gd name="connsiteY2" fmla="*/ 200837 h 572103"/>
              <a:gd name="connsiteX3" fmla="*/ 760228 w 2690037"/>
              <a:gd name="connsiteY3" fmla="*/ 4134 h 572103"/>
              <a:gd name="connsiteX4" fmla="*/ 1578935 w 2690037"/>
              <a:gd name="connsiteY4" fmla="*/ 402855 h 572103"/>
              <a:gd name="connsiteX5" fmla="*/ 2690037 w 2690037"/>
              <a:gd name="connsiteY5" fmla="*/ 567660 h 572103"/>
              <a:gd name="connsiteX0" fmla="*/ 0 w 2690037"/>
              <a:gd name="connsiteY0" fmla="*/ 254750 h 540780"/>
              <a:gd name="connsiteX1" fmla="*/ 127591 w 2690037"/>
              <a:gd name="connsiteY1" fmla="*/ 244117 h 540780"/>
              <a:gd name="connsiteX2" fmla="*/ 292396 w 2690037"/>
              <a:gd name="connsiteY2" fmla="*/ 169690 h 540780"/>
              <a:gd name="connsiteX3" fmla="*/ 712382 w 2690037"/>
              <a:gd name="connsiteY3" fmla="*/ 4884 h 540780"/>
              <a:gd name="connsiteX4" fmla="*/ 1578935 w 2690037"/>
              <a:gd name="connsiteY4" fmla="*/ 371708 h 540780"/>
              <a:gd name="connsiteX5" fmla="*/ 2690037 w 2690037"/>
              <a:gd name="connsiteY5" fmla="*/ 536513 h 54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90037" h="540780">
                <a:moveTo>
                  <a:pt x="0" y="254750"/>
                </a:moveTo>
                <a:cubicBezTo>
                  <a:pt x="21265" y="251206"/>
                  <a:pt x="77972" y="256521"/>
                  <a:pt x="127591" y="244117"/>
                </a:cubicBezTo>
                <a:cubicBezTo>
                  <a:pt x="177210" y="231713"/>
                  <a:pt x="199361" y="214878"/>
                  <a:pt x="292396" y="169690"/>
                </a:cubicBezTo>
                <a:cubicBezTo>
                  <a:pt x="406696" y="120958"/>
                  <a:pt x="497959" y="-28786"/>
                  <a:pt x="712382" y="4884"/>
                </a:cubicBezTo>
                <a:cubicBezTo>
                  <a:pt x="926805" y="38554"/>
                  <a:pt x="1249326" y="283103"/>
                  <a:pt x="1578935" y="371708"/>
                </a:cubicBezTo>
                <a:cubicBezTo>
                  <a:pt x="1908544" y="460313"/>
                  <a:pt x="2373718" y="563094"/>
                  <a:pt x="2690037" y="536513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4" name="Figura a mano libera: forma 103">
            <a:extLst>
              <a:ext uri="{FF2B5EF4-FFF2-40B4-BE49-F238E27FC236}">
                <a16:creationId xmlns:a16="http://schemas.microsoft.com/office/drawing/2014/main" id="{8D95E20C-E216-8CDE-E6C2-26039BA9624D}"/>
              </a:ext>
            </a:extLst>
          </p:cNvPr>
          <p:cNvSpPr/>
          <p:nvPr/>
        </p:nvSpPr>
        <p:spPr>
          <a:xfrm>
            <a:off x="3457971" y="3417167"/>
            <a:ext cx="606056" cy="744279"/>
          </a:xfrm>
          <a:custGeom>
            <a:avLst/>
            <a:gdLst>
              <a:gd name="connsiteX0" fmla="*/ 0 w 3014330"/>
              <a:gd name="connsiteY0" fmla="*/ 0 h 782305"/>
              <a:gd name="connsiteX1" fmla="*/ 606056 w 3014330"/>
              <a:gd name="connsiteY1" fmla="*/ 744279 h 782305"/>
              <a:gd name="connsiteX2" fmla="*/ 3014330 w 3014330"/>
              <a:gd name="connsiteY2" fmla="*/ 632637 h 782305"/>
              <a:gd name="connsiteX0" fmla="*/ 0 w 606056"/>
              <a:gd name="connsiteY0" fmla="*/ 0 h 744279"/>
              <a:gd name="connsiteX1" fmla="*/ 606056 w 606056"/>
              <a:gd name="connsiteY1" fmla="*/ 744279 h 744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6056" h="744279">
                <a:moveTo>
                  <a:pt x="0" y="0"/>
                </a:moveTo>
                <a:cubicBezTo>
                  <a:pt x="51834" y="319420"/>
                  <a:pt x="103668" y="638840"/>
                  <a:pt x="606056" y="744279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6" name="Figura a mano libera: forma 105">
            <a:extLst>
              <a:ext uri="{FF2B5EF4-FFF2-40B4-BE49-F238E27FC236}">
                <a16:creationId xmlns:a16="http://schemas.microsoft.com/office/drawing/2014/main" id="{9F221DD4-862A-BBCE-4BC7-71516F1E81BD}"/>
              </a:ext>
            </a:extLst>
          </p:cNvPr>
          <p:cNvSpPr/>
          <p:nvPr/>
        </p:nvSpPr>
        <p:spPr>
          <a:xfrm>
            <a:off x="6552046" y="4560167"/>
            <a:ext cx="1233376" cy="664541"/>
          </a:xfrm>
          <a:custGeom>
            <a:avLst/>
            <a:gdLst>
              <a:gd name="connsiteX0" fmla="*/ 0 w 1233376"/>
              <a:gd name="connsiteY0" fmla="*/ 0 h 664541"/>
              <a:gd name="connsiteX1" fmla="*/ 1233376 w 1233376"/>
              <a:gd name="connsiteY1" fmla="*/ 664534 h 664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33376" h="664541">
                <a:moveTo>
                  <a:pt x="0" y="0"/>
                </a:moveTo>
                <a:cubicBezTo>
                  <a:pt x="294610" y="333153"/>
                  <a:pt x="589220" y="666306"/>
                  <a:pt x="1233376" y="664534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B6E4C4E3-F254-60FD-A5D9-57B758C8D636}"/>
              </a:ext>
            </a:extLst>
          </p:cNvPr>
          <p:cNvCxnSpPr>
            <a:cxnSpLocks/>
          </p:cNvCxnSpPr>
          <p:nvPr/>
        </p:nvCxnSpPr>
        <p:spPr>
          <a:xfrm flipV="1">
            <a:off x="2772557" y="2714036"/>
            <a:ext cx="0" cy="221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B46DF080-F0F3-22BD-5E4D-B049A5E9F8B2}"/>
              </a:ext>
            </a:extLst>
          </p:cNvPr>
          <p:cNvCxnSpPr>
            <a:cxnSpLocks/>
          </p:cNvCxnSpPr>
          <p:nvPr/>
        </p:nvCxnSpPr>
        <p:spPr>
          <a:xfrm flipV="1">
            <a:off x="5658064" y="3986185"/>
            <a:ext cx="0" cy="221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EDDBDB2E-2FEC-48D3-E0AC-81633F13AC1E}"/>
              </a:ext>
            </a:extLst>
          </p:cNvPr>
          <p:cNvCxnSpPr>
            <a:cxnSpLocks/>
          </p:cNvCxnSpPr>
          <p:nvPr/>
        </p:nvCxnSpPr>
        <p:spPr>
          <a:xfrm flipV="1">
            <a:off x="9238401" y="2415014"/>
            <a:ext cx="0" cy="221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64" name="Immagine 63">
            <a:extLst>
              <a:ext uri="{FF2B5EF4-FFF2-40B4-BE49-F238E27FC236}">
                <a16:creationId xmlns:a16="http://schemas.microsoft.com/office/drawing/2014/main" id="{42CE82F1-50EC-B561-3D44-D6BB3F73CC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2788" y="3996870"/>
            <a:ext cx="337510" cy="337510"/>
          </a:xfrm>
          <a:prstGeom prst="rect">
            <a:avLst/>
          </a:prstGeom>
          <a:noFill/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A2BAA041-1DB2-74FF-276A-BB0EE1DEFF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9646" y="4069977"/>
            <a:ext cx="337510" cy="337510"/>
          </a:xfrm>
          <a:prstGeom prst="rect">
            <a:avLst/>
          </a:prstGeom>
          <a:noFill/>
        </p:spPr>
      </p:pic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DE232AF7-D032-8826-3A4C-38E237A3602B}"/>
              </a:ext>
            </a:extLst>
          </p:cNvPr>
          <p:cNvSpPr txBox="1"/>
          <p:nvPr/>
        </p:nvSpPr>
        <p:spPr>
          <a:xfrm>
            <a:off x="9940526" y="1789326"/>
            <a:ext cx="115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/>
              <a:t>LEGENDA</a:t>
            </a:r>
            <a:r>
              <a:rPr lang="it-IT"/>
              <a:t>: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9305711C-9205-F4A5-2B5E-469BD71E53EF}"/>
              </a:ext>
            </a:extLst>
          </p:cNvPr>
          <p:cNvSpPr txBox="1"/>
          <p:nvPr/>
        </p:nvSpPr>
        <p:spPr>
          <a:xfrm>
            <a:off x="9496592" y="2341228"/>
            <a:ext cx="246255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u="sng"/>
              <a:t>VALVOLE DI SFIATO</a:t>
            </a:r>
          </a:p>
          <a:p>
            <a:r>
              <a:rPr lang="it-IT" sz="1400"/>
              <a:t>Vengono posizionate in corrispondenza dei picchi per garantire una pressione minima in corrispondenza di essi almeno pari alla pressione atmosferica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DBEDE41B-1081-6BE5-DF77-9C40216DEAE4}"/>
              </a:ext>
            </a:extLst>
          </p:cNvPr>
          <p:cNvSpPr txBox="1"/>
          <p:nvPr/>
        </p:nvSpPr>
        <p:spPr>
          <a:xfrm>
            <a:off x="9496592" y="4069977"/>
            <a:ext cx="24625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u="sng"/>
              <a:t>VALVOLE DI DISSIPAZIONE</a:t>
            </a:r>
          </a:p>
          <a:p>
            <a:r>
              <a:rPr lang="it-IT" sz="1400"/>
              <a:t>Introducono una perdita di carico concentrata nel punto in cui vengono posizionate, permettono di regolare l’andamento della piezometrica</a:t>
            </a:r>
          </a:p>
        </p:txBody>
      </p:sp>
    </p:spTree>
    <p:extLst>
      <p:ext uri="{BB962C8B-B14F-4D97-AF65-F5344CB8AC3E}">
        <p14:creationId xmlns:p14="http://schemas.microsoft.com/office/powerpoint/2010/main" val="135198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SERBATOIO DI COMPENSO – Dati di progetto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it-IT" sz="1800">
                <a:latin typeface="+mn-lt"/>
              </a:rPr>
              <a:t>Regolazione completa </a:t>
            </a:r>
            <a:r>
              <a:rPr lang="it-IT" sz="1800" err="1">
                <a:latin typeface="+mn-lt"/>
              </a:rPr>
              <a:t>T</a:t>
            </a:r>
            <a:r>
              <a:rPr lang="it-IT" sz="1800" baseline="-25000" err="1">
                <a:latin typeface="+mn-lt"/>
              </a:rPr>
              <a:t>reg</a:t>
            </a:r>
            <a:r>
              <a:rPr lang="it-IT" sz="1800">
                <a:latin typeface="+mn-lt"/>
              </a:rPr>
              <a:t> = 24 h</a:t>
            </a:r>
          </a:p>
          <a:p>
            <a:pPr marL="285750" indent="-285750">
              <a:buFontTx/>
              <a:buChar char="-"/>
            </a:pPr>
            <a:r>
              <a:rPr lang="it-IT" sz="1800">
                <a:latin typeface="+mn-lt"/>
              </a:rPr>
              <a:t>Portata in ingresso costante pari a </a:t>
            </a:r>
            <a:r>
              <a:rPr lang="it-IT" sz="1800" err="1">
                <a:latin typeface="+mn-lt"/>
              </a:rPr>
              <a:t>Q</a:t>
            </a:r>
            <a:r>
              <a:rPr lang="it-IT" sz="1800" baseline="-25000" err="1">
                <a:latin typeface="+mn-lt"/>
              </a:rPr>
              <a:t>e</a:t>
            </a:r>
            <a:r>
              <a:rPr lang="it-IT" sz="1800">
                <a:latin typeface="+mn-lt"/>
              </a:rPr>
              <a:t> = 0,03913 </a:t>
            </a:r>
            <a:r>
              <a:rPr lang="it-IT" sz="1800" u="none" strike="noStrike" baseline="0">
                <a:effectLst/>
                <a:latin typeface="+mn-lt"/>
              </a:rPr>
              <a:t>m</a:t>
            </a:r>
            <a:r>
              <a:rPr lang="it-IT" sz="1800" u="none" strike="noStrike" baseline="30000">
                <a:effectLst/>
                <a:latin typeface="+mn-lt"/>
              </a:rPr>
              <a:t>3</a:t>
            </a:r>
            <a:r>
              <a:rPr lang="it-IT" sz="1800" u="none" strike="noStrike" baseline="0">
                <a:effectLst/>
                <a:latin typeface="+mn-lt"/>
              </a:rPr>
              <a:t>/s</a:t>
            </a:r>
            <a:endParaRPr lang="it-IT" sz="1800">
              <a:latin typeface="+mn-lt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C35CE98-EC35-06D9-BC2B-952A48CE4E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399" t="54834" r="24442" b="11850"/>
          <a:stretch/>
        </p:blipFill>
        <p:spPr>
          <a:xfrm>
            <a:off x="7529207" y="1354038"/>
            <a:ext cx="3929975" cy="46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487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SERBATOIO DI COMPENSO – Volume di compenso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5819205-E48C-9B47-319E-E3ED7FC95B86}"/>
              </a:ext>
            </a:extLst>
          </p:cNvPr>
          <p:cNvSpPr txBox="1"/>
          <p:nvPr/>
        </p:nvSpPr>
        <p:spPr>
          <a:xfrm>
            <a:off x="4955458" y="5304875"/>
            <a:ext cx="697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/>
              <a:t>Volume di compenso: Wc = ∆</a:t>
            </a:r>
            <a:r>
              <a:rPr lang="it-IT" baseline="30000"/>
              <a:t>+ </a:t>
            </a:r>
            <a:r>
              <a:rPr lang="it-IT"/>
              <a:t>+ ∆</a:t>
            </a:r>
            <a:r>
              <a:rPr lang="it-IT" baseline="30000"/>
              <a:t>- </a:t>
            </a:r>
            <a:r>
              <a:rPr lang="it-IT"/>
              <a:t>=</a:t>
            </a:r>
            <a:r>
              <a:rPr lang="it-IT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704,42</a:t>
            </a:r>
            <a:r>
              <a:rPr lang="it-IT" sz="1800" u="none" strike="noStrike" baseline="0">
                <a:effectLst/>
                <a:latin typeface="+mn-lt"/>
              </a:rPr>
              <a:t> m</a:t>
            </a:r>
            <a:r>
              <a:rPr lang="it-IT" sz="1800" u="none" strike="noStrike" baseline="30000">
                <a:effectLst/>
                <a:latin typeface="+mn-lt"/>
              </a:rPr>
              <a:t>3</a:t>
            </a:r>
            <a:r>
              <a:rPr lang="it-IT"/>
              <a:t> </a:t>
            </a:r>
            <a:endParaRPr lang="it-IT" baseline="3000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F5E2B192-0B8E-12EF-6C29-A54A557EF8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761" t="48439" r="36891" b="14941"/>
          <a:stretch/>
        </p:blipFill>
        <p:spPr>
          <a:xfrm>
            <a:off x="257760" y="1378758"/>
            <a:ext cx="4275329" cy="457766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D2E317A9-391A-D42D-B0C7-1CF74514B4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946" t="47993" r="23166" b="10066"/>
          <a:stretch/>
        </p:blipFill>
        <p:spPr>
          <a:xfrm>
            <a:off x="4955458" y="1378758"/>
            <a:ext cx="7097112" cy="3812164"/>
          </a:xfrm>
          <a:prstGeom prst="rect">
            <a:avLst/>
          </a:prstGeom>
        </p:spPr>
      </p:pic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A4428EBA-7AE7-C6F3-4590-FD1D7BB7914A}"/>
              </a:ext>
            </a:extLst>
          </p:cNvPr>
          <p:cNvCxnSpPr/>
          <p:nvPr/>
        </p:nvCxnSpPr>
        <p:spPr>
          <a:xfrm flipV="1">
            <a:off x="7073900" y="3657600"/>
            <a:ext cx="0" cy="33655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3D0372B-44CC-98CB-6B01-55D86CA7FE38}"/>
              </a:ext>
            </a:extLst>
          </p:cNvPr>
          <p:cNvSpPr txBox="1"/>
          <p:nvPr/>
        </p:nvSpPr>
        <p:spPr>
          <a:xfrm>
            <a:off x="7073900" y="3543647"/>
            <a:ext cx="48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solidFill>
                  <a:srgbClr val="00B050"/>
                </a:solidFill>
              </a:rPr>
              <a:t>∆</a:t>
            </a:r>
            <a:r>
              <a:rPr lang="it-IT" baseline="30000">
                <a:solidFill>
                  <a:srgbClr val="00B050"/>
                </a:solidFill>
              </a:rPr>
              <a:t>+</a:t>
            </a:r>
            <a:endParaRPr lang="it-IT">
              <a:solidFill>
                <a:srgbClr val="00B050"/>
              </a:solidFill>
            </a:endParaRPr>
          </a:p>
        </p:txBody>
      </p: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49F12B28-EEBD-591D-154F-6E5F5F9386F0}"/>
              </a:ext>
            </a:extLst>
          </p:cNvPr>
          <p:cNvCxnSpPr/>
          <p:nvPr/>
        </p:nvCxnSpPr>
        <p:spPr>
          <a:xfrm flipV="1">
            <a:off x="11258550" y="2371462"/>
            <a:ext cx="0" cy="732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24527B5-9AAD-BB93-45B5-D9FA9C486974}"/>
              </a:ext>
            </a:extLst>
          </p:cNvPr>
          <p:cNvSpPr txBox="1"/>
          <p:nvPr/>
        </p:nvSpPr>
        <p:spPr>
          <a:xfrm>
            <a:off x="11245581" y="2374037"/>
            <a:ext cx="527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solidFill>
                  <a:srgbClr val="FF0000"/>
                </a:solidFill>
              </a:rPr>
              <a:t>∆</a:t>
            </a:r>
            <a:r>
              <a:rPr lang="it-IT" baseline="30000">
                <a:solidFill>
                  <a:srgbClr val="FF0000"/>
                </a:solidFill>
              </a:rPr>
              <a:t>-</a:t>
            </a:r>
            <a:endParaRPr lang="it-IT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11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9C2E57-F84C-67B9-2F0A-AFE395AC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SERBATOIO DI COMPENSO – Capacità totale del serbatoio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E80C44-8DAA-97E8-D938-C8597EBC8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785" y="1600201"/>
            <a:ext cx="11098301" cy="4525963"/>
          </a:xfrm>
        </p:spPr>
        <p:txBody>
          <a:bodyPr>
            <a:normAutofit/>
          </a:bodyPr>
          <a:lstStyle/>
          <a:p>
            <a:r>
              <a:rPr lang="it-IT" sz="1800">
                <a:latin typeface="+mn-lt"/>
              </a:rPr>
              <a:t>- </a:t>
            </a:r>
            <a:r>
              <a:rPr lang="it-IT" sz="1800" u="sng">
                <a:latin typeface="+mn-lt"/>
              </a:rPr>
              <a:t>Volume di compenso</a:t>
            </a:r>
            <a:r>
              <a:rPr lang="it-IT" sz="1800">
                <a:latin typeface="+mn-lt"/>
              </a:rPr>
              <a:t>:   Wc = </a:t>
            </a:r>
            <a:r>
              <a:rPr lang="it-IT" sz="1800" b="0" i="0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704,42</a:t>
            </a:r>
            <a:r>
              <a:rPr lang="it-IT" sz="1800" strike="noStrike" baseline="0">
                <a:effectLst/>
                <a:latin typeface="+mn-lt"/>
              </a:rPr>
              <a:t> m</a:t>
            </a:r>
            <a:r>
              <a:rPr lang="it-IT" sz="1800" strike="noStrike" baseline="30000">
                <a:effectLst/>
                <a:latin typeface="+mn-lt"/>
              </a:rPr>
              <a:t>3</a:t>
            </a:r>
            <a:r>
              <a:rPr lang="it-IT" sz="1400"/>
              <a:t> </a:t>
            </a:r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r>
              <a:rPr lang="it-IT" sz="1800">
                <a:latin typeface="+mn-lt"/>
              </a:rPr>
              <a:t>- </a:t>
            </a:r>
            <a:r>
              <a:rPr lang="it-IT" sz="1800" u="sng">
                <a:latin typeface="+mn-lt"/>
              </a:rPr>
              <a:t>Volume antincendio</a:t>
            </a:r>
            <a:r>
              <a:rPr lang="it-IT" sz="1800">
                <a:latin typeface="+mn-lt"/>
              </a:rPr>
              <a:t>:    </a:t>
            </a:r>
            <a:r>
              <a:rPr lang="it-IT" sz="1800" err="1">
                <a:latin typeface="+mn-lt"/>
              </a:rPr>
              <a:t>W</a:t>
            </a:r>
            <a:r>
              <a:rPr lang="it-IT" sz="1800" baseline="-25000" err="1">
                <a:latin typeface="+mn-lt"/>
              </a:rPr>
              <a:t>ant</a:t>
            </a:r>
            <a:r>
              <a:rPr lang="it-IT" sz="1800" baseline="-25000">
                <a:latin typeface="+mn-lt"/>
              </a:rPr>
              <a:t> </a:t>
            </a:r>
            <a:r>
              <a:rPr lang="it-IT" sz="1800">
                <a:latin typeface="+mn-lt"/>
              </a:rPr>
              <a:t>= </a:t>
            </a:r>
            <a:r>
              <a:rPr lang="it-IT" sz="1800" err="1">
                <a:latin typeface="+mn-lt"/>
              </a:rPr>
              <a:t>Q</a:t>
            </a:r>
            <a:r>
              <a:rPr lang="it-IT" sz="1800" baseline="-25000" err="1">
                <a:latin typeface="+mn-lt"/>
              </a:rPr>
              <a:t>ant</a:t>
            </a:r>
            <a:r>
              <a:rPr lang="it-IT" sz="1800" baseline="-25000">
                <a:latin typeface="+mn-lt"/>
              </a:rPr>
              <a:t> </a:t>
            </a:r>
            <a:r>
              <a:rPr lang="it-IT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*</a:t>
            </a:r>
            <a:r>
              <a:rPr lang="it-IT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T </a:t>
            </a:r>
            <a:endParaRPr lang="it-IT" sz="1800">
              <a:latin typeface="+mn-lt"/>
            </a:endParaRPr>
          </a:p>
          <a:p>
            <a:r>
              <a:rPr lang="it-IT" sz="1800">
                <a:latin typeface="+mn-lt"/>
              </a:rPr>
              <a:t>	</a:t>
            </a:r>
          </a:p>
          <a:p>
            <a:r>
              <a:rPr lang="it-IT" sz="1800">
                <a:latin typeface="+mn-lt"/>
              </a:rPr>
              <a:t>	Abbiamo ricavato </a:t>
            </a:r>
            <a:r>
              <a:rPr lang="it-IT" sz="1800" err="1">
                <a:latin typeface="+mn-lt"/>
              </a:rPr>
              <a:t>Q</a:t>
            </a:r>
            <a:r>
              <a:rPr lang="it-IT" sz="1800" baseline="-25000" err="1">
                <a:latin typeface="+mn-lt"/>
              </a:rPr>
              <a:t>ant</a:t>
            </a:r>
            <a:r>
              <a:rPr lang="it-IT" sz="1800">
                <a:latin typeface="+mn-lt"/>
              </a:rPr>
              <a:t> dalla formula di Conti</a:t>
            </a:r>
          </a:p>
          <a:p>
            <a:r>
              <a:rPr lang="it-IT" sz="1800">
                <a:latin typeface="+mn-lt"/>
              </a:rPr>
              <a:t>	</a:t>
            </a:r>
            <a:r>
              <a:rPr lang="it-IT" sz="1800" err="1">
                <a:latin typeface="+mn-lt"/>
              </a:rPr>
              <a:t>Q</a:t>
            </a:r>
            <a:r>
              <a:rPr lang="it-IT" sz="1800" baseline="-25000" err="1">
                <a:latin typeface="+mn-lt"/>
              </a:rPr>
              <a:t>ant</a:t>
            </a:r>
            <a:r>
              <a:rPr lang="it-IT" sz="1800">
                <a:latin typeface="+mn-lt"/>
              </a:rPr>
              <a:t> = 16,10 l/s</a:t>
            </a:r>
            <a:endParaRPr lang="it-IT" sz="1800" baseline="-25000">
              <a:latin typeface="+mn-lt"/>
            </a:endParaRPr>
          </a:p>
          <a:p>
            <a:r>
              <a:rPr lang="it-IT" sz="1800">
                <a:latin typeface="+mn-lt"/>
              </a:rPr>
              <a:t>	T = 3 h</a:t>
            </a:r>
          </a:p>
          <a:p>
            <a:r>
              <a:rPr lang="it-IT" sz="1800">
                <a:latin typeface="+mn-lt"/>
              </a:rPr>
              <a:t>	</a:t>
            </a:r>
            <a:r>
              <a:rPr lang="it-IT" sz="1800" err="1">
                <a:latin typeface="+mn-lt"/>
              </a:rPr>
              <a:t>W</a:t>
            </a:r>
            <a:r>
              <a:rPr lang="it-IT" sz="1800" baseline="-25000" err="1">
                <a:latin typeface="+mn-lt"/>
              </a:rPr>
              <a:t>ant</a:t>
            </a:r>
            <a:r>
              <a:rPr lang="it-IT" sz="1800" baseline="-25000">
                <a:latin typeface="+mn-lt"/>
              </a:rPr>
              <a:t> </a:t>
            </a:r>
            <a:r>
              <a:rPr lang="it-IT" sz="1800" b="0" i="0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= 173,88 </a:t>
            </a:r>
            <a:r>
              <a:rPr lang="it-IT" sz="1800" strike="noStrike" baseline="0">
                <a:effectLst/>
                <a:latin typeface="+mn-lt"/>
              </a:rPr>
              <a:t>m</a:t>
            </a:r>
            <a:r>
              <a:rPr lang="it-IT" sz="1800" strike="noStrike" baseline="30000">
                <a:effectLst/>
                <a:latin typeface="+mn-lt"/>
              </a:rPr>
              <a:t>3</a:t>
            </a:r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r>
              <a:rPr lang="it-IT" sz="1800">
                <a:latin typeface="+mn-lt"/>
              </a:rPr>
              <a:t>- </a:t>
            </a:r>
            <a:r>
              <a:rPr lang="it-IT" sz="1800" u="sng">
                <a:latin typeface="+mn-lt"/>
              </a:rPr>
              <a:t>Volume di riserva</a:t>
            </a:r>
            <a:r>
              <a:rPr lang="it-IT" sz="1800">
                <a:latin typeface="+mn-lt"/>
              </a:rPr>
              <a:t> </a:t>
            </a:r>
            <a:r>
              <a:rPr lang="it-IT" sz="1800" err="1">
                <a:latin typeface="+mn-lt"/>
              </a:rPr>
              <a:t>W</a:t>
            </a:r>
            <a:r>
              <a:rPr lang="it-IT" sz="1800" baseline="-25000" err="1">
                <a:latin typeface="+mn-lt"/>
              </a:rPr>
              <a:t>ris</a:t>
            </a:r>
            <a:r>
              <a:rPr lang="it-IT" sz="1800">
                <a:latin typeface="+mn-lt"/>
              </a:rPr>
              <a:t> pari al 20% di </a:t>
            </a:r>
            <a:r>
              <a:rPr lang="it-IT" sz="1800" err="1">
                <a:latin typeface="+mn-lt"/>
              </a:rPr>
              <a:t>W</a:t>
            </a:r>
            <a:r>
              <a:rPr lang="it-IT" sz="1800" baseline="-25000" err="1">
                <a:latin typeface="+mn-lt"/>
              </a:rPr>
              <a:t>c</a:t>
            </a:r>
            <a:r>
              <a:rPr lang="it-IT" sz="1800" err="1">
                <a:latin typeface="+mn-lt"/>
              </a:rPr>
              <a:t>+W</a:t>
            </a:r>
            <a:r>
              <a:rPr lang="it-IT" sz="1800" baseline="-25000" err="1">
                <a:latin typeface="+mn-lt"/>
              </a:rPr>
              <a:t>ant</a:t>
            </a:r>
            <a:r>
              <a:rPr lang="it-IT" sz="1800" baseline="-25000">
                <a:latin typeface="+mn-lt"/>
              </a:rPr>
              <a:t>           </a:t>
            </a:r>
            <a:r>
              <a:rPr lang="it-IT" sz="1800" err="1">
                <a:latin typeface="+mn-lt"/>
              </a:rPr>
              <a:t>W</a:t>
            </a:r>
            <a:r>
              <a:rPr lang="it-IT" sz="1800" baseline="-25000" err="1">
                <a:latin typeface="+mn-lt"/>
              </a:rPr>
              <a:t>ris</a:t>
            </a:r>
            <a:r>
              <a:rPr lang="it-IT" sz="1800">
                <a:latin typeface="+mn-lt"/>
              </a:rPr>
              <a:t> = </a:t>
            </a:r>
            <a:r>
              <a:rPr lang="it-IT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175,66 </a:t>
            </a:r>
            <a:r>
              <a:rPr lang="it-IT" sz="1800" u="none" strike="noStrike" baseline="0">
                <a:effectLst/>
                <a:latin typeface="+mn-lt"/>
              </a:rPr>
              <a:t>m</a:t>
            </a:r>
            <a:r>
              <a:rPr lang="it-IT" sz="1800" u="none" strike="noStrike" baseline="30000">
                <a:effectLst/>
                <a:latin typeface="+mn-lt"/>
              </a:rPr>
              <a:t>3 </a:t>
            </a:r>
            <a:endParaRPr lang="it-IT" sz="1800" baseline="-25000">
              <a:latin typeface="+mn-lt"/>
            </a:endParaRPr>
          </a:p>
          <a:p>
            <a:endParaRPr lang="it-IT" sz="1800">
              <a:latin typeface="+mn-lt"/>
            </a:endParaRPr>
          </a:p>
          <a:p>
            <a:r>
              <a:rPr lang="it-IT" sz="1800">
                <a:latin typeface="+mn-lt"/>
              </a:rPr>
              <a:t>La capacità totale del serbatoio è data da    W</a:t>
            </a:r>
            <a:r>
              <a:rPr lang="it-IT" sz="1800" baseline="-25000">
                <a:latin typeface="+mn-lt"/>
              </a:rPr>
              <a:t>c</a:t>
            </a:r>
            <a:r>
              <a:rPr lang="it-IT" sz="1800">
                <a:latin typeface="+mn-lt"/>
              </a:rPr>
              <a:t> + </a:t>
            </a:r>
            <a:r>
              <a:rPr lang="it-IT" sz="1800" err="1">
                <a:latin typeface="+mn-lt"/>
              </a:rPr>
              <a:t>W</a:t>
            </a:r>
            <a:r>
              <a:rPr lang="it-IT" sz="1800" baseline="-25000" err="1">
                <a:latin typeface="+mn-lt"/>
              </a:rPr>
              <a:t>ant</a:t>
            </a:r>
            <a:r>
              <a:rPr lang="it-IT" sz="1800">
                <a:latin typeface="+mn-lt"/>
              </a:rPr>
              <a:t> + </a:t>
            </a:r>
            <a:r>
              <a:rPr lang="it-IT" sz="1800" err="1">
                <a:latin typeface="+mn-lt"/>
              </a:rPr>
              <a:t>W</a:t>
            </a:r>
            <a:r>
              <a:rPr lang="it-IT" sz="1800" baseline="-25000" err="1">
                <a:latin typeface="+mn-lt"/>
              </a:rPr>
              <a:t>ris</a:t>
            </a:r>
            <a:r>
              <a:rPr lang="it-IT" sz="1800">
                <a:latin typeface="+mn-lt"/>
              </a:rPr>
              <a:t> = </a:t>
            </a:r>
            <a:r>
              <a:rPr lang="it-IT" sz="1800" b="0" i="0" u="none" strike="noStrike">
                <a:solidFill>
                  <a:srgbClr val="000000"/>
                </a:solidFill>
                <a:effectLst/>
                <a:latin typeface="+mn-lt"/>
              </a:rPr>
              <a:t>1053,95</a:t>
            </a:r>
            <a:r>
              <a:rPr lang="it-IT" sz="1800">
                <a:latin typeface="+mn-lt"/>
              </a:rPr>
              <a:t> m</a:t>
            </a:r>
            <a:r>
              <a:rPr lang="it-IT" sz="1800" baseline="30000">
                <a:latin typeface="+mn-lt"/>
              </a:rPr>
              <a:t>3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2B44989-79B5-B518-3922-4D9B016FC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124" y="2842490"/>
            <a:ext cx="2232816" cy="43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21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D2E39C-3119-A056-B03C-39338183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RETE DI DISTRIBUZIONE – Dati di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CEE82F-6CBD-2D3D-8641-566DFF85D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95" y="1508671"/>
            <a:ext cx="8470547" cy="4924213"/>
          </a:xfrm>
        </p:spPr>
        <p:txBody>
          <a:bodyPr>
            <a:normAutofit fontScale="92500" lnSpcReduction="10000"/>
          </a:bodyPr>
          <a:lstStyle/>
          <a:p>
            <a:r>
              <a:rPr lang="it-IT" sz="1800">
                <a:latin typeface="+mn-lt"/>
              </a:rPr>
              <a:t>-Portata entrante nel nodo A pari alla portata massima del giorno di massimo consumo</a:t>
            </a:r>
          </a:p>
          <a:p>
            <a:r>
              <a:rPr lang="it-IT" sz="1800">
                <a:latin typeface="+mn-lt"/>
              </a:rPr>
              <a:t> </a:t>
            </a:r>
            <a:r>
              <a:rPr lang="it-IT" sz="1800" err="1">
                <a:latin typeface="+mn-lt"/>
              </a:rPr>
              <a:t>Q</a:t>
            </a:r>
            <a:r>
              <a:rPr lang="it-IT" sz="1800" baseline="-25000" err="1">
                <a:latin typeface="+mn-lt"/>
              </a:rPr>
              <a:t>max</a:t>
            </a:r>
            <a:r>
              <a:rPr lang="it-IT" sz="1800">
                <a:latin typeface="+mn-lt"/>
              </a:rPr>
              <a:t> = </a:t>
            </a:r>
            <a:r>
              <a:rPr lang="it-IT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0,07827</a:t>
            </a:r>
            <a:r>
              <a:rPr lang="it-IT" sz="1800" u="none" strike="noStrike" baseline="0">
                <a:effectLst/>
                <a:latin typeface="+mn-lt"/>
              </a:rPr>
              <a:t> m</a:t>
            </a:r>
            <a:r>
              <a:rPr lang="it-IT" sz="1800" u="none" strike="noStrike" baseline="30000">
                <a:effectLst/>
                <a:latin typeface="+mn-lt"/>
              </a:rPr>
              <a:t>3</a:t>
            </a:r>
            <a:r>
              <a:rPr lang="it-IT" sz="1800" u="none" strike="noStrike" baseline="0">
                <a:effectLst/>
                <a:latin typeface="+mn-lt"/>
              </a:rPr>
              <a:t>/s</a:t>
            </a:r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r>
              <a:rPr lang="it-IT" sz="1800">
                <a:latin typeface="+mn-lt"/>
              </a:rPr>
              <a:t>-Portate uscenti ai nodi (ricavate in funzione di </a:t>
            </a:r>
            <a:r>
              <a:rPr lang="it-IT" sz="1800" err="1">
                <a:latin typeface="+mn-lt"/>
              </a:rPr>
              <a:t>Q</a:t>
            </a:r>
            <a:r>
              <a:rPr lang="it-IT" sz="1800" baseline="-25000" err="1">
                <a:latin typeface="+mn-lt"/>
              </a:rPr>
              <a:t>max</a:t>
            </a:r>
            <a:r>
              <a:rPr lang="it-IT" sz="1800">
                <a:latin typeface="+mn-lt"/>
              </a:rPr>
              <a:t>):</a:t>
            </a:r>
          </a:p>
          <a:p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r>
              <a:rPr lang="it-IT" sz="1800">
                <a:latin typeface="+mn-lt"/>
              </a:rPr>
              <a:t>- Caso antincendio: portata entrante pari al 75%  di </a:t>
            </a:r>
            <a:r>
              <a:rPr lang="it-IT" sz="1800" err="1">
                <a:latin typeface="+mn-lt"/>
              </a:rPr>
              <a:t>Q</a:t>
            </a:r>
            <a:r>
              <a:rPr lang="it-IT" sz="1800" baseline="-25000" err="1">
                <a:latin typeface="+mn-lt"/>
              </a:rPr>
              <a:t>media_giornomax</a:t>
            </a:r>
            <a:r>
              <a:rPr lang="it-IT" sz="1800">
                <a:latin typeface="+mn-lt"/>
              </a:rPr>
              <a:t> più la portata antincendio. La portata antincendio, calcolata con la formula di Conti, risulta uscente solo dal nodo D</a:t>
            </a:r>
          </a:p>
          <a:p>
            <a:endParaRPr lang="it-IT" sz="1800">
              <a:latin typeface="+mn-lt"/>
            </a:endParaRPr>
          </a:p>
          <a:p>
            <a:r>
              <a:rPr lang="it-IT" sz="1800">
                <a:latin typeface="+mn-lt"/>
              </a:rPr>
              <a:t>- Caso di rottura (lato AF): portata entrante nel nodo A pari al 50% di </a:t>
            </a:r>
            <a:r>
              <a:rPr lang="it-IT" sz="1800" err="1">
                <a:latin typeface="+mn-lt"/>
              </a:rPr>
              <a:t>Q</a:t>
            </a:r>
            <a:r>
              <a:rPr lang="it-IT" sz="1800" baseline="-25000" err="1">
                <a:latin typeface="+mn-lt"/>
              </a:rPr>
              <a:t>media_giornomax</a:t>
            </a:r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r>
              <a:rPr lang="it-IT" sz="1800">
                <a:latin typeface="+mn-lt"/>
              </a:rPr>
              <a:t>- Per i due casi sopra indicati la variazione di Q</a:t>
            </a:r>
            <a:r>
              <a:rPr lang="it-IT" sz="1800" baseline="-25000">
                <a:latin typeface="+mn-lt"/>
              </a:rPr>
              <a:t>A</a:t>
            </a:r>
            <a:r>
              <a:rPr lang="it-IT" sz="1800">
                <a:latin typeface="+mn-lt"/>
              </a:rPr>
              <a:t> comporta la variazione delle portate uscenti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F52E23FC-5CFC-E4E9-2D06-AA1A0132F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882115"/>
              </p:ext>
            </p:extLst>
          </p:nvPr>
        </p:nvGraphicFramePr>
        <p:xfrm>
          <a:off x="1344751" y="2810757"/>
          <a:ext cx="2407623" cy="1236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6741">
                  <a:extLst>
                    <a:ext uri="{9D8B030D-6E8A-4147-A177-3AD203B41FA5}">
                      <a16:colId xmlns:a16="http://schemas.microsoft.com/office/drawing/2014/main" val="1964702988"/>
                    </a:ext>
                  </a:extLst>
                </a:gridCol>
                <a:gridCol w="704414">
                  <a:extLst>
                    <a:ext uri="{9D8B030D-6E8A-4147-A177-3AD203B41FA5}">
                      <a16:colId xmlns:a16="http://schemas.microsoft.com/office/drawing/2014/main" val="3968248929"/>
                    </a:ext>
                  </a:extLst>
                </a:gridCol>
                <a:gridCol w="746468">
                  <a:extLst>
                    <a:ext uri="{9D8B030D-6E8A-4147-A177-3AD203B41FA5}">
                      <a16:colId xmlns:a16="http://schemas.microsoft.com/office/drawing/2014/main" val="3891874072"/>
                    </a:ext>
                  </a:extLst>
                </a:gridCol>
              </a:tblGrid>
              <a:tr h="24729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Q_B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0,003913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300" u="none" strike="noStrike" baseline="0">
                          <a:effectLst/>
                          <a:latin typeface="+mn-lt"/>
                        </a:rPr>
                        <a:t>[m</a:t>
                      </a:r>
                      <a:r>
                        <a:rPr lang="it-IT" sz="1300" u="none" strike="noStrike" baseline="30000">
                          <a:effectLst/>
                          <a:latin typeface="+mn-lt"/>
                        </a:rPr>
                        <a:t>3</a:t>
                      </a:r>
                      <a:r>
                        <a:rPr lang="it-IT" sz="1300" u="none" strike="noStrike" baseline="0">
                          <a:effectLst/>
                          <a:latin typeface="+mn-lt"/>
                        </a:rPr>
                        <a:t>/s]</a:t>
                      </a:r>
                      <a:endParaRPr lang="it-IT" sz="1300">
                        <a:latin typeface="+mn-lt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229950"/>
                  </a:ext>
                </a:extLst>
              </a:tr>
              <a:tr h="24729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Q_C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0,006262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300" u="none" strike="noStrike" baseline="0">
                          <a:effectLst/>
                          <a:latin typeface="+mn-lt"/>
                        </a:rPr>
                        <a:t>[m</a:t>
                      </a:r>
                      <a:r>
                        <a:rPr lang="it-IT" sz="1300" u="none" strike="noStrike" baseline="30000">
                          <a:effectLst/>
                          <a:latin typeface="+mn-lt"/>
                        </a:rPr>
                        <a:t>3</a:t>
                      </a:r>
                      <a:r>
                        <a:rPr lang="it-IT" sz="1300" u="none" strike="noStrike" baseline="0">
                          <a:effectLst/>
                          <a:latin typeface="+mn-lt"/>
                        </a:rPr>
                        <a:t>/s]</a:t>
                      </a:r>
                      <a:endParaRPr lang="it-IT" sz="1300">
                        <a:latin typeface="+mn-lt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04558"/>
                  </a:ext>
                </a:extLst>
              </a:tr>
              <a:tr h="24729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Q_D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0,054788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300" u="none" strike="noStrike" baseline="0">
                          <a:effectLst/>
                          <a:latin typeface="+mn-lt"/>
                        </a:rPr>
                        <a:t>[m</a:t>
                      </a:r>
                      <a:r>
                        <a:rPr lang="it-IT" sz="1300" u="none" strike="noStrike" baseline="30000">
                          <a:effectLst/>
                          <a:latin typeface="+mn-lt"/>
                        </a:rPr>
                        <a:t>3</a:t>
                      </a:r>
                      <a:r>
                        <a:rPr lang="it-IT" sz="1300" u="none" strike="noStrike" baseline="0">
                          <a:effectLst/>
                          <a:latin typeface="+mn-lt"/>
                        </a:rPr>
                        <a:t>/s]</a:t>
                      </a:r>
                      <a:endParaRPr lang="it-IT" sz="1300">
                        <a:latin typeface="+mn-lt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449947"/>
                  </a:ext>
                </a:extLst>
              </a:tr>
              <a:tr h="24729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Q_E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0,007827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300" u="none" strike="noStrike" baseline="0">
                          <a:effectLst/>
                          <a:latin typeface="+mn-lt"/>
                        </a:rPr>
                        <a:t>[m</a:t>
                      </a:r>
                      <a:r>
                        <a:rPr lang="it-IT" sz="1300" u="none" strike="noStrike" baseline="30000">
                          <a:effectLst/>
                          <a:latin typeface="+mn-lt"/>
                        </a:rPr>
                        <a:t>3</a:t>
                      </a:r>
                      <a:r>
                        <a:rPr lang="it-IT" sz="1300" u="none" strike="noStrike" baseline="0">
                          <a:effectLst/>
                          <a:latin typeface="+mn-lt"/>
                        </a:rPr>
                        <a:t>/s]</a:t>
                      </a:r>
                      <a:endParaRPr lang="it-IT" sz="1300">
                        <a:latin typeface="+mn-lt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134581"/>
                  </a:ext>
                </a:extLst>
              </a:tr>
              <a:tr h="24729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Q_F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0,005479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300" u="none" strike="noStrike" baseline="0">
                          <a:effectLst/>
                          <a:latin typeface="+mn-lt"/>
                        </a:rPr>
                        <a:t>[m</a:t>
                      </a:r>
                      <a:r>
                        <a:rPr lang="it-IT" sz="1300" u="none" strike="noStrike" baseline="30000">
                          <a:effectLst/>
                          <a:latin typeface="+mn-lt"/>
                        </a:rPr>
                        <a:t>3</a:t>
                      </a:r>
                      <a:r>
                        <a:rPr lang="it-IT" sz="1300" u="none" strike="noStrike" baseline="0">
                          <a:effectLst/>
                          <a:latin typeface="+mn-lt"/>
                        </a:rPr>
                        <a:t>/s]</a:t>
                      </a:r>
                      <a:endParaRPr lang="it-IT" sz="1300">
                        <a:latin typeface="+mn-lt"/>
                      </a:endParaRPr>
                    </a:p>
                  </a:txBody>
                  <a:tcPr marL="5205" marR="5205" marT="692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265546"/>
                  </a:ext>
                </a:extLst>
              </a:tr>
            </a:tbl>
          </a:graphicData>
        </a:graphic>
      </p:graphicFrame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B539BA9-A712-3FB1-374B-F11375BFD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618" y="1982269"/>
            <a:ext cx="2541468" cy="26241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16228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D7CDB9-78C0-981B-A785-51D7163B6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RETE DI DISTRIBUZIONE - Schema 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D582803-9C5A-5172-3008-798796AEE6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95" t="-1731" r="-2783" b="-2597"/>
          <a:stretch/>
        </p:blipFill>
        <p:spPr>
          <a:xfrm>
            <a:off x="697850" y="1638226"/>
            <a:ext cx="3641520" cy="3998641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E265932-A16F-C4AF-6427-4837C1114312}"/>
              </a:ext>
            </a:extLst>
          </p:cNvPr>
          <p:cNvSpPr txBox="1"/>
          <p:nvPr/>
        </p:nvSpPr>
        <p:spPr>
          <a:xfrm>
            <a:off x="5261810" y="1515701"/>
            <a:ext cx="6200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Per il predimensionamento della rete di distribuzione abbiamo ipotizzato un verso per ogni portata circolante e un valore di portata di primo tentativo per ciascuna delle tre maglie: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8926035E-6B83-513A-86EF-6C00C0FBB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739901"/>
              </p:ext>
            </p:extLst>
          </p:nvPr>
        </p:nvGraphicFramePr>
        <p:xfrm>
          <a:off x="6772943" y="2670903"/>
          <a:ext cx="2461953" cy="7653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769">
                  <a:extLst>
                    <a:ext uri="{9D8B030D-6E8A-4147-A177-3AD203B41FA5}">
                      <a16:colId xmlns:a16="http://schemas.microsoft.com/office/drawing/2014/main" val="1239975660"/>
                    </a:ext>
                  </a:extLst>
                </a:gridCol>
                <a:gridCol w="726017">
                  <a:extLst>
                    <a:ext uri="{9D8B030D-6E8A-4147-A177-3AD203B41FA5}">
                      <a16:colId xmlns:a16="http://schemas.microsoft.com/office/drawing/2014/main" val="862421653"/>
                    </a:ext>
                  </a:extLst>
                </a:gridCol>
                <a:gridCol w="1037167">
                  <a:extLst>
                    <a:ext uri="{9D8B030D-6E8A-4147-A177-3AD203B41FA5}">
                      <a16:colId xmlns:a16="http://schemas.microsoft.com/office/drawing/2014/main" val="998665487"/>
                    </a:ext>
                  </a:extLst>
                </a:gridCol>
              </a:tblGrid>
              <a:tr h="25857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</a:rPr>
                        <a:t>q_af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20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[L/s]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579153"/>
                  </a:ext>
                </a:extLst>
              </a:tr>
              <a:tr h="25857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</a:rPr>
                        <a:t>q_fe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20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[L/s]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170385"/>
                  </a:ext>
                </a:extLst>
              </a:tr>
              <a:tr h="24823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q_ed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20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[L/s]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106067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A64D92BA-513A-02E3-FBCF-877F1CDAB85A}"/>
              </a:ext>
            </a:extLst>
          </p:cNvPr>
          <p:cNvSpPr txBox="1"/>
          <p:nvPr/>
        </p:nvSpPr>
        <p:spPr>
          <a:xfrm>
            <a:off x="5245770" y="3708434"/>
            <a:ext cx="6352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>
                <a:latin typeface="+mn-lt"/>
              </a:rPr>
              <a:t>Le restanti portate circolanti di primo tentativo sono state ricavate dalle equazioni di continuità ai nodi:</a:t>
            </a:r>
          </a:p>
          <a:p>
            <a:endParaRPr lang="it-IT" sz="1800">
              <a:latin typeface="+mn-lt"/>
            </a:endParaRP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99C79C83-74F2-1AC9-0D19-435E9CC03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795670"/>
              </p:ext>
            </p:extLst>
          </p:nvPr>
        </p:nvGraphicFramePr>
        <p:xfrm>
          <a:off x="5684053" y="4631764"/>
          <a:ext cx="4639734" cy="11760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7823">
                  <a:extLst>
                    <a:ext uri="{9D8B030D-6E8A-4147-A177-3AD203B41FA5}">
                      <a16:colId xmlns:a16="http://schemas.microsoft.com/office/drawing/2014/main" val="854176365"/>
                    </a:ext>
                  </a:extLst>
                </a:gridCol>
                <a:gridCol w="757823">
                  <a:extLst>
                    <a:ext uri="{9D8B030D-6E8A-4147-A177-3AD203B41FA5}">
                      <a16:colId xmlns:a16="http://schemas.microsoft.com/office/drawing/2014/main" val="1962912321"/>
                    </a:ext>
                  </a:extLst>
                </a:gridCol>
                <a:gridCol w="1082605">
                  <a:extLst>
                    <a:ext uri="{9D8B030D-6E8A-4147-A177-3AD203B41FA5}">
                      <a16:colId xmlns:a16="http://schemas.microsoft.com/office/drawing/2014/main" val="2349061511"/>
                    </a:ext>
                  </a:extLst>
                </a:gridCol>
                <a:gridCol w="2041483">
                  <a:extLst>
                    <a:ext uri="{9D8B030D-6E8A-4147-A177-3AD203B41FA5}">
                      <a16:colId xmlns:a16="http://schemas.microsoft.com/office/drawing/2014/main" val="4002464416"/>
                    </a:ext>
                  </a:extLst>
                </a:gridCol>
              </a:tblGrid>
              <a:tr h="23876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</a:rPr>
                        <a:t>q_ab</a:t>
                      </a:r>
                      <a:endParaRPr lang="it-IT" sz="1400" u="none" strike="noStrike">
                        <a:effectLst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-55,269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[L/s]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(</a:t>
                      </a:r>
                      <a:r>
                        <a:rPr lang="it-IT" sz="1400" u="none" strike="noStrike" err="1">
                          <a:effectLst/>
                        </a:rPr>
                        <a:t>eq</a:t>
                      </a:r>
                      <a:r>
                        <a:rPr lang="it-IT" sz="1400" u="none" strike="noStrike">
                          <a:effectLst/>
                        </a:rPr>
                        <a:t> di continuità nodo A)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439462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q_fb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-5,479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[L/s]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(</a:t>
                      </a:r>
                      <a:r>
                        <a:rPr lang="it-IT" sz="1400" u="none" strike="noStrike" err="1">
                          <a:effectLst/>
                        </a:rPr>
                        <a:t>eq</a:t>
                      </a:r>
                      <a:r>
                        <a:rPr lang="it-IT" sz="1400" u="none" strike="noStrike">
                          <a:effectLst/>
                        </a:rPr>
                        <a:t> di continuità nodo F)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813085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</a:rPr>
                        <a:t>q_ec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-7,827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[L/s]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(</a:t>
                      </a:r>
                      <a:r>
                        <a:rPr lang="it-IT" sz="1400" u="none" strike="noStrike" err="1">
                          <a:effectLst/>
                        </a:rPr>
                        <a:t>eq</a:t>
                      </a:r>
                      <a:r>
                        <a:rPr lang="it-IT" sz="1400" u="none" strike="noStrike">
                          <a:effectLst/>
                        </a:rPr>
                        <a:t> di continuità nodo E)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700630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</a:rPr>
                        <a:t>q_cb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-48,877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[L/s]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(</a:t>
                      </a:r>
                      <a:r>
                        <a:rPr lang="it-IT" sz="1400" u="none" strike="noStrike" err="1">
                          <a:effectLst/>
                        </a:rPr>
                        <a:t>eq</a:t>
                      </a:r>
                      <a:r>
                        <a:rPr lang="it-IT" sz="1400" u="none" strike="noStrike">
                          <a:effectLst/>
                        </a:rPr>
                        <a:t> di continuità nodo B)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17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q_dc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-34,788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[L/s]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(</a:t>
                      </a:r>
                      <a:r>
                        <a:rPr lang="it-IT" sz="1400" u="none" strike="noStrike" err="1">
                          <a:effectLst/>
                        </a:rPr>
                        <a:t>eq</a:t>
                      </a:r>
                      <a:r>
                        <a:rPr lang="it-IT" sz="1400" u="none" strike="noStrike">
                          <a:effectLst/>
                        </a:rPr>
                        <a:t> di continuità nodo C)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0774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put penna 3">
                <a:extLst>
                  <a:ext uri="{FF2B5EF4-FFF2-40B4-BE49-F238E27FC236}">
                    <a16:creationId xmlns:a16="http://schemas.microsoft.com/office/drawing/2014/main" id="{B4172019-9A50-BDFE-91BC-146A9842A922}"/>
                  </a:ext>
                </a:extLst>
              </p14:cNvPr>
              <p14:cNvContentPartPr/>
              <p14:nvPr/>
            </p14:nvContentPartPr>
            <p14:xfrm>
              <a:off x="1370187" y="2754147"/>
              <a:ext cx="102600" cy="152280"/>
            </p14:xfrm>
          </p:contentPart>
        </mc:Choice>
        <mc:Fallback xmlns="">
          <p:pic>
            <p:nvPicPr>
              <p:cNvPr id="4" name="Input penna 3">
                <a:extLst>
                  <a:ext uri="{FF2B5EF4-FFF2-40B4-BE49-F238E27FC236}">
                    <a16:creationId xmlns:a16="http://schemas.microsoft.com/office/drawing/2014/main" id="{B4172019-9A50-BDFE-91BC-146A9842A9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4067" y="2748027"/>
                <a:ext cx="1148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put penna 4">
                <a:extLst>
                  <a:ext uri="{FF2B5EF4-FFF2-40B4-BE49-F238E27FC236}">
                    <a16:creationId xmlns:a16="http://schemas.microsoft.com/office/drawing/2014/main" id="{DD873193-6BF0-843C-BDB2-E634612ACBA0}"/>
                  </a:ext>
                </a:extLst>
              </p14:cNvPr>
              <p14:cNvContentPartPr/>
              <p14:nvPr/>
            </p14:nvContentPartPr>
            <p14:xfrm>
              <a:off x="1406520" y="2776440"/>
              <a:ext cx="82080" cy="213480"/>
            </p14:xfrm>
          </p:contentPart>
        </mc:Choice>
        <mc:Fallback xmlns="">
          <p:pic>
            <p:nvPicPr>
              <p:cNvPr id="5" name="Input penna 4">
                <a:extLst>
                  <a:ext uri="{FF2B5EF4-FFF2-40B4-BE49-F238E27FC236}">
                    <a16:creationId xmlns:a16="http://schemas.microsoft.com/office/drawing/2014/main" id="{DD873193-6BF0-843C-BDB2-E634612ACB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00400" y="2770330"/>
                <a:ext cx="94320" cy="225699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uppo 16">
            <a:extLst>
              <a:ext uri="{FF2B5EF4-FFF2-40B4-BE49-F238E27FC236}">
                <a16:creationId xmlns:a16="http://schemas.microsoft.com/office/drawing/2014/main" id="{D74301F1-A1ED-D568-F69C-612D0FEA09E4}"/>
              </a:ext>
            </a:extLst>
          </p:cNvPr>
          <p:cNvGrpSpPr/>
          <p:nvPr/>
        </p:nvGrpSpPr>
        <p:grpSpPr>
          <a:xfrm>
            <a:off x="1336680" y="2287560"/>
            <a:ext cx="710280" cy="647640"/>
            <a:chOff x="1336680" y="2287560"/>
            <a:chExt cx="710280" cy="64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put penna 11">
                  <a:extLst>
                    <a:ext uri="{FF2B5EF4-FFF2-40B4-BE49-F238E27FC236}">
                      <a16:creationId xmlns:a16="http://schemas.microsoft.com/office/drawing/2014/main" id="{673D7B72-A7BA-8C0D-DC62-C84F67FDAE9A}"/>
                    </a:ext>
                  </a:extLst>
                </p14:cNvPr>
                <p14:cNvContentPartPr/>
                <p14:nvPr/>
              </p14:nvContentPartPr>
              <p14:xfrm>
                <a:off x="1336680" y="2287560"/>
                <a:ext cx="710280" cy="647640"/>
              </p14:xfrm>
            </p:contentPart>
          </mc:Choice>
          <mc:Fallback xmlns="">
            <p:pic>
              <p:nvPicPr>
                <p:cNvPr id="12" name="Input penna 11">
                  <a:extLst>
                    <a:ext uri="{FF2B5EF4-FFF2-40B4-BE49-F238E27FC236}">
                      <a16:creationId xmlns:a16="http://schemas.microsoft.com/office/drawing/2014/main" id="{673D7B72-A7BA-8C0D-DC62-C84F67FDAE9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18689" y="2269560"/>
                  <a:ext cx="745902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put penna 12">
                  <a:extLst>
                    <a:ext uri="{FF2B5EF4-FFF2-40B4-BE49-F238E27FC236}">
                      <a16:creationId xmlns:a16="http://schemas.microsoft.com/office/drawing/2014/main" id="{1DDD66B1-33E5-0E48-7C29-F70034E88D38}"/>
                    </a:ext>
                  </a:extLst>
                </p14:cNvPr>
                <p14:cNvContentPartPr/>
                <p14:nvPr/>
              </p14:nvContentPartPr>
              <p14:xfrm>
                <a:off x="1483200" y="2895240"/>
                <a:ext cx="360" cy="2160"/>
              </p14:xfrm>
            </p:contentPart>
          </mc:Choice>
          <mc:Fallback xmlns="">
            <p:pic>
              <p:nvPicPr>
                <p:cNvPr id="13" name="Input penna 12">
                  <a:extLst>
                    <a:ext uri="{FF2B5EF4-FFF2-40B4-BE49-F238E27FC236}">
                      <a16:creationId xmlns:a16="http://schemas.microsoft.com/office/drawing/2014/main" id="{1DDD66B1-33E5-0E48-7C29-F70034E88D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65200" y="2877240"/>
                  <a:ext cx="36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put penna 13">
                  <a:extLst>
                    <a:ext uri="{FF2B5EF4-FFF2-40B4-BE49-F238E27FC236}">
                      <a16:creationId xmlns:a16="http://schemas.microsoft.com/office/drawing/2014/main" id="{869AE0A4-1B2E-D940-8FB3-E63B6644FFC7}"/>
                    </a:ext>
                  </a:extLst>
                </p14:cNvPr>
                <p14:cNvContentPartPr/>
                <p14:nvPr/>
              </p14:nvContentPartPr>
              <p14:xfrm>
                <a:off x="1477440" y="2800920"/>
                <a:ext cx="37440" cy="104760"/>
              </p14:xfrm>
            </p:contentPart>
          </mc:Choice>
          <mc:Fallback xmlns="">
            <p:pic>
              <p:nvPicPr>
                <p:cNvPr id="14" name="Input penna 13">
                  <a:extLst>
                    <a:ext uri="{FF2B5EF4-FFF2-40B4-BE49-F238E27FC236}">
                      <a16:creationId xmlns:a16="http://schemas.microsoft.com/office/drawing/2014/main" id="{869AE0A4-1B2E-D940-8FB3-E63B6644FFC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59440" y="2782920"/>
                  <a:ext cx="73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put penna 15">
                  <a:extLst>
                    <a:ext uri="{FF2B5EF4-FFF2-40B4-BE49-F238E27FC236}">
                      <a16:creationId xmlns:a16="http://schemas.microsoft.com/office/drawing/2014/main" id="{FD93C531-C93F-61CB-14E2-E626AB4DA23D}"/>
                    </a:ext>
                  </a:extLst>
                </p14:cNvPr>
                <p14:cNvContentPartPr/>
                <p14:nvPr/>
              </p14:nvContentPartPr>
              <p14:xfrm>
                <a:off x="1523520" y="2880120"/>
                <a:ext cx="360" cy="360"/>
              </p14:xfrm>
            </p:contentPart>
          </mc:Choice>
          <mc:Fallback xmlns="">
            <p:pic>
              <p:nvPicPr>
                <p:cNvPr id="16" name="Input penna 15">
                  <a:extLst>
                    <a:ext uri="{FF2B5EF4-FFF2-40B4-BE49-F238E27FC236}">
                      <a16:creationId xmlns:a16="http://schemas.microsoft.com/office/drawing/2014/main" id="{FD93C531-C93F-61CB-14E2-E626AB4DA23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05520" y="286212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E2334DE8-14CB-0E1B-7CD4-9DB45C0FD97D}"/>
              </a:ext>
            </a:extLst>
          </p:cNvPr>
          <p:cNvGrpSpPr/>
          <p:nvPr/>
        </p:nvGrpSpPr>
        <p:grpSpPr>
          <a:xfrm>
            <a:off x="1476720" y="2291280"/>
            <a:ext cx="524520" cy="630000"/>
            <a:chOff x="1476720" y="2291280"/>
            <a:chExt cx="524520" cy="63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put penna 18">
                  <a:extLst>
                    <a:ext uri="{FF2B5EF4-FFF2-40B4-BE49-F238E27FC236}">
                      <a16:creationId xmlns:a16="http://schemas.microsoft.com/office/drawing/2014/main" id="{C1C55694-D0FA-9761-0EB2-88894A049F88}"/>
                    </a:ext>
                  </a:extLst>
                </p14:cNvPr>
                <p14:cNvContentPartPr/>
                <p14:nvPr/>
              </p14:nvContentPartPr>
              <p14:xfrm>
                <a:off x="1476720" y="2291280"/>
                <a:ext cx="524520" cy="630000"/>
              </p14:xfrm>
            </p:contentPart>
          </mc:Choice>
          <mc:Fallback xmlns="">
            <p:pic>
              <p:nvPicPr>
                <p:cNvPr id="19" name="Input penna 18">
                  <a:extLst>
                    <a:ext uri="{FF2B5EF4-FFF2-40B4-BE49-F238E27FC236}">
                      <a16:creationId xmlns:a16="http://schemas.microsoft.com/office/drawing/2014/main" id="{C1C55694-D0FA-9761-0EB2-88894A049F8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70600" y="2285160"/>
                  <a:ext cx="53676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put penna 19">
                  <a:extLst>
                    <a:ext uri="{FF2B5EF4-FFF2-40B4-BE49-F238E27FC236}">
                      <a16:creationId xmlns:a16="http://schemas.microsoft.com/office/drawing/2014/main" id="{84E850B7-C281-F785-2EF6-D6E45D87417C}"/>
                    </a:ext>
                  </a:extLst>
                </p14:cNvPr>
                <p14:cNvContentPartPr/>
                <p14:nvPr/>
              </p14:nvContentPartPr>
              <p14:xfrm>
                <a:off x="1864080" y="2294880"/>
                <a:ext cx="122760" cy="128520"/>
              </p14:xfrm>
            </p:contentPart>
          </mc:Choice>
          <mc:Fallback xmlns="">
            <p:pic>
              <p:nvPicPr>
                <p:cNvPr id="20" name="Input penna 19">
                  <a:extLst>
                    <a:ext uri="{FF2B5EF4-FFF2-40B4-BE49-F238E27FC236}">
                      <a16:creationId xmlns:a16="http://schemas.microsoft.com/office/drawing/2014/main" id="{84E850B7-C281-F785-2EF6-D6E45D87417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57960" y="2288760"/>
                  <a:ext cx="13500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put penna 21">
                <a:extLst>
                  <a:ext uri="{FF2B5EF4-FFF2-40B4-BE49-F238E27FC236}">
                    <a16:creationId xmlns:a16="http://schemas.microsoft.com/office/drawing/2014/main" id="{33EA7B58-8C62-2161-2D1B-48484E77BFEB}"/>
                  </a:ext>
                </a:extLst>
              </p14:cNvPr>
              <p14:cNvContentPartPr/>
              <p14:nvPr/>
            </p14:nvContentPartPr>
            <p14:xfrm>
              <a:off x="9940265" y="4737709"/>
              <a:ext cx="360" cy="360"/>
            </p14:xfrm>
          </p:contentPart>
        </mc:Choice>
        <mc:Fallback xmlns="">
          <p:pic>
            <p:nvPicPr>
              <p:cNvPr id="22" name="Input penna 21">
                <a:extLst>
                  <a:ext uri="{FF2B5EF4-FFF2-40B4-BE49-F238E27FC236}">
                    <a16:creationId xmlns:a16="http://schemas.microsoft.com/office/drawing/2014/main" id="{33EA7B58-8C62-2161-2D1B-48484E77BFE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934145" y="473158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0704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7E7592-0F3B-F3EC-55E7-B4077539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RETE DI DISTRIBUZIONE - Predimensionamento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AD338C-8004-855D-6A85-77EAD28D8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072" y="1741219"/>
            <a:ext cx="5871854" cy="998620"/>
          </a:xfrm>
        </p:spPr>
        <p:txBody>
          <a:bodyPr>
            <a:normAutofit/>
          </a:bodyPr>
          <a:lstStyle/>
          <a:p>
            <a:r>
              <a:rPr lang="it-IT" sz="1800">
                <a:latin typeface="+mn-lt"/>
              </a:rPr>
              <a:t>Nota la distribuzione delle portate circolanti ipotizzate, abbiamo ricavato i diametri teorici di primo tentativo per ciascun lato della rete imponendo una velocità di 1 m/s</a:t>
            </a:r>
          </a:p>
          <a:p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B21A3BDC-9D33-5AAE-C3E6-062C2FC9B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083588"/>
              </p:ext>
            </p:extLst>
          </p:nvPr>
        </p:nvGraphicFramePr>
        <p:xfrm>
          <a:off x="8881223" y="3424989"/>
          <a:ext cx="2733705" cy="23326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4903">
                  <a:extLst>
                    <a:ext uri="{9D8B030D-6E8A-4147-A177-3AD203B41FA5}">
                      <a16:colId xmlns:a16="http://schemas.microsoft.com/office/drawing/2014/main" val="676943593"/>
                    </a:ext>
                  </a:extLst>
                </a:gridCol>
                <a:gridCol w="1388936">
                  <a:extLst>
                    <a:ext uri="{9D8B030D-6E8A-4147-A177-3AD203B41FA5}">
                      <a16:colId xmlns:a16="http://schemas.microsoft.com/office/drawing/2014/main" val="579531149"/>
                    </a:ext>
                  </a:extLst>
                </a:gridCol>
                <a:gridCol w="459866">
                  <a:extLst>
                    <a:ext uri="{9D8B030D-6E8A-4147-A177-3AD203B41FA5}">
                      <a16:colId xmlns:a16="http://schemas.microsoft.com/office/drawing/2014/main" val="4041109742"/>
                    </a:ext>
                  </a:extLst>
                </a:gridCol>
              </a:tblGrid>
              <a:tr h="34385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TRATTO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DIAMETRI COMM.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147488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AB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0,250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106736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AF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0,250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142069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FB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0,200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712376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FE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0,300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228809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CB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0,125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120747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EC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0,250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289133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ED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0,175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431853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0,250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97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Serb_F - 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0,350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[m]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359"/>
                  </a:ext>
                </a:extLst>
              </a:tr>
            </a:tbl>
          </a:graphicData>
        </a:graphic>
      </p:graphicFrame>
      <p:pic>
        <p:nvPicPr>
          <p:cNvPr id="10" name="Immagine 9">
            <a:extLst>
              <a:ext uri="{FF2B5EF4-FFF2-40B4-BE49-F238E27FC236}">
                <a16:creationId xmlns:a16="http://schemas.microsoft.com/office/drawing/2014/main" id="{0E4765DA-15C6-E26E-2F43-524F10CD1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624" y="1886112"/>
            <a:ext cx="2188268" cy="716581"/>
          </a:xfrm>
          <a:prstGeom prst="rect">
            <a:avLst/>
          </a:prstGeom>
        </p:spPr>
      </p:pic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64A3DE14-B8A5-D06A-4738-95097CD32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756715"/>
              </p:ext>
            </p:extLst>
          </p:nvPr>
        </p:nvGraphicFramePr>
        <p:xfrm>
          <a:off x="4998590" y="3407844"/>
          <a:ext cx="2733705" cy="23498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4903">
                  <a:extLst>
                    <a:ext uri="{9D8B030D-6E8A-4147-A177-3AD203B41FA5}">
                      <a16:colId xmlns:a16="http://schemas.microsoft.com/office/drawing/2014/main" val="676943593"/>
                    </a:ext>
                  </a:extLst>
                </a:gridCol>
                <a:gridCol w="1396957">
                  <a:extLst>
                    <a:ext uri="{9D8B030D-6E8A-4147-A177-3AD203B41FA5}">
                      <a16:colId xmlns:a16="http://schemas.microsoft.com/office/drawing/2014/main" val="579531149"/>
                    </a:ext>
                  </a:extLst>
                </a:gridCol>
                <a:gridCol w="451845">
                  <a:extLst>
                    <a:ext uri="{9D8B030D-6E8A-4147-A177-3AD203B41FA5}">
                      <a16:colId xmlns:a16="http://schemas.microsoft.com/office/drawing/2014/main" val="4041109742"/>
                    </a:ext>
                  </a:extLst>
                </a:gridCol>
              </a:tblGrid>
              <a:tr h="34385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TRATTO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DIAMETRI TEO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147488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AB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0,272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106736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AF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0,160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142069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FB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712376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FE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0,160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228809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CB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120747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EC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289133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ED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0,160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431853"/>
                  </a:ext>
                </a:extLst>
              </a:tr>
              <a:tr h="220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97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Serb_F</a:t>
                      </a:r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- 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[m]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359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454F934B-A204-0FB0-0920-7DD69A0B86B7}"/>
              </a:ext>
            </a:extLst>
          </p:cNvPr>
          <p:cNvSpPr txBox="1"/>
          <p:nvPr/>
        </p:nvSpPr>
        <p:spPr>
          <a:xfrm>
            <a:off x="577072" y="3844091"/>
            <a:ext cx="35134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Approssimando in eccesso ciascun valore ottenuto per i diametri teorici al diametro commerciale più vicino abbiamo ottenuto i valori di seguito riportati:</a:t>
            </a:r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7D29DE4A-C6C2-3A87-BA45-A67E89B3066F}"/>
              </a:ext>
            </a:extLst>
          </p:cNvPr>
          <p:cNvSpPr/>
          <p:nvPr/>
        </p:nvSpPr>
        <p:spPr>
          <a:xfrm>
            <a:off x="8019165" y="4377475"/>
            <a:ext cx="575187" cy="4277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1044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A2B095-EC6B-F031-C2A7-492D3687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RETE DI DISTRIBUZIONE – Portata massima del giorno di massimo consumo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703AB0-8919-C95A-428E-D5F0CB46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1800">
                <a:latin typeface="+mn-lt"/>
              </a:rPr>
              <a:t>- Applicando il metodo di Hardy-Cross abbiamo ricavato le portate realmente circolanti</a:t>
            </a:r>
          </a:p>
          <a:p>
            <a:r>
              <a:rPr lang="it-IT" sz="1800">
                <a:latin typeface="+mn-lt"/>
              </a:rPr>
              <a:t>nei rami, Il processo è stato iterato 12 volte, fino ad ottenere un errore &lt; 10</a:t>
            </a:r>
            <a:r>
              <a:rPr lang="it-IT" sz="1800" baseline="30000">
                <a:latin typeface="+mn-lt"/>
              </a:rPr>
              <a:t>-8</a:t>
            </a:r>
            <a:r>
              <a:rPr lang="it-IT" sz="1800">
                <a:latin typeface="+mn-lt"/>
              </a:rPr>
              <a:t>:</a:t>
            </a:r>
          </a:p>
          <a:p>
            <a:endParaRPr lang="it-IT" sz="1800">
              <a:latin typeface="+mn-lt"/>
            </a:endParaRPr>
          </a:p>
          <a:p>
            <a:r>
              <a:rPr lang="it-IT" sz="1800">
                <a:latin typeface="+mn-lt"/>
              </a:rPr>
              <a:t>- Abbiamo ricavato i carichi H ai nodi tramite le equazioni del moto e da essi</a:t>
            </a:r>
          </a:p>
          <a:p>
            <a:r>
              <a:rPr lang="it-IT" sz="1800">
                <a:latin typeface="+mn-lt"/>
              </a:rPr>
              <a:t>eseguito la verifiche in condizioni di Q massima sul carico piezometrico e sulle velocità: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FB0AD20-53D1-DA88-301F-79AC3379B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061592"/>
              </p:ext>
            </p:extLst>
          </p:nvPr>
        </p:nvGraphicFramePr>
        <p:xfrm>
          <a:off x="1089228" y="4141713"/>
          <a:ext cx="3709386" cy="16801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5413">
                  <a:extLst>
                    <a:ext uri="{9D8B030D-6E8A-4147-A177-3AD203B41FA5}">
                      <a16:colId xmlns:a16="http://schemas.microsoft.com/office/drawing/2014/main" val="2159204216"/>
                    </a:ext>
                  </a:extLst>
                </a:gridCol>
                <a:gridCol w="840934">
                  <a:extLst>
                    <a:ext uri="{9D8B030D-6E8A-4147-A177-3AD203B41FA5}">
                      <a16:colId xmlns:a16="http://schemas.microsoft.com/office/drawing/2014/main" val="2951997803"/>
                    </a:ext>
                  </a:extLst>
                </a:gridCol>
                <a:gridCol w="871406">
                  <a:extLst>
                    <a:ext uri="{9D8B030D-6E8A-4147-A177-3AD203B41FA5}">
                      <a16:colId xmlns:a16="http://schemas.microsoft.com/office/drawing/2014/main" val="2263818491"/>
                    </a:ext>
                  </a:extLst>
                </a:gridCol>
                <a:gridCol w="1321633">
                  <a:extLst>
                    <a:ext uri="{9D8B030D-6E8A-4147-A177-3AD203B41FA5}">
                      <a16:colId xmlns:a16="http://schemas.microsoft.com/office/drawing/2014/main" val="2000463928"/>
                    </a:ext>
                  </a:extLst>
                </a:gridCol>
              </a:tblGrid>
              <a:tr h="24002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NODO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Z [m]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H [m]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Hi - Zi [m]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535596"/>
                  </a:ext>
                </a:extLst>
              </a:tr>
              <a:tr h="24002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A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654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681,629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27,629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732568"/>
                  </a:ext>
                </a:extLst>
              </a:tr>
              <a:tr h="24002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B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647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680,508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33,508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59693"/>
                  </a:ext>
                </a:extLst>
              </a:tr>
              <a:tr h="24002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F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641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678,917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37,917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655085"/>
                  </a:ext>
                </a:extLst>
              </a:tr>
              <a:tr h="24002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C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639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674,975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35,975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386740"/>
                  </a:ext>
                </a:extLst>
              </a:tr>
              <a:tr h="24002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E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635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676,832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41,832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497861"/>
                  </a:ext>
                </a:extLst>
              </a:tr>
              <a:tr h="24002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D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u="none" strike="noStrike">
                          <a:effectLst/>
                        </a:rPr>
                        <a:t>632</a:t>
                      </a:r>
                      <a:endParaRPr lang="it-IT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673,058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41,058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196981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9FBA0605-E2E9-3D44-AF51-7BF716DAC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714579"/>
              </p:ext>
            </p:extLst>
          </p:nvPr>
        </p:nvGraphicFramePr>
        <p:xfrm>
          <a:off x="6026200" y="3910654"/>
          <a:ext cx="2433484" cy="2142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276">
                  <a:extLst>
                    <a:ext uri="{9D8B030D-6E8A-4147-A177-3AD203B41FA5}">
                      <a16:colId xmlns:a16="http://schemas.microsoft.com/office/drawing/2014/main" val="1868325683"/>
                    </a:ext>
                  </a:extLst>
                </a:gridCol>
                <a:gridCol w="1306208">
                  <a:extLst>
                    <a:ext uri="{9D8B030D-6E8A-4147-A177-3AD203B41FA5}">
                      <a16:colId xmlns:a16="http://schemas.microsoft.com/office/drawing/2014/main" val="480714643"/>
                    </a:ext>
                  </a:extLst>
                </a:gridCol>
              </a:tblGrid>
              <a:tr h="22917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Vmax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[m/s]</a:t>
                      </a: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129734"/>
                  </a:ext>
                </a:extLst>
              </a:tr>
              <a:tr h="2391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</a:rPr>
                        <a:t>V_ab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0,624</a:t>
                      </a: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936968"/>
                  </a:ext>
                </a:extLst>
              </a:tr>
              <a:tr h="2391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</a:rPr>
                        <a:t>V_af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0,971</a:t>
                      </a: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402231"/>
                  </a:ext>
                </a:extLst>
              </a:tr>
              <a:tr h="2391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</a:rPr>
                        <a:t>V_bf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0,565</a:t>
                      </a: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680904"/>
                  </a:ext>
                </a:extLst>
              </a:tr>
              <a:tr h="2391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V_fe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0,848</a:t>
                      </a: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895891"/>
                  </a:ext>
                </a:extLst>
              </a:tr>
              <a:tr h="2391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V_bc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0,731</a:t>
                      </a: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016581"/>
                  </a:ext>
                </a:extLst>
              </a:tr>
              <a:tr h="2391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V_ec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0,708</a:t>
                      </a: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93115"/>
                  </a:ext>
                </a:extLst>
              </a:tr>
              <a:tr h="2391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V_ed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0,720</a:t>
                      </a: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042494"/>
                  </a:ext>
                </a:extLst>
              </a:tr>
              <a:tr h="2391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V_cd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0,763</a:t>
                      </a:r>
                    </a:p>
                  </a:txBody>
                  <a:tcPr marL="8382" marR="8382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703535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DCCED476-D788-8A30-55E5-CF3FEB57F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045951"/>
              </p:ext>
            </p:extLst>
          </p:nvPr>
        </p:nvGraphicFramePr>
        <p:xfrm>
          <a:off x="9571255" y="1464486"/>
          <a:ext cx="2011145" cy="19502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0773">
                  <a:extLst>
                    <a:ext uri="{9D8B030D-6E8A-4147-A177-3AD203B41FA5}">
                      <a16:colId xmlns:a16="http://schemas.microsoft.com/office/drawing/2014/main" val="1379496306"/>
                    </a:ext>
                  </a:extLst>
                </a:gridCol>
                <a:gridCol w="1010372">
                  <a:extLst>
                    <a:ext uri="{9D8B030D-6E8A-4147-A177-3AD203B41FA5}">
                      <a16:colId xmlns:a16="http://schemas.microsoft.com/office/drawing/2014/main" val="2772307641"/>
                    </a:ext>
                  </a:extLst>
                </a:gridCol>
              </a:tblGrid>
              <a:tr h="21668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PORTATA</a:t>
                      </a: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[L/s]</a:t>
                      </a: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624743"/>
                  </a:ext>
                </a:extLst>
              </a:tr>
              <a:tr h="21668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q_ab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30,629</a:t>
                      </a: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816718"/>
                  </a:ext>
                </a:extLst>
              </a:tr>
              <a:tr h="21668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q_af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47,640</a:t>
                      </a: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048968"/>
                  </a:ext>
                </a:extLst>
              </a:tr>
              <a:tr h="21668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q_bf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17,749</a:t>
                      </a: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472451"/>
                  </a:ext>
                </a:extLst>
              </a:tr>
              <a:tr h="21668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q_fe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59,910</a:t>
                      </a: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96951"/>
                  </a:ext>
                </a:extLst>
              </a:tr>
              <a:tr h="21668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q_bc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8,966</a:t>
                      </a: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622859"/>
                  </a:ext>
                </a:extLst>
              </a:tr>
              <a:tr h="21668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q_ec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34,765</a:t>
                      </a: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48780"/>
                  </a:ext>
                </a:extLst>
              </a:tr>
              <a:tr h="21668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q_ed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17,319</a:t>
                      </a: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647376"/>
                  </a:ext>
                </a:extLst>
              </a:tr>
              <a:tr h="21668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q_cd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37,470</a:t>
                      </a:r>
                    </a:p>
                  </a:txBody>
                  <a:tcPr marL="6928" marR="6928" marT="62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527300"/>
                  </a:ext>
                </a:extLst>
              </a:tr>
            </a:tbl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3959D649-EE97-5E71-76AF-6B2822206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735" y="3443992"/>
            <a:ext cx="2110371" cy="31760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F94D550-C384-578A-E0A6-629D1BB56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27" y="3443991"/>
            <a:ext cx="2020630" cy="31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10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744029-1056-F7B0-DFC8-166E8C48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RETE DI DISTRIBUZIONE – Portata minima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CB12C5-0795-7DA5-B505-B3701296D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39" y="1492046"/>
            <a:ext cx="11098301" cy="4525963"/>
          </a:xfrm>
        </p:spPr>
        <p:txBody>
          <a:bodyPr>
            <a:normAutofit/>
          </a:bodyPr>
          <a:lstStyle/>
          <a:p>
            <a:r>
              <a:rPr lang="it-IT" sz="1800">
                <a:latin typeface="+mn-lt"/>
              </a:rPr>
              <a:t>- Per la situazione di portata minima Q = 0 </a:t>
            </a:r>
            <a:r>
              <a:rPr lang="it-IT" sz="1800" u="none" strike="noStrike" baseline="0">
                <a:effectLst/>
                <a:latin typeface="+mn-lt"/>
              </a:rPr>
              <a:t>m</a:t>
            </a:r>
            <a:r>
              <a:rPr lang="it-IT" sz="1800" u="none" strike="noStrike" baseline="30000">
                <a:effectLst/>
                <a:latin typeface="+mn-lt"/>
              </a:rPr>
              <a:t>3</a:t>
            </a:r>
            <a:r>
              <a:rPr lang="it-IT" sz="1800" u="none" strike="noStrike" baseline="0">
                <a:effectLst/>
                <a:latin typeface="+mn-lt"/>
              </a:rPr>
              <a:t>/s, in cui il carico H ai nodi è costante pari a H = </a:t>
            </a:r>
            <a:r>
              <a:rPr lang="it-IT" sz="1800" u="none" strike="noStrike" baseline="0" err="1">
                <a:effectLst/>
                <a:latin typeface="+mn-lt"/>
              </a:rPr>
              <a:t>Z</a:t>
            </a:r>
            <a:r>
              <a:rPr lang="it-IT" sz="1800" u="none" strike="noStrike" baseline="-25000" err="1">
                <a:effectLst/>
                <a:latin typeface="+mn-lt"/>
              </a:rPr>
              <a:t>serb</a:t>
            </a:r>
            <a:r>
              <a:rPr lang="it-IT" sz="1800" u="none" strike="noStrike" baseline="0">
                <a:effectLst/>
                <a:latin typeface="+mn-lt"/>
              </a:rPr>
              <a:t> = 685 m, abbiamo eseguito le verifiche sul carico piezometrico e sulla massima oscillazione delle piezometriche (differenze di carico piezometrico tra i casi di portata massima e portata minima) :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4170AE5F-F833-358C-B473-644BD9390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078861"/>
              </p:ext>
            </p:extLst>
          </p:nvPr>
        </p:nvGraphicFramePr>
        <p:xfrm>
          <a:off x="1937619" y="3582758"/>
          <a:ext cx="1622324" cy="18980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1162">
                  <a:extLst>
                    <a:ext uri="{9D8B030D-6E8A-4147-A177-3AD203B41FA5}">
                      <a16:colId xmlns:a16="http://schemas.microsoft.com/office/drawing/2014/main" val="2704283246"/>
                    </a:ext>
                  </a:extLst>
                </a:gridCol>
                <a:gridCol w="811162">
                  <a:extLst>
                    <a:ext uri="{9D8B030D-6E8A-4147-A177-3AD203B41FA5}">
                      <a16:colId xmlns:a16="http://schemas.microsoft.com/office/drawing/2014/main" val="3963893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 – Zi [m]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600170"/>
                  </a:ext>
                </a:extLst>
              </a:tr>
              <a:tr h="2795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A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31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890832"/>
                  </a:ext>
                </a:extLst>
              </a:tr>
              <a:tr h="2795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38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53197"/>
                  </a:ext>
                </a:extLst>
              </a:tr>
              <a:tr h="2795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44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971820"/>
                  </a:ext>
                </a:extLst>
              </a:tr>
              <a:tr h="2795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46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376069"/>
                  </a:ext>
                </a:extLst>
              </a:tr>
              <a:tr h="2795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50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143415"/>
                  </a:ext>
                </a:extLst>
              </a:tr>
              <a:tr h="2795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53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471167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6D8B2383-CD9B-9C12-E308-CCD2E11A1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323949"/>
              </p:ext>
            </p:extLst>
          </p:nvPr>
        </p:nvGraphicFramePr>
        <p:xfrm>
          <a:off x="7733687" y="3582758"/>
          <a:ext cx="2281085" cy="18980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5010">
                  <a:extLst>
                    <a:ext uri="{9D8B030D-6E8A-4147-A177-3AD203B41FA5}">
                      <a16:colId xmlns:a16="http://schemas.microsoft.com/office/drawing/2014/main" val="4252857688"/>
                    </a:ext>
                  </a:extLst>
                </a:gridCol>
                <a:gridCol w="1146075">
                  <a:extLst>
                    <a:ext uri="{9D8B030D-6E8A-4147-A177-3AD203B41FA5}">
                      <a16:colId xmlns:a16="http://schemas.microsoft.com/office/drawing/2014/main" val="3593817776"/>
                    </a:ext>
                  </a:extLst>
                </a:gridCol>
              </a:tblGrid>
              <a:tr h="11728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Hmax</a:t>
                      </a:r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- </a:t>
                      </a:r>
                      <a:r>
                        <a:rPr lang="it-I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Hmin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989266"/>
                  </a:ext>
                </a:extLst>
              </a:tr>
              <a:tr h="2795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A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3,371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365337"/>
                  </a:ext>
                </a:extLst>
              </a:tr>
              <a:tr h="2795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4,492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027111"/>
                  </a:ext>
                </a:extLst>
              </a:tr>
              <a:tr h="2795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6,083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7006"/>
                  </a:ext>
                </a:extLst>
              </a:tr>
              <a:tr h="2795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10,025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186920"/>
                  </a:ext>
                </a:extLst>
              </a:tr>
              <a:tr h="2795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8,168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850170"/>
                  </a:ext>
                </a:extLst>
              </a:tr>
              <a:tr h="2795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11,942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974295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8D0BC583-7834-F687-0B25-5D144DC7D050}"/>
              </a:ext>
            </a:extLst>
          </p:cNvPr>
          <p:cNvSpPr txBox="1"/>
          <p:nvPr/>
        </p:nvSpPr>
        <p:spPr>
          <a:xfrm>
            <a:off x="556239" y="2839607"/>
            <a:ext cx="3072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Portata minima: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B7177B4-92B0-B616-EE2E-4A27CD485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383" y="2839607"/>
            <a:ext cx="2693013" cy="41891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DD3CBE9-23B6-B9F8-016B-E5189FDC2916}"/>
              </a:ext>
            </a:extLst>
          </p:cNvPr>
          <p:cNvSpPr txBox="1"/>
          <p:nvPr/>
        </p:nvSpPr>
        <p:spPr>
          <a:xfrm>
            <a:off x="5933843" y="2896318"/>
            <a:ext cx="234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- Massima oscillazione: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FD4700C2-AE51-DE97-AD87-9779DA1B4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769" y="2871527"/>
            <a:ext cx="3379992" cy="41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371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763533-A7E8-1DF8-5121-5941A760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RETE DI DISTRIBUZIONE – Portata antincendio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20E2A85-6713-F85C-49FB-4B2E05EBA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39" y="1474186"/>
            <a:ext cx="11098301" cy="4525963"/>
          </a:xfrm>
        </p:spPr>
        <p:txBody>
          <a:bodyPr>
            <a:normAutofit/>
          </a:bodyPr>
          <a:lstStyle/>
          <a:p>
            <a:r>
              <a:rPr lang="it-IT" sz="1800">
                <a:latin typeface="+mn-lt"/>
              </a:rPr>
              <a:t>-Abbiamo calcolato la portata antincendio </a:t>
            </a:r>
          </a:p>
          <a:p>
            <a:r>
              <a:rPr lang="it-IT" sz="1800">
                <a:latin typeface="+mn-lt"/>
              </a:rPr>
              <a:t>con la formula di Conti:  </a:t>
            </a:r>
            <a:r>
              <a:rPr lang="it-IT" sz="1800" err="1">
                <a:latin typeface="+mn-lt"/>
              </a:rPr>
              <a:t>Q</a:t>
            </a:r>
            <a:r>
              <a:rPr lang="it-IT" sz="1800" baseline="-25000" err="1">
                <a:latin typeface="+mn-lt"/>
              </a:rPr>
              <a:t>ant</a:t>
            </a:r>
            <a:r>
              <a:rPr lang="it-IT" sz="1800">
                <a:latin typeface="+mn-lt"/>
              </a:rPr>
              <a:t> = </a:t>
            </a:r>
            <a:r>
              <a:rPr lang="it-IT" sz="1800" b="0" i="0" u="none" strike="noStrike">
                <a:solidFill>
                  <a:srgbClr val="000000"/>
                </a:solidFill>
                <a:effectLst/>
                <a:latin typeface="+mn-lt"/>
              </a:rPr>
              <a:t>16,1</a:t>
            </a:r>
            <a:r>
              <a:rPr lang="it-IT" sz="1800">
                <a:latin typeface="+mn-lt"/>
              </a:rPr>
              <a:t> L/s </a:t>
            </a:r>
          </a:p>
          <a:p>
            <a:r>
              <a:rPr lang="it-IT" sz="1800">
                <a:latin typeface="+mn-lt"/>
              </a:rPr>
              <a:t>Portate ai nodi in condizioni antincendio: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9B9F0982-BEAD-44CE-C9EA-1AA026B78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516177"/>
              </p:ext>
            </p:extLst>
          </p:nvPr>
        </p:nvGraphicFramePr>
        <p:xfrm>
          <a:off x="1307691" y="2609578"/>
          <a:ext cx="1987345" cy="18069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9812">
                  <a:extLst>
                    <a:ext uri="{9D8B030D-6E8A-4147-A177-3AD203B41FA5}">
                      <a16:colId xmlns:a16="http://schemas.microsoft.com/office/drawing/2014/main" val="3958120816"/>
                    </a:ext>
                  </a:extLst>
                </a:gridCol>
                <a:gridCol w="1027533">
                  <a:extLst>
                    <a:ext uri="{9D8B030D-6E8A-4147-A177-3AD203B41FA5}">
                      <a16:colId xmlns:a16="http://schemas.microsoft.com/office/drawing/2014/main" val="4069630763"/>
                    </a:ext>
                  </a:extLst>
                </a:gridCol>
              </a:tblGrid>
              <a:tr h="26417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PORTATE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L/s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540916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Q_A’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45,451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497088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Q_B'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1,468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257850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Q_C'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2,348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677171"/>
                  </a:ext>
                </a:extLst>
              </a:tr>
              <a:tr h="26417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Q_D'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36,645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674921"/>
                  </a:ext>
                </a:extLst>
              </a:tr>
              <a:tr h="26417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Q_E'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2,935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061998"/>
                  </a:ext>
                </a:extLst>
              </a:tr>
              <a:tr h="25360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Q_F'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2,055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603755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0B86270B-2EFD-7C53-EEA5-481AA38AF755}"/>
              </a:ext>
            </a:extLst>
          </p:cNvPr>
          <p:cNvSpPr txBox="1"/>
          <p:nvPr/>
        </p:nvSpPr>
        <p:spPr>
          <a:xfrm>
            <a:off x="5466735" y="1437476"/>
            <a:ext cx="6359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Abbiamo nuovamente ipotizzato 3 portate di primo tentativo e ricavato le portate realmente circolanti con il metodo di Hardy – Cross, da queste tramite le equazioni del moto abbiamo verificato il carico piezometrico ai nodi</a:t>
            </a:r>
            <a:r>
              <a:rPr lang="it-IT">
                <a:sym typeface="Wingdings" panose="05000000000000000000" pitchFamily="2" charset="2"/>
              </a:rPr>
              <a:t>: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5DC88960-5009-5087-6336-CFDBB33B8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02642"/>
              </p:ext>
            </p:extLst>
          </p:nvPr>
        </p:nvGraphicFramePr>
        <p:xfrm>
          <a:off x="6234607" y="2778573"/>
          <a:ext cx="1739422" cy="12155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9711">
                  <a:extLst>
                    <a:ext uri="{9D8B030D-6E8A-4147-A177-3AD203B41FA5}">
                      <a16:colId xmlns:a16="http://schemas.microsoft.com/office/drawing/2014/main" val="2603763298"/>
                    </a:ext>
                  </a:extLst>
                </a:gridCol>
                <a:gridCol w="869711">
                  <a:extLst>
                    <a:ext uri="{9D8B030D-6E8A-4147-A177-3AD203B41FA5}">
                      <a16:colId xmlns:a16="http://schemas.microsoft.com/office/drawing/2014/main" val="1369421443"/>
                    </a:ext>
                  </a:extLst>
                </a:gridCol>
              </a:tblGrid>
              <a:tr h="41908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PORTATE IPOTIZZATE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L/s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764134"/>
                  </a:ext>
                </a:extLst>
              </a:tr>
              <a:tr h="26041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  <a:latin typeface="+mn-lt"/>
                        </a:rPr>
                        <a:t>q_af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461097"/>
                  </a:ext>
                </a:extLst>
              </a:tr>
              <a:tr h="26041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  <a:latin typeface="+mn-lt"/>
                        </a:rPr>
                        <a:t>q_FE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20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109870"/>
                  </a:ext>
                </a:extLst>
              </a:tr>
              <a:tr h="26041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q_ed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20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351397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63851414-83DF-CA50-5238-8F9A4B78F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59242"/>
              </p:ext>
            </p:extLst>
          </p:nvPr>
        </p:nvGraphicFramePr>
        <p:xfrm>
          <a:off x="9277964" y="2734881"/>
          <a:ext cx="1854200" cy="22921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7100">
                  <a:extLst>
                    <a:ext uri="{9D8B030D-6E8A-4147-A177-3AD203B41FA5}">
                      <a16:colId xmlns:a16="http://schemas.microsoft.com/office/drawing/2014/main" val="4190420547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368036630"/>
                    </a:ext>
                  </a:extLst>
                </a:gridCol>
              </a:tblGrid>
              <a:tr h="43092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PORTATE REALI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L/s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130225"/>
                  </a:ext>
                </a:extLst>
              </a:tr>
              <a:tr h="22982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q_ab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17,466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930005"/>
                  </a:ext>
                </a:extLst>
              </a:tr>
              <a:tr h="22982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q_af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27,984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665828"/>
                  </a:ext>
                </a:extLst>
              </a:tr>
              <a:tr h="22982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q_bf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10,635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574972"/>
                  </a:ext>
                </a:extLst>
              </a:tr>
              <a:tr h="23940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q_fe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36,564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959527"/>
                  </a:ext>
                </a:extLst>
              </a:tr>
              <a:tr h="23940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q_bc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5,364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272180"/>
                  </a:ext>
                </a:extLst>
              </a:tr>
              <a:tr h="22982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q_ec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20,287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480016"/>
                  </a:ext>
                </a:extLst>
              </a:tr>
              <a:tr h="22982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q_ed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13,342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2027"/>
                  </a:ext>
                </a:extLst>
              </a:tr>
              <a:tr h="22982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q_cd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34,310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162206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207AE8E5-0E62-2E37-EE64-DED57F63B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878252"/>
              </p:ext>
            </p:extLst>
          </p:nvPr>
        </p:nvGraphicFramePr>
        <p:xfrm>
          <a:off x="6234607" y="4220196"/>
          <a:ext cx="2166714" cy="16716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3676">
                  <a:extLst>
                    <a:ext uri="{9D8B030D-6E8A-4147-A177-3AD203B41FA5}">
                      <a16:colId xmlns:a16="http://schemas.microsoft.com/office/drawing/2014/main" val="1687517084"/>
                    </a:ext>
                  </a:extLst>
                </a:gridCol>
                <a:gridCol w="1113038">
                  <a:extLst>
                    <a:ext uri="{9D8B030D-6E8A-4147-A177-3AD203B41FA5}">
                      <a16:colId xmlns:a16="http://schemas.microsoft.com/office/drawing/2014/main" val="3663734849"/>
                    </a:ext>
                  </a:extLst>
                </a:gridCol>
              </a:tblGrid>
              <a:tr h="23880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Hi - Zi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12647"/>
                  </a:ext>
                </a:extLst>
              </a:tr>
              <a:tr h="23880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A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29,863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57706"/>
                  </a:ext>
                </a:extLst>
              </a:tr>
              <a:tr h="23880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36,499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983909"/>
                  </a:ext>
                </a:extLst>
              </a:tr>
              <a:tr h="23880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41,928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406770"/>
                  </a:ext>
                </a:extLst>
              </a:tr>
              <a:tr h="23880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42,519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41487"/>
                  </a:ext>
                </a:extLst>
              </a:tr>
              <a:tr h="23880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47,151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272608"/>
                  </a:ext>
                </a:extLst>
              </a:tr>
              <a:tr h="23880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47,911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605289"/>
                  </a:ext>
                </a:extLst>
              </a:tr>
            </a:tbl>
          </a:graphicData>
        </a:graphic>
      </p:graphicFrame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40D0F3C-34E4-2B48-6FFC-3C60C1D02475}"/>
              </a:ext>
            </a:extLst>
          </p:cNvPr>
          <p:cNvSpPr txBox="1"/>
          <p:nvPr/>
        </p:nvSpPr>
        <p:spPr>
          <a:xfrm>
            <a:off x="556239" y="4561995"/>
            <a:ext cx="4024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È richiesto un carico piezometrico di almeno 10 m in tutti i nodi: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D7438124-9254-0B42-6216-59A83B7CE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63" y="5353817"/>
            <a:ext cx="2909705" cy="43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50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F6E2BE-87B4-3D8A-0881-B2868904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RETE DI DISTRIBUZIONE – Rottura di un lato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C1D202-AB14-7CF6-7F64-3622A7D95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077" y="1426417"/>
            <a:ext cx="11098301" cy="4525963"/>
          </a:xfrm>
        </p:spPr>
        <p:txBody>
          <a:bodyPr>
            <a:normAutofit/>
          </a:bodyPr>
          <a:lstStyle/>
          <a:p>
            <a:r>
              <a:rPr lang="it-IT" sz="1800">
                <a:latin typeface="+mn-lt"/>
              </a:rPr>
              <a:t>-In caso di rottura di AF, le portate richieste risultano: 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77437B73-2AF2-4349-531D-061FE41AD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73981"/>
              </p:ext>
            </p:extLst>
          </p:nvPr>
        </p:nvGraphicFramePr>
        <p:xfrm>
          <a:off x="1722053" y="2013685"/>
          <a:ext cx="2330245" cy="22417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3288">
                  <a:extLst>
                    <a:ext uri="{9D8B030D-6E8A-4147-A177-3AD203B41FA5}">
                      <a16:colId xmlns:a16="http://schemas.microsoft.com/office/drawing/2014/main" val="2433250575"/>
                    </a:ext>
                  </a:extLst>
                </a:gridCol>
                <a:gridCol w="1196957">
                  <a:extLst>
                    <a:ext uri="{9D8B030D-6E8A-4147-A177-3AD203B41FA5}">
                      <a16:colId xmlns:a16="http://schemas.microsoft.com/office/drawing/2014/main" val="4196717201"/>
                    </a:ext>
                  </a:extLst>
                </a:gridCol>
              </a:tblGrid>
              <a:tr h="33162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PORTATE AI NODI [L/s]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22764"/>
                  </a:ext>
                </a:extLst>
              </a:tr>
              <a:tr h="31835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Qr_A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19,567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136251"/>
                  </a:ext>
                </a:extLst>
              </a:tr>
              <a:tr h="31835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Qr_B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0,978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231459"/>
                  </a:ext>
                </a:extLst>
              </a:tr>
              <a:tr h="31835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Qr_C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1,565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388199"/>
                  </a:ext>
                </a:extLst>
              </a:tr>
              <a:tr h="31835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Qr_D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13,697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970006"/>
                  </a:ext>
                </a:extLst>
              </a:tr>
              <a:tr h="31835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Qr_E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1,957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520386"/>
                  </a:ext>
                </a:extLst>
              </a:tr>
              <a:tr h="31835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Qr_F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1,370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554385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5EECCEF5-E996-0DBF-E9C0-37356AF7D2FB}"/>
              </a:ext>
            </a:extLst>
          </p:cNvPr>
          <p:cNvSpPr txBox="1"/>
          <p:nvPr/>
        </p:nvSpPr>
        <p:spPr>
          <a:xfrm>
            <a:off x="6203934" y="1424317"/>
            <a:ext cx="5549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it-IT"/>
              <a:t>Abbiamo ipotizzato due portate di primo tentativo, ricavato nuovamente le portate reali circolanti con </a:t>
            </a:r>
          </a:p>
          <a:p>
            <a:r>
              <a:rPr lang="it-IT"/>
              <a:t>     Hardy – Cross ed infine eseguito le verifiche sui carichi</a:t>
            </a:r>
          </a:p>
          <a:p>
            <a:r>
              <a:rPr lang="it-IT"/>
              <a:t>     piezometrici: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4B2B6364-7DBC-E8F5-896D-650A40E1B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916321"/>
              </p:ext>
            </p:extLst>
          </p:nvPr>
        </p:nvGraphicFramePr>
        <p:xfrm>
          <a:off x="6270138" y="2797369"/>
          <a:ext cx="2018482" cy="994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6507">
                  <a:extLst>
                    <a:ext uri="{9D8B030D-6E8A-4147-A177-3AD203B41FA5}">
                      <a16:colId xmlns:a16="http://schemas.microsoft.com/office/drawing/2014/main" val="4068875446"/>
                    </a:ext>
                  </a:extLst>
                </a:gridCol>
                <a:gridCol w="1091975">
                  <a:extLst>
                    <a:ext uri="{9D8B030D-6E8A-4147-A177-3AD203B41FA5}">
                      <a16:colId xmlns:a16="http://schemas.microsoft.com/office/drawing/2014/main" val="536719253"/>
                    </a:ext>
                  </a:extLst>
                </a:gridCol>
              </a:tblGrid>
              <a:tr h="26845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PORTATE IPOTIZZATE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L/s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126319"/>
                  </a:ext>
                </a:extLst>
              </a:tr>
              <a:tr h="27987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q_bc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261058"/>
                  </a:ext>
                </a:extLst>
              </a:tr>
              <a:tr h="27987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q_ed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852555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31387DC3-C73E-36E1-8D27-4A588F4AF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775579"/>
              </p:ext>
            </p:extLst>
          </p:nvPr>
        </p:nvGraphicFramePr>
        <p:xfrm>
          <a:off x="9106444" y="2813411"/>
          <a:ext cx="2018482" cy="22662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9241">
                  <a:extLst>
                    <a:ext uri="{9D8B030D-6E8A-4147-A177-3AD203B41FA5}">
                      <a16:colId xmlns:a16="http://schemas.microsoft.com/office/drawing/2014/main" val="1662451129"/>
                    </a:ext>
                  </a:extLst>
                </a:gridCol>
                <a:gridCol w="1009241">
                  <a:extLst>
                    <a:ext uri="{9D8B030D-6E8A-4147-A177-3AD203B41FA5}">
                      <a16:colId xmlns:a16="http://schemas.microsoft.com/office/drawing/2014/main" val="965239802"/>
                    </a:ext>
                  </a:extLst>
                </a:gridCol>
              </a:tblGrid>
              <a:tr h="27573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PORTATE REALI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L/s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28000"/>
                  </a:ext>
                </a:extLst>
              </a:tr>
              <a:tr h="24679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 err="1">
                          <a:effectLst/>
                          <a:latin typeface="+mn-lt"/>
                        </a:rPr>
                        <a:t>q_ab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19,567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813963"/>
                  </a:ext>
                </a:extLst>
              </a:tr>
              <a:tr h="24679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q_af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/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790286"/>
                  </a:ext>
                </a:extLst>
              </a:tr>
              <a:tr h="24679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q_bf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14,381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7899"/>
                  </a:ext>
                </a:extLst>
              </a:tr>
              <a:tr h="25266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q_fe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13,011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472249"/>
                  </a:ext>
                </a:extLst>
              </a:tr>
              <a:tr h="25708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q_bc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4,208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229058"/>
                  </a:ext>
                </a:extLst>
              </a:tr>
              <a:tr h="24679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q_ec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7,030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912436"/>
                  </a:ext>
                </a:extLst>
              </a:tr>
              <a:tr h="24679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q_ed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4,024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4828"/>
                  </a:ext>
                </a:extLst>
              </a:tr>
              <a:tr h="24679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  <a:latin typeface="+mn-lt"/>
                        </a:rPr>
                        <a:t>q_cd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9,673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144230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777ACE85-6BA2-729F-1D9A-644B01266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964131"/>
              </p:ext>
            </p:extLst>
          </p:nvPr>
        </p:nvGraphicFramePr>
        <p:xfrm>
          <a:off x="6282292" y="4098492"/>
          <a:ext cx="2006328" cy="1546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5680">
                  <a:extLst>
                    <a:ext uri="{9D8B030D-6E8A-4147-A177-3AD203B41FA5}">
                      <a16:colId xmlns:a16="http://schemas.microsoft.com/office/drawing/2014/main" val="2106294917"/>
                    </a:ext>
                  </a:extLst>
                </a:gridCol>
                <a:gridCol w="1030648">
                  <a:extLst>
                    <a:ext uri="{9D8B030D-6E8A-4147-A177-3AD203B41FA5}">
                      <a16:colId xmlns:a16="http://schemas.microsoft.com/office/drawing/2014/main" val="2155561287"/>
                    </a:ext>
                  </a:extLst>
                </a:gridCol>
              </a:tblGrid>
              <a:tr h="8963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Hi-Zi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7943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A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30,789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7718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B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37,332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4143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F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42,288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8199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C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44,113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5110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48,189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48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50,986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982560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F210F7B6-1D9F-8166-8896-38F778CA2AA8}"/>
              </a:ext>
            </a:extLst>
          </p:cNvPr>
          <p:cNvSpPr txBox="1"/>
          <p:nvPr/>
        </p:nvSpPr>
        <p:spPr>
          <a:xfrm>
            <a:off x="709158" y="4417308"/>
            <a:ext cx="5092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È richiesto un carico piezometrico di almeno 20 m in tutti i nodi:</a:t>
            </a:r>
          </a:p>
        </p:txBody>
      </p:sp>
      <p:sp>
        <p:nvSpPr>
          <p:cNvPr id="10" name="AutoShape 2" descr="equation">
            <a:extLst>
              <a:ext uri="{FF2B5EF4-FFF2-40B4-BE49-F238E27FC236}">
                <a16:creationId xmlns:a16="http://schemas.microsoft.com/office/drawing/2014/main" id="{4F01F217-6A99-D56B-6A56-C58D42B9FD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FD69DEB2-A45C-B62A-07B4-5317046C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02" y="5225505"/>
            <a:ext cx="2933662" cy="44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65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4ACA500-AE87-14ED-5BF3-841B02282B8B}"/>
              </a:ext>
            </a:extLst>
          </p:cNvPr>
          <p:cNvSpPr txBox="1"/>
          <p:nvPr/>
        </p:nvSpPr>
        <p:spPr>
          <a:xfrm>
            <a:off x="3777446" y="3691735"/>
            <a:ext cx="463710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it-IT" sz="2800">
                <a:latin typeface="Arial Nova"/>
                <a:cs typeface="Arial"/>
              </a:rPr>
              <a:t>VASCA DI PRESA</a:t>
            </a:r>
          </a:p>
          <a:p>
            <a:pPr marL="285750" indent="-285750">
              <a:buFont typeface="Wingdings"/>
              <a:buChar char="§"/>
            </a:pPr>
            <a:r>
              <a:rPr lang="it-IT" sz="2800">
                <a:latin typeface="Arial Nova"/>
                <a:cs typeface="Arial"/>
              </a:rPr>
              <a:t>CONDOTTA DI MANDATA</a:t>
            </a:r>
          </a:p>
          <a:p>
            <a:pPr marL="285750" indent="-285750">
              <a:buFont typeface="Wingdings"/>
              <a:buChar char="§"/>
            </a:pPr>
            <a:r>
              <a:rPr lang="it-IT" sz="2800">
                <a:latin typeface="Arial Nova"/>
                <a:cs typeface="Arial"/>
              </a:rPr>
              <a:t>SISTEMA DI POMPE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1B3B15-1E18-CFD8-6487-AF343CCA6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49" y="2101516"/>
            <a:ext cx="11098301" cy="4024648"/>
          </a:xfrm>
        </p:spPr>
        <p:txBody>
          <a:bodyPr anchor="t">
            <a:normAutofit/>
          </a:bodyPr>
          <a:lstStyle/>
          <a:p>
            <a:pPr algn="ctr"/>
            <a:r>
              <a:rPr lang="it-IT" sz="6000" u="sng">
                <a:solidFill>
                  <a:schemeClr val="tx2"/>
                </a:solidFill>
                <a:latin typeface="Arial Nova"/>
                <a:ea typeface="STHupo"/>
              </a:rPr>
              <a:t>IMPIANTO DI SOLLEVAMENTO</a:t>
            </a:r>
            <a:endParaRPr lang="it-IT" sz="6000"/>
          </a:p>
        </p:txBody>
      </p:sp>
    </p:spTree>
    <p:extLst>
      <p:ext uri="{BB962C8B-B14F-4D97-AF65-F5344CB8AC3E}">
        <p14:creationId xmlns:p14="http://schemas.microsoft.com/office/powerpoint/2010/main" val="4025420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IMPIANTO DI SOLLEVAMENTO – Dimensionamento vasca di presa</a:t>
            </a:r>
            <a:endParaRPr lang="it-IT" b="0"/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D4538DBB-0EB6-70EA-6FA5-52EA8D3A2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933314"/>
              </p:ext>
            </p:extLst>
          </p:nvPr>
        </p:nvGraphicFramePr>
        <p:xfrm>
          <a:off x="4723638" y="1283861"/>
          <a:ext cx="1190422" cy="4793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65745">
                  <a:extLst>
                    <a:ext uri="{9D8B030D-6E8A-4147-A177-3AD203B41FA5}">
                      <a16:colId xmlns:a16="http://schemas.microsoft.com/office/drawing/2014/main" val="2317980347"/>
                    </a:ext>
                  </a:extLst>
                </a:gridCol>
                <a:gridCol w="624677">
                  <a:extLst>
                    <a:ext uri="{9D8B030D-6E8A-4147-A177-3AD203B41FA5}">
                      <a16:colId xmlns:a16="http://schemas.microsoft.com/office/drawing/2014/main" val="4044576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Ore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Qu [L/s]  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94664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1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6,21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145378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2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6,21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171340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3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6,21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398552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4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6,21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714652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5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6,21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140090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6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6,21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359237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7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24,84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332137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8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28,98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890209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9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18,63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578824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10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14,49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86589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11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28,98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982894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12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35,19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014178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13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39,33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87587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14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39,33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8159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15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26,91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426611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16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12,42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698178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17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12,42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943832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18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24,84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3241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19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31,05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31984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20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41,40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86871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21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33,12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057623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22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22,77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003284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23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12,42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166981"/>
                  </a:ext>
                </a:extLst>
              </a:tr>
              <a:tr h="16260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u="none" strike="noStrike">
                          <a:effectLst/>
                        </a:rPr>
                        <a:t>24</a:t>
                      </a: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12,42</a:t>
                      </a:r>
                    </a:p>
                  </a:txBody>
                  <a:tcPr marL="8840" marR="8840" marT="88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066448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FFA520ED-CEEB-1DE4-182D-9A03015539A6}"/>
              </a:ext>
            </a:extLst>
          </p:cNvPr>
          <p:cNvSpPr txBox="1"/>
          <p:nvPr/>
        </p:nvSpPr>
        <p:spPr>
          <a:xfrm>
            <a:off x="5914060" y="5072678"/>
            <a:ext cx="627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/>
              <a:t>(max)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8CF24C67-ACA2-92C3-64FD-8FED9EA6B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95" y="1600202"/>
            <a:ext cx="4105381" cy="27670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800" u="sng">
                <a:latin typeface="Calibri"/>
              </a:rPr>
              <a:t>Dati a disposizione</a:t>
            </a:r>
            <a:r>
              <a:rPr lang="it-IT" sz="1800">
                <a:latin typeface="Calibri"/>
              </a:rPr>
              <a:t>:</a:t>
            </a:r>
          </a:p>
          <a:p>
            <a:endParaRPr lang="it-IT" sz="1800">
              <a:latin typeface="Calibri"/>
            </a:endParaRPr>
          </a:p>
          <a:p>
            <a:pPr marL="285750" indent="-285750">
              <a:buFontTx/>
              <a:buChar char="-"/>
            </a:pPr>
            <a:r>
              <a:rPr lang="it-IT" sz="1800">
                <a:latin typeface="Calibri"/>
              </a:rPr>
              <a:t>Portata entrante </a:t>
            </a:r>
            <a:r>
              <a:rPr lang="it-IT" sz="1800" err="1">
                <a:latin typeface="Calibri"/>
              </a:rPr>
              <a:t>Q</a:t>
            </a:r>
            <a:r>
              <a:rPr lang="it-IT" sz="1800" baseline="-25000" err="1">
                <a:latin typeface="Calibri"/>
              </a:rPr>
              <a:t>e</a:t>
            </a:r>
            <a:r>
              <a:rPr lang="it-IT" sz="1800">
                <a:latin typeface="Calibri"/>
              </a:rPr>
              <a:t> sollevata dal pozzo alla vasca</a:t>
            </a:r>
          </a:p>
          <a:p>
            <a:pPr marL="285750" indent="-285750">
              <a:buFontTx/>
              <a:buChar char="-"/>
            </a:pPr>
            <a:r>
              <a:rPr lang="it-IT" sz="1800">
                <a:latin typeface="Calibri"/>
              </a:rPr>
              <a:t>Andamento orario delle portate uscenti Q</a:t>
            </a:r>
            <a:r>
              <a:rPr lang="it-IT" sz="1800" baseline="-25000">
                <a:latin typeface="Calibri"/>
              </a:rPr>
              <a:t>u</a:t>
            </a:r>
          </a:p>
          <a:p>
            <a:pPr marL="285750" indent="-285750">
              <a:buFontTx/>
              <a:buChar char="-"/>
            </a:pPr>
            <a:r>
              <a:rPr lang="it-IT" sz="1800">
                <a:latin typeface="Calibri"/>
              </a:rPr>
              <a:t>Tempo di clorazione </a:t>
            </a:r>
            <a:r>
              <a:rPr lang="it-IT" sz="1800" err="1">
                <a:latin typeface="Calibri"/>
              </a:rPr>
              <a:t>T</a:t>
            </a:r>
            <a:r>
              <a:rPr lang="it-IT" sz="1800" baseline="-25000" err="1">
                <a:latin typeface="Calibri"/>
              </a:rPr>
              <a:t>cl</a:t>
            </a:r>
            <a:endParaRPr lang="it-IT" sz="1800" baseline="-25000">
              <a:latin typeface="Calibri"/>
            </a:endParaRPr>
          </a:p>
          <a:p>
            <a:pPr marL="285750" indent="-285750">
              <a:buFontTx/>
              <a:buChar char="-"/>
            </a:pPr>
            <a:r>
              <a:rPr lang="it-IT" sz="1800">
                <a:latin typeface="Calibri"/>
              </a:rPr>
              <a:t>Tempo di riserva T</a:t>
            </a:r>
            <a:r>
              <a:rPr lang="it-IT" sz="1800" baseline="-25000">
                <a:latin typeface="Calibri"/>
              </a:rPr>
              <a:t>ris</a:t>
            </a:r>
            <a:endParaRPr lang="it-IT" baseline="-25000"/>
          </a:p>
          <a:p>
            <a:endParaRPr lang="it-IT" sz="1800">
              <a:latin typeface="Calibri"/>
            </a:endParaRPr>
          </a:p>
        </p:txBody>
      </p:sp>
      <p:pic>
        <p:nvPicPr>
          <p:cNvPr id="11" name="Immagine 4" descr="Immagine che contiene diagramma, testo, linea, Disegno tecnico&#10;&#10;Descrizione generata automaticamente">
            <a:extLst>
              <a:ext uri="{FF2B5EF4-FFF2-40B4-BE49-F238E27FC236}">
                <a16:creationId xmlns:a16="http://schemas.microsoft.com/office/drawing/2014/main" id="{C38ABB76-F797-0E22-7D7A-59090ADCE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043" y="1598493"/>
            <a:ext cx="4813539" cy="248419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C93898D2-36C1-46B4-241D-8B8D3A7896BA}"/>
                  </a:ext>
                </a:extLst>
              </p14:cNvPr>
              <p14:cNvContentPartPr/>
              <p14:nvPr/>
            </p14:nvContentPartPr>
            <p14:xfrm>
              <a:off x="9080500" y="2821651"/>
              <a:ext cx="384420" cy="171012"/>
            </p14:xfrm>
          </p:contentPart>
        </mc:Choice>
        <mc:Fallback xmlns=""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C93898D2-36C1-46B4-241D-8B8D3A7896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17569" y="2758779"/>
                <a:ext cx="509923" cy="296397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92DCF64-79BE-F573-5D11-C55B8BB98DB8}"/>
              </a:ext>
            </a:extLst>
          </p:cNvPr>
          <p:cNvSpPr txBox="1"/>
          <p:nvPr/>
        </p:nvSpPr>
        <p:spPr>
          <a:xfrm>
            <a:off x="8825271" y="3231363"/>
            <a:ext cx="1400855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it-IT" sz="1000" b="1">
                <a:solidFill>
                  <a:srgbClr val="FF0000"/>
                </a:solidFill>
                <a:latin typeface="Calibri"/>
                <a:cs typeface="Times New Roman"/>
              </a:rPr>
              <a:t>VASCA DI PRESA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Input penna 26">
                <a:extLst>
                  <a:ext uri="{FF2B5EF4-FFF2-40B4-BE49-F238E27FC236}">
                    <a16:creationId xmlns:a16="http://schemas.microsoft.com/office/drawing/2014/main" id="{44AD2D16-5B8D-E84A-D376-A3D55CFA35B7}"/>
                  </a:ext>
                </a:extLst>
              </p14:cNvPr>
              <p14:cNvContentPartPr/>
              <p14:nvPr/>
            </p14:nvContentPartPr>
            <p14:xfrm>
              <a:off x="9234534" y="2995188"/>
              <a:ext cx="7544" cy="7544"/>
            </p14:xfrm>
          </p:contentPart>
        </mc:Choice>
        <mc:Fallback xmlns="">
          <p:pic>
            <p:nvPicPr>
              <p:cNvPr id="27" name="Input penna 26">
                <a:extLst>
                  <a:ext uri="{FF2B5EF4-FFF2-40B4-BE49-F238E27FC236}">
                    <a16:creationId xmlns:a16="http://schemas.microsoft.com/office/drawing/2014/main" id="{44AD2D16-5B8D-E84A-D376-A3D55CFA35B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4334" y="1674988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1" name="Input penna 30">
                <a:extLst>
                  <a:ext uri="{FF2B5EF4-FFF2-40B4-BE49-F238E27FC236}">
                    <a16:creationId xmlns:a16="http://schemas.microsoft.com/office/drawing/2014/main" id="{84B31C73-2C35-DB4B-197D-504DF8332E02}"/>
                  </a:ext>
                </a:extLst>
              </p14:cNvPr>
              <p14:cNvContentPartPr/>
              <p14:nvPr/>
            </p14:nvContentPartPr>
            <p14:xfrm>
              <a:off x="9234534" y="3010277"/>
              <a:ext cx="7544" cy="7544"/>
            </p14:xfrm>
          </p:contentPart>
        </mc:Choice>
        <mc:Fallback xmlns="">
          <p:pic>
            <p:nvPicPr>
              <p:cNvPr id="31" name="Input penna 30">
                <a:extLst>
                  <a:ext uri="{FF2B5EF4-FFF2-40B4-BE49-F238E27FC236}">
                    <a16:creationId xmlns:a16="http://schemas.microsoft.com/office/drawing/2014/main" id="{84B31C73-2C35-DB4B-197D-504DF8332E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4334" y="1690077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Input penna 34">
                <a:extLst>
                  <a:ext uri="{FF2B5EF4-FFF2-40B4-BE49-F238E27FC236}">
                    <a16:creationId xmlns:a16="http://schemas.microsoft.com/office/drawing/2014/main" id="{E3957C7C-BDA5-EAC9-5060-EC8885E2CDFD}"/>
                  </a:ext>
                </a:extLst>
              </p14:cNvPr>
              <p14:cNvContentPartPr/>
              <p14:nvPr/>
            </p14:nvContentPartPr>
            <p14:xfrm>
              <a:off x="9329625" y="3002732"/>
              <a:ext cx="7544" cy="7544"/>
            </p14:xfrm>
          </p:contentPart>
        </mc:Choice>
        <mc:Fallback xmlns="">
          <p:pic>
            <p:nvPicPr>
              <p:cNvPr id="35" name="Input penna 34">
                <a:extLst>
                  <a:ext uri="{FF2B5EF4-FFF2-40B4-BE49-F238E27FC236}">
                    <a16:creationId xmlns:a16="http://schemas.microsoft.com/office/drawing/2014/main" id="{E3957C7C-BDA5-EAC9-5060-EC8885E2CD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82936" y="1682532"/>
                <a:ext cx="300084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3" name="Input penna 42">
                <a:extLst>
                  <a:ext uri="{FF2B5EF4-FFF2-40B4-BE49-F238E27FC236}">
                    <a16:creationId xmlns:a16="http://schemas.microsoft.com/office/drawing/2014/main" id="{331347AE-FA56-4E55-E532-2769ABBCFBDA}"/>
                  </a:ext>
                </a:extLst>
              </p14:cNvPr>
              <p14:cNvContentPartPr/>
              <p14:nvPr/>
            </p14:nvContentPartPr>
            <p14:xfrm>
              <a:off x="9272257" y="3002732"/>
              <a:ext cx="7544" cy="7544"/>
            </p14:xfrm>
          </p:contentPart>
        </mc:Choice>
        <mc:Fallback xmlns="">
          <p:pic>
            <p:nvPicPr>
              <p:cNvPr id="43" name="Input penna 42">
                <a:extLst>
                  <a:ext uri="{FF2B5EF4-FFF2-40B4-BE49-F238E27FC236}">
                    <a16:creationId xmlns:a16="http://schemas.microsoft.com/office/drawing/2014/main" id="{331347AE-FA56-4E55-E532-2769ABBCFB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52057" y="1682532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4" name="Input penna 43">
                <a:extLst>
                  <a:ext uri="{FF2B5EF4-FFF2-40B4-BE49-F238E27FC236}">
                    <a16:creationId xmlns:a16="http://schemas.microsoft.com/office/drawing/2014/main" id="{E58C4CC3-1B51-B303-F683-0787200F9456}"/>
                  </a:ext>
                </a:extLst>
              </p14:cNvPr>
              <p14:cNvContentPartPr/>
              <p14:nvPr/>
            </p14:nvContentPartPr>
            <p14:xfrm>
              <a:off x="9332614" y="2980099"/>
              <a:ext cx="7544" cy="7544"/>
            </p14:xfrm>
          </p:contentPart>
        </mc:Choice>
        <mc:Fallback xmlns="">
          <p:pic>
            <p:nvPicPr>
              <p:cNvPr id="44" name="Input penna 43">
                <a:extLst>
                  <a:ext uri="{FF2B5EF4-FFF2-40B4-BE49-F238E27FC236}">
                    <a16:creationId xmlns:a16="http://schemas.microsoft.com/office/drawing/2014/main" id="{E58C4CC3-1B51-B303-F683-0787200F94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12414" y="1659899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" name="Input penna 44">
                <a:extLst>
                  <a:ext uri="{FF2B5EF4-FFF2-40B4-BE49-F238E27FC236}">
                    <a16:creationId xmlns:a16="http://schemas.microsoft.com/office/drawing/2014/main" id="{09B63F5B-4DD3-2165-A487-5074F0CA2A74}"/>
                  </a:ext>
                </a:extLst>
              </p14:cNvPr>
              <p14:cNvContentPartPr/>
              <p14:nvPr/>
            </p14:nvContentPartPr>
            <p14:xfrm>
              <a:off x="9332614" y="2956780"/>
              <a:ext cx="7544" cy="15774"/>
            </p14:xfrm>
          </p:contentPart>
        </mc:Choice>
        <mc:Fallback xmlns="">
          <p:pic>
            <p:nvPicPr>
              <p:cNvPr id="45" name="Input penna 44">
                <a:extLst>
                  <a:ext uri="{FF2B5EF4-FFF2-40B4-BE49-F238E27FC236}">
                    <a16:creationId xmlns:a16="http://schemas.microsoft.com/office/drawing/2014/main" id="{09B63F5B-4DD3-2165-A487-5074F0CA2A7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31060" y="2895437"/>
                <a:ext cx="210071" cy="138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Input penna 45">
                <a:extLst>
                  <a:ext uri="{FF2B5EF4-FFF2-40B4-BE49-F238E27FC236}">
                    <a16:creationId xmlns:a16="http://schemas.microsoft.com/office/drawing/2014/main" id="{314E19EF-CF14-0B51-C7CF-2C753307095C}"/>
                  </a:ext>
                </a:extLst>
              </p14:cNvPr>
              <p14:cNvContentPartPr/>
              <p14:nvPr/>
            </p14:nvContentPartPr>
            <p14:xfrm>
              <a:off x="9340158" y="2949921"/>
              <a:ext cx="7604" cy="7544"/>
            </p14:xfrm>
          </p:contentPart>
        </mc:Choice>
        <mc:Fallback xmlns="">
          <p:pic>
            <p:nvPicPr>
              <p:cNvPr id="46" name="Input penna 45">
                <a:extLst>
                  <a:ext uri="{FF2B5EF4-FFF2-40B4-BE49-F238E27FC236}">
                    <a16:creationId xmlns:a16="http://schemas.microsoft.com/office/drawing/2014/main" id="{314E19EF-CF14-0B51-C7CF-2C753307095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79672" y="1629721"/>
                <a:ext cx="128231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7" name="Input penna 46">
                <a:extLst>
                  <a:ext uri="{FF2B5EF4-FFF2-40B4-BE49-F238E27FC236}">
                    <a16:creationId xmlns:a16="http://schemas.microsoft.com/office/drawing/2014/main" id="{B4184AB7-B1B3-48E6-97DC-8CA3B1DDDA22}"/>
                  </a:ext>
                </a:extLst>
              </p14:cNvPr>
              <p14:cNvContentPartPr/>
              <p14:nvPr/>
            </p14:nvContentPartPr>
            <p14:xfrm>
              <a:off x="9370336" y="2949921"/>
              <a:ext cx="7544" cy="7544"/>
            </p14:xfrm>
          </p:contentPart>
        </mc:Choice>
        <mc:Fallback xmlns="">
          <p:pic>
            <p:nvPicPr>
              <p:cNvPr id="47" name="Input penna 46">
                <a:extLst>
                  <a:ext uri="{FF2B5EF4-FFF2-40B4-BE49-F238E27FC236}">
                    <a16:creationId xmlns:a16="http://schemas.microsoft.com/office/drawing/2014/main" id="{B4184AB7-B1B3-48E6-97DC-8CA3B1DDDA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50136" y="1629721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8" name="Input penna 47">
                <a:extLst>
                  <a:ext uri="{FF2B5EF4-FFF2-40B4-BE49-F238E27FC236}">
                    <a16:creationId xmlns:a16="http://schemas.microsoft.com/office/drawing/2014/main" id="{02346CAE-C341-B5D8-FA55-8FCF5A1B7840}"/>
                  </a:ext>
                </a:extLst>
              </p14:cNvPr>
              <p14:cNvContentPartPr/>
              <p14:nvPr/>
            </p14:nvContentPartPr>
            <p14:xfrm>
              <a:off x="9349946" y="2949921"/>
              <a:ext cx="20389" cy="7544"/>
            </p14:xfrm>
          </p:contentPart>
        </mc:Choice>
        <mc:Fallback xmlns="">
          <p:pic>
            <p:nvPicPr>
              <p:cNvPr id="48" name="Input penna 47">
                <a:extLst>
                  <a:ext uri="{FF2B5EF4-FFF2-40B4-BE49-F238E27FC236}">
                    <a16:creationId xmlns:a16="http://schemas.microsoft.com/office/drawing/2014/main" id="{02346CAE-C341-B5D8-FA55-8FCF5A1B784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288427" y="2889912"/>
                <a:ext cx="143075" cy="127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9" name="Input penna 48">
                <a:extLst>
                  <a:ext uri="{FF2B5EF4-FFF2-40B4-BE49-F238E27FC236}">
                    <a16:creationId xmlns:a16="http://schemas.microsoft.com/office/drawing/2014/main" id="{A5FF6FED-23C8-FE3C-CE14-927F196E4EB7}"/>
                  </a:ext>
                </a:extLst>
              </p14:cNvPr>
              <p14:cNvContentPartPr/>
              <p14:nvPr/>
            </p14:nvContentPartPr>
            <p14:xfrm>
              <a:off x="9227557" y="2957465"/>
              <a:ext cx="74877" cy="7544"/>
            </p14:xfrm>
          </p:contentPart>
        </mc:Choice>
        <mc:Fallback xmlns="">
          <p:pic>
            <p:nvPicPr>
              <p:cNvPr id="49" name="Input penna 48">
                <a:extLst>
                  <a:ext uri="{FF2B5EF4-FFF2-40B4-BE49-F238E27FC236}">
                    <a16:creationId xmlns:a16="http://schemas.microsoft.com/office/drawing/2014/main" id="{A5FF6FED-23C8-FE3C-CE14-927F196E4EB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164861" y="1637265"/>
                <a:ext cx="199911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0" name="Input penna 49">
                <a:extLst>
                  <a:ext uri="{FF2B5EF4-FFF2-40B4-BE49-F238E27FC236}">
                    <a16:creationId xmlns:a16="http://schemas.microsoft.com/office/drawing/2014/main" id="{0E90112F-642C-C58F-A19B-072A26325045}"/>
                  </a:ext>
                </a:extLst>
              </p14:cNvPr>
              <p14:cNvContentPartPr/>
              <p14:nvPr/>
            </p14:nvContentPartPr>
            <p14:xfrm>
              <a:off x="9211901" y="2957465"/>
              <a:ext cx="7544" cy="7544"/>
            </p14:xfrm>
          </p:contentPart>
        </mc:Choice>
        <mc:Fallback xmlns="">
          <p:pic>
            <p:nvPicPr>
              <p:cNvPr id="50" name="Input penna 49">
                <a:extLst>
                  <a:ext uri="{FF2B5EF4-FFF2-40B4-BE49-F238E27FC236}">
                    <a16:creationId xmlns:a16="http://schemas.microsoft.com/office/drawing/2014/main" id="{0E90112F-642C-C58F-A19B-072A263250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91701" y="1637265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1" name="Input penna 50">
                <a:extLst>
                  <a:ext uri="{FF2B5EF4-FFF2-40B4-BE49-F238E27FC236}">
                    <a16:creationId xmlns:a16="http://schemas.microsoft.com/office/drawing/2014/main" id="{1AF19322-FED4-167C-720E-CB1358E235CF}"/>
                  </a:ext>
                </a:extLst>
              </p14:cNvPr>
              <p14:cNvContentPartPr/>
              <p14:nvPr/>
            </p14:nvContentPartPr>
            <p14:xfrm>
              <a:off x="9186279" y="2957465"/>
              <a:ext cx="7544" cy="7544"/>
            </p14:xfrm>
          </p:contentPart>
        </mc:Choice>
        <mc:Fallback xmlns="">
          <p:pic>
            <p:nvPicPr>
              <p:cNvPr id="51" name="Input penna 50">
                <a:extLst>
                  <a:ext uri="{FF2B5EF4-FFF2-40B4-BE49-F238E27FC236}">
                    <a16:creationId xmlns:a16="http://schemas.microsoft.com/office/drawing/2014/main" id="{1AF19322-FED4-167C-720E-CB1358E235C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54259" y="1637265"/>
                <a:ext cx="270830" cy="2640400"/>
              </a:xfrm>
              <a:prstGeom prst="rect">
                <a:avLst/>
              </a:prstGeom>
            </p:spPr>
          </p:pic>
        </mc:Fallback>
      </mc:AlternateContent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95D206FA-C2A7-8748-C92C-1D898330E7A9}"/>
              </a:ext>
            </a:extLst>
          </p:cNvPr>
          <p:cNvCxnSpPr/>
          <p:nvPr/>
        </p:nvCxnSpPr>
        <p:spPr>
          <a:xfrm>
            <a:off x="8912194" y="2563451"/>
            <a:ext cx="9054" cy="522084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464364D1-FFB7-A229-4D13-A68767DC32EB}"/>
              </a:ext>
            </a:extLst>
          </p:cNvPr>
          <p:cNvCxnSpPr>
            <a:cxnSpLocks/>
          </p:cNvCxnSpPr>
          <p:nvPr/>
        </p:nvCxnSpPr>
        <p:spPr>
          <a:xfrm>
            <a:off x="9749639" y="2563450"/>
            <a:ext cx="9054" cy="522084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730C71B3-F6E1-2F64-99A5-8C0344E11A91}"/>
              </a:ext>
            </a:extLst>
          </p:cNvPr>
          <p:cNvCxnSpPr>
            <a:cxnSpLocks/>
          </p:cNvCxnSpPr>
          <p:nvPr/>
        </p:nvCxnSpPr>
        <p:spPr>
          <a:xfrm>
            <a:off x="8913968" y="3089798"/>
            <a:ext cx="854498" cy="3283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44D9750C-692F-6C3D-3868-9768A2F3BC73}"/>
              </a:ext>
            </a:extLst>
          </p:cNvPr>
          <p:cNvSpPr txBox="1"/>
          <p:nvPr/>
        </p:nvSpPr>
        <p:spPr>
          <a:xfrm>
            <a:off x="7272516" y="2081174"/>
            <a:ext cx="1817798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1000" b="1">
                <a:latin typeface="Calibri"/>
                <a:cs typeface="Times New Roman"/>
              </a:rPr>
              <a:t>CONDOTTA DI MANDATA</a:t>
            </a:r>
          </a:p>
        </p:txBody>
      </p:sp>
    </p:spTree>
    <p:extLst>
      <p:ext uri="{BB962C8B-B14F-4D97-AF65-F5344CB8AC3E}">
        <p14:creationId xmlns:p14="http://schemas.microsoft.com/office/powerpoint/2010/main" val="1541303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IMPIANTO DI SOLLEVAMENTO – Dimensionamento vasca di presa</a:t>
            </a:r>
            <a:endParaRPr lang="it-IT" b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4695" y="2582841"/>
            <a:ext cx="5092351" cy="14847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800">
                <a:latin typeface="Calibri"/>
              </a:rPr>
              <a:t>Noto l’andamento orario delle portate uscenti dalla vasca di presa, abbiamo calcolato ora per ora i volumi cumulati relativi alle portate entranti e uscenti, tramite i quali abbiamo potuto ricavare il volume di compenso Wc della vasca di presa</a:t>
            </a:r>
            <a:endParaRPr lang="it-IT"/>
          </a:p>
          <a:p>
            <a:endParaRPr lang="it-IT" sz="1800">
              <a:latin typeface="Calibri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E31209EE-FA99-8E0E-CFB6-BCE5FCA27B05}"/>
              </a:ext>
            </a:extLst>
          </p:cNvPr>
          <p:cNvSpPr txBox="1"/>
          <p:nvPr/>
        </p:nvSpPr>
        <p:spPr>
          <a:xfrm>
            <a:off x="1813864" y="4156284"/>
            <a:ext cx="176310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>
                <a:cs typeface="Calibri"/>
              </a:rPr>
              <a:t>W</a:t>
            </a:r>
            <a:r>
              <a:rPr lang="it-IT" baseline="-25000">
                <a:cs typeface="Calibri"/>
              </a:rPr>
              <a:t>c</a:t>
            </a:r>
            <a:r>
              <a:rPr lang="it-IT">
                <a:cs typeface="Calibri"/>
              </a:rPr>
              <a:t> = 372,6 m</a:t>
            </a:r>
            <a:r>
              <a:rPr lang="it-IT" baseline="30000">
                <a:cs typeface="Calibri"/>
              </a:rPr>
              <a:t>3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DEB2C67-3AFE-5CBB-B39E-394D49496A02}"/>
              </a:ext>
            </a:extLst>
          </p:cNvPr>
          <p:cNvSpPr txBox="1"/>
          <p:nvPr/>
        </p:nvSpPr>
        <p:spPr>
          <a:xfrm>
            <a:off x="11512187" y="2491505"/>
            <a:ext cx="62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1000"/>
          </a:p>
          <a:p>
            <a:r>
              <a:rPr lang="it-IT" sz="1000"/>
              <a:t>(max)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BADF170-5A36-B698-15D6-22DAFFB55B31}"/>
              </a:ext>
            </a:extLst>
          </p:cNvPr>
          <p:cNvSpPr txBox="1"/>
          <p:nvPr/>
        </p:nvSpPr>
        <p:spPr>
          <a:xfrm>
            <a:off x="11514179" y="5246429"/>
            <a:ext cx="62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1000"/>
          </a:p>
          <a:p>
            <a:r>
              <a:rPr lang="it-IT" sz="1000"/>
              <a:t>(min)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4D44745-9397-CB2D-4A90-63BFD30F51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484" t="40472" r="3984" b="14485"/>
          <a:stretch/>
        </p:blipFill>
        <p:spPr>
          <a:xfrm>
            <a:off x="6016262" y="1473956"/>
            <a:ext cx="5495925" cy="453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45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IMPIANTO DI SOLLEVAMENTO – Dimensionamento vasca di presa</a:t>
            </a:r>
            <a:endParaRPr lang="it-IT" b="0"/>
          </a:p>
        </p:txBody>
      </p:sp>
      <p:pic>
        <p:nvPicPr>
          <p:cNvPr id="4" name="Immagine 4" descr="Immagine che contiene diagramma, testo, linea, Disegno tecnico&#10;&#10;Descrizione generata automaticamente">
            <a:extLst>
              <a:ext uri="{FF2B5EF4-FFF2-40B4-BE49-F238E27FC236}">
                <a16:creationId xmlns:a16="http://schemas.microsoft.com/office/drawing/2014/main" id="{EF6EEEEE-FBE4-C184-B7AB-E8A03C22B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043" y="1598493"/>
            <a:ext cx="4813539" cy="248419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put penna 6">
                <a:extLst>
                  <a:ext uri="{FF2B5EF4-FFF2-40B4-BE49-F238E27FC236}">
                    <a16:creationId xmlns:a16="http://schemas.microsoft.com/office/drawing/2014/main" id="{14D1EA46-9975-B825-3545-400BC6A649AA}"/>
                  </a:ext>
                </a:extLst>
              </p14:cNvPr>
              <p14:cNvContentPartPr/>
              <p14:nvPr/>
            </p14:nvContentPartPr>
            <p14:xfrm>
              <a:off x="9080500" y="2821651"/>
              <a:ext cx="384420" cy="171012"/>
            </p14:xfrm>
          </p:contentPart>
        </mc:Choice>
        <mc:Fallback xmlns="">
          <p:pic>
            <p:nvPicPr>
              <p:cNvPr id="7" name="Input penna 6">
                <a:extLst>
                  <a:ext uri="{FF2B5EF4-FFF2-40B4-BE49-F238E27FC236}">
                    <a16:creationId xmlns:a16="http://schemas.microsoft.com/office/drawing/2014/main" id="{14D1EA46-9975-B825-3545-400BC6A649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17569" y="2758779"/>
                <a:ext cx="509923" cy="296397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0874401-66B5-4CE2-9776-BB45EE5AFBA7}"/>
              </a:ext>
            </a:extLst>
          </p:cNvPr>
          <p:cNvSpPr txBox="1"/>
          <p:nvPr/>
        </p:nvSpPr>
        <p:spPr>
          <a:xfrm>
            <a:off x="8825271" y="3231363"/>
            <a:ext cx="1400855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it-IT" sz="1000" b="1">
                <a:solidFill>
                  <a:srgbClr val="FF0000"/>
                </a:solidFill>
                <a:latin typeface="Calibri"/>
                <a:cs typeface="Times New Roman"/>
              </a:rPr>
              <a:t>VASCA DI PRESA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put penna 11">
                <a:extLst>
                  <a:ext uri="{FF2B5EF4-FFF2-40B4-BE49-F238E27FC236}">
                    <a16:creationId xmlns:a16="http://schemas.microsoft.com/office/drawing/2014/main" id="{E1122333-4CA8-7670-9BA2-1BCBA435CDFA}"/>
                  </a:ext>
                </a:extLst>
              </p14:cNvPr>
              <p14:cNvContentPartPr/>
              <p14:nvPr/>
            </p14:nvContentPartPr>
            <p14:xfrm>
              <a:off x="9234534" y="2995188"/>
              <a:ext cx="7544" cy="7544"/>
            </p14:xfrm>
          </p:contentPart>
        </mc:Choice>
        <mc:Fallback xmlns="">
          <p:pic>
            <p:nvPicPr>
              <p:cNvPr id="12" name="Input penna 11">
                <a:extLst>
                  <a:ext uri="{FF2B5EF4-FFF2-40B4-BE49-F238E27FC236}">
                    <a16:creationId xmlns:a16="http://schemas.microsoft.com/office/drawing/2014/main" id="{E1122333-4CA8-7670-9BA2-1BCBA435CD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4334" y="1674988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A0056270-BC79-19DB-78BE-B1A695ABC774}"/>
                  </a:ext>
                </a:extLst>
              </p14:cNvPr>
              <p14:cNvContentPartPr/>
              <p14:nvPr/>
            </p14:nvContentPartPr>
            <p14:xfrm>
              <a:off x="9234534" y="3010277"/>
              <a:ext cx="7544" cy="7544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A0056270-BC79-19DB-78BE-B1A695ABC7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4334" y="1690077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put penna 14">
                <a:extLst>
                  <a:ext uri="{FF2B5EF4-FFF2-40B4-BE49-F238E27FC236}">
                    <a16:creationId xmlns:a16="http://schemas.microsoft.com/office/drawing/2014/main" id="{E4B9D73F-9CCC-F602-47D3-14FDF38125E9}"/>
                  </a:ext>
                </a:extLst>
              </p14:cNvPr>
              <p14:cNvContentPartPr/>
              <p14:nvPr/>
            </p14:nvContentPartPr>
            <p14:xfrm>
              <a:off x="9329625" y="3002732"/>
              <a:ext cx="7544" cy="7544"/>
            </p14:xfrm>
          </p:contentPart>
        </mc:Choice>
        <mc:Fallback xmlns="">
          <p:pic>
            <p:nvPicPr>
              <p:cNvPr id="15" name="Input penna 14">
                <a:extLst>
                  <a:ext uri="{FF2B5EF4-FFF2-40B4-BE49-F238E27FC236}">
                    <a16:creationId xmlns:a16="http://schemas.microsoft.com/office/drawing/2014/main" id="{E4B9D73F-9CCC-F602-47D3-14FDF38125E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82936" y="1682532"/>
                <a:ext cx="300084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EFFE07CA-2664-7D5C-451E-EB546A3E0A05}"/>
                  </a:ext>
                </a:extLst>
              </p14:cNvPr>
              <p14:cNvContentPartPr/>
              <p14:nvPr/>
            </p14:nvContentPartPr>
            <p14:xfrm>
              <a:off x="9272257" y="3002732"/>
              <a:ext cx="7544" cy="7544"/>
            </p14:xfrm>
          </p:contentPart>
        </mc:Choice>
        <mc:Fallback xmlns=""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EFFE07CA-2664-7D5C-451E-EB546A3E0A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52057" y="1682532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CC71205A-73D2-28FA-D2DB-ED954754E2B0}"/>
                  </a:ext>
                </a:extLst>
              </p14:cNvPr>
              <p14:cNvContentPartPr/>
              <p14:nvPr/>
            </p14:nvContentPartPr>
            <p14:xfrm>
              <a:off x="9332614" y="2980099"/>
              <a:ext cx="7544" cy="7544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CC71205A-73D2-28FA-D2DB-ED954754E2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12414" y="1659899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put penna 18">
                <a:extLst>
                  <a:ext uri="{FF2B5EF4-FFF2-40B4-BE49-F238E27FC236}">
                    <a16:creationId xmlns:a16="http://schemas.microsoft.com/office/drawing/2014/main" id="{709B81A4-D9D6-617D-10CF-02FB99FC7EFE}"/>
                  </a:ext>
                </a:extLst>
              </p14:cNvPr>
              <p14:cNvContentPartPr/>
              <p14:nvPr/>
            </p14:nvContentPartPr>
            <p14:xfrm>
              <a:off x="9332614" y="2956780"/>
              <a:ext cx="7544" cy="15774"/>
            </p14:xfrm>
          </p:contentPart>
        </mc:Choice>
        <mc:Fallback xmlns="">
          <p:pic>
            <p:nvPicPr>
              <p:cNvPr id="19" name="Input penna 18">
                <a:extLst>
                  <a:ext uri="{FF2B5EF4-FFF2-40B4-BE49-F238E27FC236}">
                    <a16:creationId xmlns:a16="http://schemas.microsoft.com/office/drawing/2014/main" id="{709B81A4-D9D6-617D-10CF-02FB99FC7EF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31060" y="2895437"/>
                <a:ext cx="210071" cy="138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put penna 19">
                <a:extLst>
                  <a:ext uri="{FF2B5EF4-FFF2-40B4-BE49-F238E27FC236}">
                    <a16:creationId xmlns:a16="http://schemas.microsoft.com/office/drawing/2014/main" id="{BF220F37-6F9A-A07F-0FEB-3FC2D6E885FC}"/>
                  </a:ext>
                </a:extLst>
              </p14:cNvPr>
              <p14:cNvContentPartPr/>
              <p14:nvPr/>
            </p14:nvContentPartPr>
            <p14:xfrm>
              <a:off x="9340158" y="2949921"/>
              <a:ext cx="7604" cy="7544"/>
            </p14:xfrm>
          </p:contentPart>
        </mc:Choice>
        <mc:Fallback xmlns="">
          <p:pic>
            <p:nvPicPr>
              <p:cNvPr id="20" name="Input penna 19">
                <a:extLst>
                  <a:ext uri="{FF2B5EF4-FFF2-40B4-BE49-F238E27FC236}">
                    <a16:creationId xmlns:a16="http://schemas.microsoft.com/office/drawing/2014/main" id="{BF220F37-6F9A-A07F-0FEB-3FC2D6E885F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79672" y="1629721"/>
                <a:ext cx="128231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Input penna 20">
                <a:extLst>
                  <a:ext uri="{FF2B5EF4-FFF2-40B4-BE49-F238E27FC236}">
                    <a16:creationId xmlns:a16="http://schemas.microsoft.com/office/drawing/2014/main" id="{B86C49DD-B149-3DBD-18ED-A2B789CF9494}"/>
                  </a:ext>
                </a:extLst>
              </p14:cNvPr>
              <p14:cNvContentPartPr/>
              <p14:nvPr/>
            </p14:nvContentPartPr>
            <p14:xfrm>
              <a:off x="9370336" y="2949921"/>
              <a:ext cx="7544" cy="7544"/>
            </p14:xfrm>
          </p:contentPart>
        </mc:Choice>
        <mc:Fallback xmlns="">
          <p:pic>
            <p:nvPicPr>
              <p:cNvPr id="21" name="Input penna 20">
                <a:extLst>
                  <a:ext uri="{FF2B5EF4-FFF2-40B4-BE49-F238E27FC236}">
                    <a16:creationId xmlns:a16="http://schemas.microsoft.com/office/drawing/2014/main" id="{B86C49DD-B149-3DBD-18ED-A2B789CF94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50136" y="1629721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2" name="Input penna 21">
                <a:extLst>
                  <a:ext uri="{FF2B5EF4-FFF2-40B4-BE49-F238E27FC236}">
                    <a16:creationId xmlns:a16="http://schemas.microsoft.com/office/drawing/2014/main" id="{60B85036-8D54-1C42-68BB-2651D0EB107B}"/>
                  </a:ext>
                </a:extLst>
              </p14:cNvPr>
              <p14:cNvContentPartPr/>
              <p14:nvPr/>
            </p14:nvContentPartPr>
            <p14:xfrm>
              <a:off x="9349946" y="2949921"/>
              <a:ext cx="20389" cy="7544"/>
            </p14:xfrm>
          </p:contentPart>
        </mc:Choice>
        <mc:Fallback xmlns="">
          <p:pic>
            <p:nvPicPr>
              <p:cNvPr id="22" name="Input penna 21">
                <a:extLst>
                  <a:ext uri="{FF2B5EF4-FFF2-40B4-BE49-F238E27FC236}">
                    <a16:creationId xmlns:a16="http://schemas.microsoft.com/office/drawing/2014/main" id="{60B85036-8D54-1C42-68BB-2651D0EB107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288427" y="2889912"/>
                <a:ext cx="143075" cy="127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put penna 22">
                <a:extLst>
                  <a:ext uri="{FF2B5EF4-FFF2-40B4-BE49-F238E27FC236}">
                    <a16:creationId xmlns:a16="http://schemas.microsoft.com/office/drawing/2014/main" id="{1CEB40F6-D3D5-7CCB-1BF7-5FC61C05A55A}"/>
                  </a:ext>
                </a:extLst>
              </p14:cNvPr>
              <p14:cNvContentPartPr/>
              <p14:nvPr/>
            </p14:nvContentPartPr>
            <p14:xfrm>
              <a:off x="9227557" y="2957465"/>
              <a:ext cx="74877" cy="7544"/>
            </p14:xfrm>
          </p:contentPart>
        </mc:Choice>
        <mc:Fallback xmlns="">
          <p:pic>
            <p:nvPicPr>
              <p:cNvPr id="23" name="Input penna 22">
                <a:extLst>
                  <a:ext uri="{FF2B5EF4-FFF2-40B4-BE49-F238E27FC236}">
                    <a16:creationId xmlns:a16="http://schemas.microsoft.com/office/drawing/2014/main" id="{1CEB40F6-D3D5-7CCB-1BF7-5FC61C05A55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164861" y="1637265"/>
                <a:ext cx="199911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" name="Input penna 23">
                <a:extLst>
                  <a:ext uri="{FF2B5EF4-FFF2-40B4-BE49-F238E27FC236}">
                    <a16:creationId xmlns:a16="http://schemas.microsoft.com/office/drawing/2014/main" id="{6102291C-57E2-8A21-F84C-0E108F943354}"/>
                  </a:ext>
                </a:extLst>
              </p14:cNvPr>
              <p14:cNvContentPartPr/>
              <p14:nvPr/>
            </p14:nvContentPartPr>
            <p14:xfrm>
              <a:off x="9211901" y="2957465"/>
              <a:ext cx="7544" cy="7544"/>
            </p14:xfrm>
          </p:contentPart>
        </mc:Choice>
        <mc:Fallback xmlns="">
          <p:pic>
            <p:nvPicPr>
              <p:cNvPr id="24" name="Input penna 23">
                <a:extLst>
                  <a:ext uri="{FF2B5EF4-FFF2-40B4-BE49-F238E27FC236}">
                    <a16:creationId xmlns:a16="http://schemas.microsoft.com/office/drawing/2014/main" id="{6102291C-57E2-8A21-F84C-0E108F9433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91701" y="1637265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Input penna 25">
                <a:extLst>
                  <a:ext uri="{FF2B5EF4-FFF2-40B4-BE49-F238E27FC236}">
                    <a16:creationId xmlns:a16="http://schemas.microsoft.com/office/drawing/2014/main" id="{79E5A493-F383-523D-3B8E-94471731989C}"/>
                  </a:ext>
                </a:extLst>
              </p14:cNvPr>
              <p14:cNvContentPartPr/>
              <p14:nvPr/>
            </p14:nvContentPartPr>
            <p14:xfrm>
              <a:off x="9186279" y="2957465"/>
              <a:ext cx="7544" cy="7544"/>
            </p14:xfrm>
          </p:contentPart>
        </mc:Choice>
        <mc:Fallback xmlns="">
          <p:pic>
            <p:nvPicPr>
              <p:cNvPr id="26" name="Input penna 25">
                <a:extLst>
                  <a:ext uri="{FF2B5EF4-FFF2-40B4-BE49-F238E27FC236}">
                    <a16:creationId xmlns:a16="http://schemas.microsoft.com/office/drawing/2014/main" id="{79E5A493-F383-523D-3B8E-94471731989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54259" y="1637265"/>
                <a:ext cx="270830" cy="2640400"/>
              </a:xfrm>
              <a:prstGeom prst="rect">
                <a:avLst/>
              </a:prstGeom>
            </p:spPr>
          </p:pic>
        </mc:Fallback>
      </mc:AlternateContent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F9F3BB66-5994-183A-9C3F-CF177F7F7277}"/>
              </a:ext>
            </a:extLst>
          </p:cNvPr>
          <p:cNvCxnSpPr/>
          <p:nvPr/>
        </p:nvCxnSpPr>
        <p:spPr>
          <a:xfrm>
            <a:off x="8912194" y="2563451"/>
            <a:ext cx="9054" cy="522084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A3D976A3-49DF-EADF-37DA-A976531EA6A8}"/>
              </a:ext>
            </a:extLst>
          </p:cNvPr>
          <p:cNvCxnSpPr>
            <a:cxnSpLocks/>
          </p:cNvCxnSpPr>
          <p:nvPr/>
        </p:nvCxnSpPr>
        <p:spPr>
          <a:xfrm>
            <a:off x="9749639" y="2563450"/>
            <a:ext cx="9054" cy="522084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FB5BA084-695F-12C6-871A-3ACFAF02F649}"/>
              </a:ext>
            </a:extLst>
          </p:cNvPr>
          <p:cNvCxnSpPr>
            <a:cxnSpLocks/>
          </p:cNvCxnSpPr>
          <p:nvPr/>
        </p:nvCxnSpPr>
        <p:spPr>
          <a:xfrm>
            <a:off x="8913968" y="3089798"/>
            <a:ext cx="854498" cy="3283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18BFF6A-18ED-2DBC-752E-6F3B891B3ED3}"/>
              </a:ext>
            </a:extLst>
          </p:cNvPr>
          <p:cNvSpPr txBox="1"/>
          <p:nvPr/>
        </p:nvSpPr>
        <p:spPr>
          <a:xfrm>
            <a:off x="7272516" y="2081174"/>
            <a:ext cx="1817798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1000" b="1">
                <a:latin typeface="Calibri"/>
                <a:cs typeface="Times New Roman"/>
              </a:rPr>
              <a:t>CONDOTTA DI MANDATA</a:t>
            </a:r>
          </a:p>
        </p:txBody>
      </p:sp>
      <p:pic>
        <p:nvPicPr>
          <p:cNvPr id="33" name="Immagine 33" descr="Immagine che contiene testo, Carattere, bianco, Elementi grafici&#10;&#10;Descrizione generata automaticamente">
            <a:extLst>
              <a:ext uri="{FF2B5EF4-FFF2-40B4-BE49-F238E27FC236}">
                <a16:creationId xmlns:a16="http://schemas.microsoft.com/office/drawing/2014/main" id="{4262FC6C-519A-5EBD-4D06-A6C387EFFA7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95820" y="2957250"/>
            <a:ext cx="2200993" cy="628650"/>
          </a:xfrm>
          <a:prstGeom prst="rect">
            <a:avLst/>
          </a:prstGeom>
        </p:spPr>
      </p:pic>
      <p:pic>
        <p:nvPicPr>
          <p:cNvPr id="34" name="Immagine 34" descr="Immagine che contiene Carattere, testo, bianco, Elementi grafici&#10;&#10;Descrizione generata automaticamente">
            <a:extLst>
              <a:ext uri="{FF2B5EF4-FFF2-40B4-BE49-F238E27FC236}">
                <a16:creationId xmlns:a16="http://schemas.microsoft.com/office/drawing/2014/main" id="{623FAF59-60D0-EDC5-C08B-0C012EFDDD0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1051" y="2956982"/>
            <a:ext cx="2321583" cy="629189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7B2FE861-3BB3-F8A4-3765-8345E7F4EA4B}"/>
              </a:ext>
            </a:extLst>
          </p:cNvPr>
          <p:cNvSpPr txBox="1"/>
          <p:nvPr/>
        </p:nvSpPr>
        <p:spPr>
          <a:xfrm>
            <a:off x="536964" y="2173272"/>
            <a:ext cx="5106463" cy="12557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it-IT">
                <a:cs typeface="Calibri"/>
              </a:rPr>
              <a:t>Abbiamo poi calcolato il volume di clorazione e il volume di riserva utilizzando le seguenti formule:</a:t>
            </a:r>
            <a:endParaRPr lang="en-US">
              <a:cs typeface="Calibri"/>
            </a:endParaRPr>
          </a:p>
          <a:p>
            <a:pPr>
              <a:spcBef>
                <a:spcPct val="20000"/>
              </a:spcBef>
            </a:pPr>
            <a:endParaRPr lang="it-IT">
              <a:cs typeface="Calibri"/>
            </a:endParaRPr>
          </a:p>
          <a:p>
            <a:pPr algn="l"/>
            <a:endParaRPr lang="it-IT">
              <a:cs typeface="Calibri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E31209EE-FA99-8E0E-CFB6-BCE5FCA27B05}"/>
              </a:ext>
            </a:extLst>
          </p:cNvPr>
          <p:cNvSpPr txBox="1"/>
          <p:nvPr/>
        </p:nvSpPr>
        <p:spPr>
          <a:xfrm>
            <a:off x="2079714" y="4823163"/>
            <a:ext cx="176310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>
                <a:cs typeface="Calibri"/>
              </a:rPr>
              <a:t>W</a:t>
            </a:r>
            <a:r>
              <a:rPr lang="it-IT" baseline="-25000">
                <a:cs typeface="Calibri"/>
              </a:rPr>
              <a:t>c</a:t>
            </a:r>
            <a:r>
              <a:rPr lang="it-IT">
                <a:cs typeface="Calibri"/>
              </a:rPr>
              <a:t> = 372,6 m</a:t>
            </a:r>
            <a:r>
              <a:rPr lang="it-IT" baseline="30000">
                <a:cs typeface="Calibri"/>
              </a:rPr>
              <a:t>3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5449444F-D6CF-2563-933B-D5AEAAE5D5B9}"/>
              </a:ext>
            </a:extLst>
          </p:cNvPr>
          <p:cNvSpPr txBox="1"/>
          <p:nvPr/>
        </p:nvSpPr>
        <p:spPr>
          <a:xfrm>
            <a:off x="814820" y="3835731"/>
            <a:ext cx="176310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err="1">
                <a:cs typeface="Calibri"/>
              </a:rPr>
              <a:t>W</a:t>
            </a:r>
            <a:r>
              <a:rPr lang="it-IT" baseline="-25000" err="1">
                <a:cs typeface="Calibri"/>
              </a:rPr>
              <a:t>cl</a:t>
            </a:r>
            <a:r>
              <a:rPr lang="it-IT">
                <a:cs typeface="Calibri"/>
              </a:rPr>
              <a:t> = 74,52 m</a:t>
            </a:r>
            <a:r>
              <a:rPr lang="it-IT" baseline="30000">
                <a:cs typeface="Calibri"/>
              </a:rPr>
              <a:t>3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09FE996B-B4FB-C4F6-1D80-9FD9FA71393E}"/>
              </a:ext>
            </a:extLst>
          </p:cNvPr>
          <p:cNvSpPr txBox="1"/>
          <p:nvPr/>
        </p:nvSpPr>
        <p:spPr>
          <a:xfrm>
            <a:off x="3330858" y="3835731"/>
            <a:ext cx="176310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err="1">
                <a:cs typeface="Calibri"/>
              </a:rPr>
              <a:t>W</a:t>
            </a:r>
            <a:r>
              <a:rPr lang="it-IT" baseline="-25000" err="1">
                <a:cs typeface="Calibri"/>
              </a:rPr>
              <a:t>ris</a:t>
            </a:r>
            <a:r>
              <a:rPr lang="it-IT">
                <a:cs typeface="Calibri"/>
              </a:rPr>
              <a:t> = 290.88 m</a:t>
            </a:r>
            <a:r>
              <a:rPr lang="it-IT" baseline="30000">
                <a:cs typeface="Calibri"/>
              </a:rPr>
              <a:t>3</a:t>
            </a:r>
          </a:p>
        </p:txBody>
      </p:sp>
      <p:pic>
        <p:nvPicPr>
          <p:cNvPr id="40" name="Immagine 40">
            <a:extLst>
              <a:ext uri="{FF2B5EF4-FFF2-40B4-BE49-F238E27FC236}">
                <a16:creationId xmlns:a16="http://schemas.microsoft.com/office/drawing/2014/main" id="{A2B1AC5A-2DE0-66E1-D790-EA2AD8078AA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39357" y="4963874"/>
            <a:ext cx="2495550" cy="409575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368A215C-F4DD-1605-E3BC-73D42F490CF0}"/>
              </a:ext>
            </a:extLst>
          </p:cNvPr>
          <p:cNvSpPr txBox="1"/>
          <p:nvPr/>
        </p:nvSpPr>
        <p:spPr>
          <a:xfrm>
            <a:off x="7094913" y="4214129"/>
            <a:ext cx="456012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it-IT">
                <a:cs typeface="Calibri"/>
              </a:rPr>
              <a:t>Infine, abbiamo scelto il volume della vasca secondo il seguente criterio:</a:t>
            </a:r>
            <a:endParaRPr lang="it-IT"/>
          </a:p>
          <a:p>
            <a:pPr algn="l"/>
            <a:endParaRPr lang="it-IT">
              <a:cs typeface="Calibri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E627E19-0238-042A-BF68-5864C3D300E9}"/>
              </a:ext>
            </a:extLst>
          </p:cNvPr>
          <p:cNvSpPr txBox="1"/>
          <p:nvPr/>
        </p:nvSpPr>
        <p:spPr>
          <a:xfrm>
            <a:off x="8307298" y="5617796"/>
            <a:ext cx="176310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b="1" u="sng">
                <a:cs typeface="Calibri"/>
              </a:rPr>
              <a:t>W = 670,68 m</a:t>
            </a:r>
            <a:r>
              <a:rPr lang="it-IT" b="1" u="sng" baseline="30000"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23145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put penna 16">
                <a:extLst>
                  <a:ext uri="{FF2B5EF4-FFF2-40B4-BE49-F238E27FC236}">
                    <a16:creationId xmlns:a16="http://schemas.microsoft.com/office/drawing/2014/main" id="{2D1CE1AA-0FDC-A85E-0DB3-BE18874302EE}"/>
                  </a:ext>
                </a:extLst>
              </p14:cNvPr>
              <p14:cNvContentPartPr/>
              <p14:nvPr/>
            </p14:nvContentPartPr>
            <p14:xfrm>
              <a:off x="7295136" y="2575278"/>
              <a:ext cx="21995" cy="909648"/>
            </p14:xfrm>
          </p:contentPart>
        </mc:Choice>
        <mc:Fallback xmlns="">
          <p:pic>
            <p:nvPicPr>
              <p:cNvPr id="17" name="Input penna 16">
                <a:extLst>
                  <a:ext uri="{FF2B5EF4-FFF2-40B4-BE49-F238E27FC236}">
                    <a16:creationId xmlns:a16="http://schemas.microsoft.com/office/drawing/2014/main" id="{2D1CE1AA-0FDC-A85E-0DB3-BE18874302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59660" y="2539295"/>
                <a:ext cx="92592" cy="981254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IMPIANTO DI SOLLEVAMENTO – Dimensionamento condotta di mandata</a:t>
            </a:r>
            <a:endParaRPr lang="it-IT" b="0"/>
          </a:p>
        </p:txBody>
      </p:sp>
      <p:pic>
        <p:nvPicPr>
          <p:cNvPr id="4" name="Immagine 4" descr="Immagine che contiene diagramma, testo, linea, Disegno tecnico&#10;&#10;Descrizione generata automaticamente">
            <a:extLst>
              <a:ext uri="{FF2B5EF4-FFF2-40B4-BE49-F238E27FC236}">
                <a16:creationId xmlns:a16="http://schemas.microsoft.com/office/drawing/2014/main" id="{EF6EEEEE-FBE4-C184-B7AB-E8A03C22B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043" y="1598493"/>
            <a:ext cx="4813539" cy="248419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put penna 6">
                <a:extLst>
                  <a:ext uri="{FF2B5EF4-FFF2-40B4-BE49-F238E27FC236}">
                    <a16:creationId xmlns:a16="http://schemas.microsoft.com/office/drawing/2014/main" id="{14D1EA46-9975-B825-3545-400BC6A649AA}"/>
                  </a:ext>
                </a:extLst>
              </p14:cNvPr>
              <p14:cNvContentPartPr/>
              <p14:nvPr/>
            </p14:nvContentPartPr>
            <p14:xfrm>
              <a:off x="9080500" y="2821651"/>
              <a:ext cx="384420" cy="171012"/>
            </p14:xfrm>
          </p:contentPart>
        </mc:Choice>
        <mc:Fallback xmlns="">
          <p:pic>
            <p:nvPicPr>
              <p:cNvPr id="7" name="Input penna 6">
                <a:extLst>
                  <a:ext uri="{FF2B5EF4-FFF2-40B4-BE49-F238E27FC236}">
                    <a16:creationId xmlns:a16="http://schemas.microsoft.com/office/drawing/2014/main" id="{14D1EA46-9975-B825-3545-400BC6A649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17569" y="2758779"/>
                <a:ext cx="509923" cy="296397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0874401-66B5-4CE2-9776-BB45EE5AFBA7}"/>
              </a:ext>
            </a:extLst>
          </p:cNvPr>
          <p:cNvSpPr txBox="1"/>
          <p:nvPr/>
        </p:nvSpPr>
        <p:spPr>
          <a:xfrm>
            <a:off x="8825271" y="3231363"/>
            <a:ext cx="1400855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it-IT" sz="1000" b="1">
                <a:solidFill>
                  <a:srgbClr val="262626"/>
                </a:solidFill>
                <a:latin typeface="Calibri"/>
                <a:cs typeface="Times New Roman"/>
              </a:rPr>
              <a:t>VASCA DI PRESA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put penna 11">
                <a:extLst>
                  <a:ext uri="{FF2B5EF4-FFF2-40B4-BE49-F238E27FC236}">
                    <a16:creationId xmlns:a16="http://schemas.microsoft.com/office/drawing/2014/main" id="{E1122333-4CA8-7670-9BA2-1BCBA435CDFA}"/>
                  </a:ext>
                </a:extLst>
              </p14:cNvPr>
              <p14:cNvContentPartPr/>
              <p14:nvPr/>
            </p14:nvContentPartPr>
            <p14:xfrm>
              <a:off x="9234534" y="2995188"/>
              <a:ext cx="7544" cy="7544"/>
            </p14:xfrm>
          </p:contentPart>
        </mc:Choice>
        <mc:Fallback xmlns="">
          <p:pic>
            <p:nvPicPr>
              <p:cNvPr id="12" name="Input penna 11">
                <a:extLst>
                  <a:ext uri="{FF2B5EF4-FFF2-40B4-BE49-F238E27FC236}">
                    <a16:creationId xmlns:a16="http://schemas.microsoft.com/office/drawing/2014/main" id="{E1122333-4CA8-7670-9BA2-1BCBA435CD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14334" y="1674988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A0056270-BC79-19DB-78BE-B1A695ABC774}"/>
                  </a:ext>
                </a:extLst>
              </p14:cNvPr>
              <p14:cNvContentPartPr/>
              <p14:nvPr/>
            </p14:nvContentPartPr>
            <p14:xfrm>
              <a:off x="9234534" y="3010277"/>
              <a:ext cx="7544" cy="7544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A0056270-BC79-19DB-78BE-B1A695ABC77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14334" y="1690077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put penna 14">
                <a:extLst>
                  <a:ext uri="{FF2B5EF4-FFF2-40B4-BE49-F238E27FC236}">
                    <a16:creationId xmlns:a16="http://schemas.microsoft.com/office/drawing/2014/main" id="{E4B9D73F-9CCC-F602-47D3-14FDF38125E9}"/>
                  </a:ext>
                </a:extLst>
              </p14:cNvPr>
              <p14:cNvContentPartPr/>
              <p14:nvPr/>
            </p14:nvContentPartPr>
            <p14:xfrm>
              <a:off x="9329625" y="3002732"/>
              <a:ext cx="7544" cy="7544"/>
            </p14:xfrm>
          </p:contentPart>
        </mc:Choice>
        <mc:Fallback xmlns="">
          <p:pic>
            <p:nvPicPr>
              <p:cNvPr id="15" name="Input penna 14">
                <a:extLst>
                  <a:ext uri="{FF2B5EF4-FFF2-40B4-BE49-F238E27FC236}">
                    <a16:creationId xmlns:a16="http://schemas.microsoft.com/office/drawing/2014/main" id="{E4B9D73F-9CCC-F602-47D3-14FDF38125E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2936" y="1682532"/>
                <a:ext cx="300084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EFFE07CA-2664-7D5C-451E-EB546A3E0A05}"/>
                  </a:ext>
                </a:extLst>
              </p14:cNvPr>
              <p14:cNvContentPartPr/>
              <p14:nvPr/>
            </p14:nvContentPartPr>
            <p14:xfrm>
              <a:off x="9272257" y="3002732"/>
              <a:ext cx="7544" cy="7544"/>
            </p14:xfrm>
          </p:contentPart>
        </mc:Choice>
        <mc:Fallback xmlns=""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EFFE07CA-2664-7D5C-451E-EB546A3E0A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52057" y="1682532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CC71205A-73D2-28FA-D2DB-ED954754E2B0}"/>
                  </a:ext>
                </a:extLst>
              </p14:cNvPr>
              <p14:cNvContentPartPr/>
              <p14:nvPr/>
            </p14:nvContentPartPr>
            <p14:xfrm>
              <a:off x="9332614" y="2980099"/>
              <a:ext cx="7544" cy="7544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CC71205A-73D2-28FA-D2DB-ED954754E2B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12414" y="1659899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put penna 18">
                <a:extLst>
                  <a:ext uri="{FF2B5EF4-FFF2-40B4-BE49-F238E27FC236}">
                    <a16:creationId xmlns:a16="http://schemas.microsoft.com/office/drawing/2014/main" id="{709B81A4-D9D6-617D-10CF-02FB99FC7EFE}"/>
                  </a:ext>
                </a:extLst>
              </p14:cNvPr>
              <p14:cNvContentPartPr/>
              <p14:nvPr/>
            </p14:nvContentPartPr>
            <p14:xfrm>
              <a:off x="9332614" y="2956780"/>
              <a:ext cx="7544" cy="15774"/>
            </p14:xfrm>
          </p:contentPart>
        </mc:Choice>
        <mc:Fallback xmlns="">
          <p:pic>
            <p:nvPicPr>
              <p:cNvPr id="19" name="Input penna 18">
                <a:extLst>
                  <a:ext uri="{FF2B5EF4-FFF2-40B4-BE49-F238E27FC236}">
                    <a16:creationId xmlns:a16="http://schemas.microsoft.com/office/drawing/2014/main" id="{709B81A4-D9D6-617D-10CF-02FB99FC7E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31060" y="2895437"/>
                <a:ext cx="210071" cy="138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put penna 19">
                <a:extLst>
                  <a:ext uri="{FF2B5EF4-FFF2-40B4-BE49-F238E27FC236}">
                    <a16:creationId xmlns:a16="http://schemas.microsoft.com/office/drawing/2014/main" id="{BF220F37-6F9A-A07F-0FEB-3FC2D6E885FC}"/>
                  </a:ext>
                </a:extLst>
              </p14:cNvPr>
              <p14:cNvContentPartPr/>
              <p14:nvPr/>
            </p14:nvContentPartPr>
            <p14:xfrm>
              <a:off x="9340158" y="2949921"/>
              <a:ext cx="7604" cy="7544"/>
            </p14:xfrm>
          </p:contentPart>
        </mc:Choice>
        <mc:Fallback xmlns="">
          <p:pic>
            <p:nvPicPr>
              <p:cNvPr id="20" name="Input penna 19">
                <a:extLst>
                  <a:ext uri="{FF2B5EF4-FFF2-40B4-BE49-F238E27FC236}">
                    <a16:creationId xmlns:a16="http://schemas.microsoft.com/office/drawing/2014/main" id="{BF220F37-6F9A-A07F-0FEB-3FC2D6E885F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79672" y="1629721"/>
                <a:ext cx="128231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put penna 20">
                <a:extLst>
                  <a:ext uri="{FF2B5EF4-FFF2-40B4-BE49-F238E27FC236}">
                    <a16:creationId xmlns:a16="http://schemas.microsoft.com/office/drawing/2014/main" id="{B86C49DD-B149-3DBD-18ED-A2B789CF9494}"/>
                  </a:ext>
                </a:extLst>
              </p14:cNvPr>
              <p14:cNvContentPartPr/>
              <p14:nvPr/>
            </p14:nvContentPartPr>
            <p14:xfrm>
              <a:off x="9370336" y="2949921"/>
              <a:ext cx="7544" cy="7544"/>
            </p14:xfrm>
          </p:contentPart>
        </mc:Choice>
        <mc:Fallback xmlns="">
          <p:pic>
            <p:nvPicPr>
              <p:cNvPr id="21" name="Input penna 20">
                <a:extLst>
                  <a:ext uri="{FF2B5EF4-FFF2-40B4-BE49-F238E27FC236}">
                    <a16:creationId xmlns:a16="http://schemas.microsoft.com/office/drawing/2014/main" id="{B86C49DD-B149-3DBD-18ED-A2B789CF94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50136" y="1629721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put penna 21">
                <a:extLst>
                  <a:ext uri="{FF2B5EF4-FFF2-40B4-BE49-F238E27FC236}">
                    <a16:creationId xmlns:a16="http://schemas.microsoft.com/office/drawing/2014/main" id="{60B85036-8D54-1C42-68BB-2651D0EB107B}"/>
                  </a:ext>
                </a:extLst>
              </p14:cNvPr>
              <p14:cNvContentPartPr/>
              <p14:nvPr/>
            </p14:nvContentPartPr>
            <p14:xfrm>
              <a:off x="9349946" y="2949921"/>
              <a:ext cx="20389" cy="7544"/>
            </p14:xfrm>
          </p:contentPart>
        </mc:Choice>
        <mc:Fallback xmlns="">
          <p:pic>
            <p:nvPicPr>
              <p:cNvPr id="22" name="Input penna 21">
                <a:extLst>
                  <a:ext uri="{FF2B5EF4-FFF2-40B4-BE49-F238E27FC236}">
                    <a16:creationId xmlns:a16="http://schemas.microsoft.com/office/drawing/2014/main" id="{60B85036-8D54-1C42-68BB-2651D0EB107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288427" y="2889912"/>
                <a:ext cx="143075" cy="127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3" name="Input penna 22">
                <a:extLst>
                  <a:ext uri="{FF2B5EF4-FFF2-40B4-BE49-F238E27FC236}">
                    <a16:creationId xmlns:a16="http://schemas.microsoft.com/office/drawing/2014/main" id="{1CEB40F6-D3D5-7CCB-1BF7-5FC61C05A55A}"/>
                  </a:ext>
                </a:extLst>
              </p14:cNvPr>
              <p14:cNvContentPartPr/>
              <p14:nvPr/>
            </p14:nvContentPartPr>
            <p14:xfrm>
              <a:off x="9227557" y="2957465"/>
              <a:ext cx="74877" cy="7544"/>
            </p14:xfrm>
          </p:contentPart>
        </mc:Choice>
        <mc:Fallback xmlns="">
          <p:pic>
            <p:nvPicPr>
              <p:cNvPr id="23" name="Input penna 22">
                <a:extLst>
                  <a:ext uri="{FF2B5EF4-FFF2-40B4-BE49-F238E27FC236}">
                    <a16:creationId xmlns:a16="http://schemas.microsoft.com/office/drawing/2014/main" id="{1CEB40F6-D3D5-7CCB-1BF7-5FC61C05A55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164861" y="1637265"/>
                <a:ext cx="199911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4" name="Input penna 23">
                <a:extLst>
                  <a:ext uri="{FF2B5EF4-FFF2-40B4-BE49-F238E27FC236}">
                    <a16:creationId xmlns:a16="http://schemas.microsoft.com/office/drawing/2014/main" id="{6102291C-57E2-8A21-F84C-0E108F943354}"/>
                  </a:ext>
                </a:extLst>
              </p14:cNvPr>
              <p14:cNvContentPartPr/>
              <p14:nvPr/>
            </p14:nvContentPartPr>
            <p14:xfrm>
              <a:off x="9211901" y="2957465"/>
              <a:ext cx="7544" cy="7544"/>
            </p14:xfrm>
          </p:contentPart>
        </mc:Choice>
        <mc:Fallback xmlns="">
          <p:pic>
            <p:nvPicPr>
              <p:cNvPr id="24" name="Input penna 23">
                <a:extLst>
                  <a:ext uri="{FF2B5EF4-FFF2-40B4-BE49-F238E27FC236}">
                    <a16:creationId xmlns:a16="http://schemas.microsoft.com/office/drawing/2014/main" id="{6102291C-57E2-8A21-F84C-0E108F9433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91701" y="1637265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Input penna 25">
                <a:extLst>
                  <a:ext uri="{FF2B5EF4-FFF2-40B4-BE49-F238E27FC236}">
                    <a16:creationId xmlns:a16="http://schemas.microsoft.com/office/drawing/2014/main" id="{79E5A493-F383-523D-3B8E-94471731989C}"/>
                  </a:ext>
                </a:extLst>
              </p14:cNvPr>
              <p14:cNvContentPartPr/>
              <p14:nvPr/>
            </p14:nvContentPartPr>
            <p14:xfrm>
              <a:off x="9186279" y="2957465"/>
              <a:ext cx="7544" cy="7544"/>
            </p14:xfrm>
          </p:contentPart>
        </mc:Choice>
        <mc:Fallback xmlns="">
          <p:pic>
            <p:nvPicPr>
              <p:cNvPr id="26" name="Input penna 25">
                <a:extLst>
                  <a:ext uri="{FF2B5EF4-FFF2-40B4-BE49-F238E27FC236}">
                    <a16:creationId xmlns:a16="http://schemas.microsoft.com/office/drawing/2014/main" id="{79E5A493-F383-523D-3B8E-94471731989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54259" y="1637265"/>
                <a:ext cx="270830" cy="2640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3E11281A-1F53-093A-3FEA-413A8364A242}"/>
              </a:ext>
            </a:extLst>
          </p:cNvPr>
          <p:cNvSpPr txBox="1"/>
          <p:nvPr/>
        </p:nvSpPr>
        <p:spPr>
          <a:xfrm>
            <a:off x="7272516" y="2081174"/>
            <a:ext cx="1817798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1000" b="1">
                <a:solidFill>
                  <a:srgbClr val="00B050"/>
                </a:solidFill>
                <a:latin typeface="Calibri"/>
                <a:cs typeface="Times New Roman"/>
              </a:rPr>
              <a:t>CONDOTTA DI MANDATA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" name="Input penna 10">
                <a:extLst>
                  <a:ext uri="{FF2B5EF4-FFF2-40B4-BE49-F238E27FC236}">
                    <a16:creationId xmlns:a16="http://schemas.microsoft.com/office/drawing/2014/main" id="{AFD70F5F-8D69-1100-F36C-06DD1AA69D5D}"/>
                  </a:ext>
                </a:extLst>
              </p14:cNvPr>
              <p14:cNvContentPartPr/>
              <p14:nvPr/>
            </p14:nvContentPartPr>
            <p14:xfrm>
              <a:off x="7279541" y="2614342"/>
              <a:ext cx="35457" cy="1099097"/>
            </p14:xfrm>
          </p:contentPart>
        </mc:Choice>
        <mc:Fallback xmlns="">
          <p:pic>
            <p:nvPicPr>
              <p:cNvPr id="11" name="Input penna 10">
                <a:extLst>
                  <a:ext uri="{FF2B5EF4-FFF2-40B4-BE49-F238E27FC236}">
                    <a16:creationId xmlns:a16="http://schemas.microsoft.com/office/drawing/2014/main" id="{AFD70F5F-8D69-1100-F36C-06DD1AA69D5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61812" y="2596348"/>
                <a:ext cx="70559" cy="11347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B2C692C1-84BC-A35C-B3DE-C985536145FA}"/>
                  </a:ext>
                </a:extLst>
              </p14:cNvPr>
              <p14:cNvContentPartPr/>
              <p14:nvPr/>
            </p14:nvContentPartPr>
            <p14:xfrm>
              <a:off x="7309555" y="2575277"/>
              <a:ext cx="7055" cy="7055"/>
            </p14:xfrm>
          </p:contentPart>
        </mc:Choice>
        <mc:Fallback xmlns=""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B2C692C1-84BC-A35C-B3DE-C985536145F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604055" y="1869777"/>
                <a:ext cx="1411000" cy="14110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30E6907F-C20F-68C5-4884-BE671B22594E}"/>
              </a:ext>
            </a:extLst>
          </p:cNvPr>
          <p:cNvCxnSpPr/>
          <p:nvPr/>
        </p:nvCxnSpPr>
        <p:spPr>
          <a:xfrm>
            <a:off x="7305141" y="2544181"/>
            <a:ext cx="2352" cy="1088119"/>
          </a:xfrm>
          <a:prstGeom prst="straightConnector1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DFDE56F8-677B-7C4B-4694-F08CCC1EA638}"/>
              </a:ext>
            </a:extLst>
          </p:cNvPr>
          <p:cNvCxnSpPr>
            <a:cxnSpLocks/>
          </p:cNvCxnSpPr>
          <p:nvPr/>
        </p:nvCxnSpPr>
        <p:spPr>
          <a:xfrm flipV="1">
            <a:off x="7293918" y="2543766"/>
            <a:ext cx="464290" cy="4673"/>
          </a:xfrm>
          <a:prstGeom prst="straightConnector1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45A3A0F3-0A65-1922-A054-DB942B343E19}"/>
              </a:ext>
            </a:extLst>
          </p:cNvPr>
          <p:cNvCxnSpPr>
            <a:cxnSpLocks/>
          </p:cNvCxnSpPr>
          <p:nvPr/>
        </p:nvCxnSpPr>
        <p:spPr>
          <a:xfrm>
            <a:off x="8112925" y="2543983"/>
            <a:ext cx="1257022" cy="4239"/>
          </a:xfrm>
          <a:prstGeom prst="straightConnector1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CF11EF-04AF-E50C-D608-D6CA63700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5154776" cy="44171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800">
                <a:latin typeface="Calibri"/>
              </a:rPr>
              <a:t>Per il dimensionamento della condotta di mandata abbiamo utilizzato il Criterio della minima passività</a:t>
            </a:r>
          </a:p>
          <a:p>
            <a:endParaRPr lang="it-IT" sz="1800" u="sng">
              <a:latin typeface="Calibri"/>
            </a:endParaRPr>
          </a:p>
          <a:p>
            <a:r>
              <a:rPr lang="it-IT" sz="1800" u="sng">
                <a:latin typeface="Calibri"/>
              </a:rPr>
              <a:t>Dati a disposizione</a:t>
            </a:r>
            <a:r>
              <a:rPr lang="it-IT" sz="1800">
                <a:latin typeface="Calibri"/>
              </a:rPr>
              <a:t>:</a:t>
            </a:r>
          </a:p>
          <a:p>
            <a:endParaRPr lang="it-IT" sz="1800">
              <a:latin typeface="Calibri"/>
            </a:endParaRPr>
          </a:p>
          <a:p>
            <a:pPr marL="285750" indent="-285750">
              <a:buFontTx/>
              <a:buChar char="-"/>
            </a:pPr>
            <a:r>
              <a:rPr lang="it-IT" sz="1800">
                <a:latin typeface="Calibri"/>
              </a:rPr>
              <a:t>Tasso di interesse </a:t>
            </a:r>
            <a:r>
              <a:rPr lang="it-IT" sz="1800" b="1">
                <a:latin typeface="Calibri"/>
              </a:rPr>
              <a:t>i</a:t>
            </a:r>
            <a:r>
              <a:rPr lang="it-IT" sz="1800">
                <a:latin typeface="Calibri"/>
              </a:rPr>
              <a:t> e tasso di ammortamento </a:t>
            </a:r>
            <a:r>
              <a:rPr lang="it-IT" sz="1800" b="1">
                <a:latin typeface="Calibri"/>
              </a:rPr>
              <a:t>r</a:t>
            </a:r>
          </a:p>
          <a:p>
            <a:pPr marL="285750" indent="-285750">
              <a:buFontTx/>
              <a:buChar char="-"/>
            </a:pPr>
            <a:r>
              <a:rPr lang="it-IT" sz="1800">
                <a:latin typeface="Calibri"/>
              </a:rPr>
              <a:t>Portata sollevata </a:t>
            </a:r>
            <a:r>
              <a:rPr lang="it-IT" sz="1800" b="1">
                <a:latin typeface="Calibri"/>
              </a:rPr>
              <a:t>Q</a:t>
            </a:r>
            <a:r>
              <a:rPr lang="it-IT" sz="1800" b="1" baseline="-25000">
                <a:latin typeface="Calibri"/>
              </a:rPr>
              <a:t>0</a:t>
            </a:r>
            <a:r>
              <a:rPr lang="it-IT" sz="1800">
                <a:latin typeface="Calibri"/>
              </a:rPr>
              <a:t> e lunghezza </a:t>
            </a:r>
            <a:r>
              <a:rPr lang="it-IT" sz="1800" b="1">
                <a:latin typeface="Calibri"/>
              </a:rPr>
              <a:t>L</a:t>
            </a:r>
            <a:r>
              <a:rPr lang="it-IT" sz="1800">
                <a:latin typeface="Calibri"/>
              </a:rPr>
              <a:t> della condotta</a:t>
            </a:r>
          </a:p>
          <a:p>
            <a:pPr marL="285750" indent="-285750">
              <a:buFontTx/>
              <a:buChar char="-"/>
            </a:pPr>
            <a:r>
              <a:rPr lang="it-IT" sz="1800">
                <a:latin typeface="Calibri"/>
              </a:rPr>
              <a:t>Costo della pompa </a:t>
            </a:r>
            <a:r>
              <a:rPr lang="it-IT" sz="1800" b="1">
                <a:latin typeface="Calibri"/>
              </a:rPr>
              <a:t>C</a:t>
            </a:r>
            <a:r>
              <a:rPr lang="it-IT" sz="1800" b="1" baseline="-25000">
                <a:latin typeface="Calibri"/>
              </a:rPr>
              <a:t>p</a:t>
            </a:r>
            <a:r>
              <a:rPr lang="it-IT" sz="1800">
                <a:latin typeface="Calibri"/>
              </a:rPr>
              <a:t> , costo unitario dell’energia </a:t>
            </a:r>
            <a:r>
              <a:rPr lang="it-IT" sz="1800" b="1">
                <a:latin typeface="Calibri"/>
              </a:rPr>
              <a:t>c</a:t>
            </a:r>
            <a:r>
              <a:rPr lang="it-IT" sz="1800" b="1" baseline="-25000">
                <a:latin typeface="Calibri"/>
              </a:rPr>
              <a:t>e</a:t>
            </a:r>
            <a:r>
              <a:rPr lang="it-IT" sz="1800">
                <a:latin typeface="Calibri"/>
              </a:rPr>
              <a:t>, rendimento medio ipotizzato della pompa </a:t>
            </a:r>
            <a:r>
              <a:rPr lang="it-IT" sz="1800" b="1" i="0" u="none" strike="noStrike" baseline="0">
                <a:solidFill>
                  <a:srgbClr val="000000"/>
                </a:solidFill>
                <a:latin typeface="+mj-lt"/>
              </a:rPr>
              <a:t>𝜂</a:t>
            </a:r>
            <a:r>
              <a:rPr lang="it-IT" sz="1800">
                <a:latin typeface="Calibri"/>
              </a:rPr>
              <a:t> e tempo di funzionamento dell’impianto </a:t>
            </a:r>
            <a:r>
              <a:rPr lang="it-IT" sz="1800" b="1">
                <a:latin typeface="Calibri"/>
              </a:rPr>
              <a:t>T</a:t>
            </a:r>
          </a:p>
          <a:p>
            <a:pPr marL="285750" indent="-285750">
              <a:buFontTx/>
              <a:buChar char="-"/>
            </a:pPr>
            <a:r>
              <a:rPr lang="it-IT" sz="1800">
                <a:latin typeface="Calibri"/>
              </a:rPr>
              <a:t>Dislivello geodetico </a:t>
            </a:r>
            <a:r>
              <a:rPr lang="it-IT" sz="1800" b="1" err="1">
                <a:latin typeface="Calibri"/>
              </a:rPr>
              <a:t>H</a:t>
            </a:r>
            <a:r>
              <a:rPr lang="it-IT" sz="1800" b="1" baseline="-25000" err="1">
                <a:latin typeface="Calibri"/>
              </a:rPr>
              <a:t>geo</a:t>
            </a:r>
            <a:r>
              <a:rPr lang="it-IT" sz="1800">
                <a:latin typeface="Calibri"/>
              </a:rPr>
              <a:t> tra pozzo e vasca, coefficiente di scabrezza </a:t>
            </a:r>
            <a:r>
              <a:rPr lang="it-IT" sz="1800" b="1" err="1">
                <a:latin typeface="Calibri"/>
              </a:rPr>
              <a:t>Ks</a:t>
            </a:r>
            <a:r>
              <a:rPr lang="it-IT" sz="1800">
                <a:latin typeface="Calibri"/>
              </a:rPr>
              <a:t> della condotta e coefficiente </a:t>
            </a:r>
            <a:r>
              <a:rPr lang="it-IT" sz="1800" b="1">
                <a:latin typeface="Calibri"/>
              </a:rPr>
              <a:t>K</a:t>
            </a:r>
            <a:r>
              <a:rPr lang="it-IT" sz="1800">
                <a:latin typeface="Calibri"/>
              </a:rPr>
              <a:t> delle perdite concentrate</a:t>
            </a:r>
          </a:p>
          <a:p>
            <a:pPr marL="285750" indent="-285750">
              <a:buFontTx/>
              <a:buChar char="-"/>
            </a:pPr>
            <a:endParaRPr lang="it-IT" sz="1800">
              <a:latin typeface="Calibri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CF0C09E-E6FA-F473-46E4-6445A6FA9EF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17379" y="5490225"/>
            <a:ext cx="2945869" cy="45067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729ACE9-E445-D9CB-C4FF-769D058A1CD5}"/>
              </a:ext>
            </a:extLst>
          </p:cNvPr>
          <p:cNvSpPr txBox="1"/>
          <p:nvPr/>
        </p:nvSpPr>
        <p:spPr>
          <a:xfrm>
            <a:off x="6630395" y="4351037"/>
            <a:ext cx="5398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u="sng"/>
              <a:t>Criterio della minima passività </a:t>
            </a:r>
            <a:r>
              <a:rPr lang="it-IT"/>
              <a:t>consiste nell’individuare il valore minimo della funzione passività tra i valori calcolati per i diametri che si hanno a disposizione</a:t>
            </a:r>
          </a:p>
        </p:txBody>
      </p:sp>
    </p:spTree>
    <p:extLst>
      <p:ext uri="{BB962C8B-B14F-4D97-AF65-F5344CB8AC3E}">
        <p14:creationId xmlns:p14="http://schemas.microsoft.com/office/powerpoint/2010/main" val="2387281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IMPIANTO DI SOLLEVAMENTO – Dimensionamento condotta di mandata</a:t>
            </a:r>
            <a:endParaRPr lang="it-IT" b="0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0E2DAA8B-C7F5-84FC-52EB-78BB14845629}"/>
              </a:ext>
            </a:extLst>
          </p:cNvPr>
          <p:cNvSpPr txBox="1"/>
          <p:nvPr/>
        </p:nvSpPr>
        <p:spPr>
          <a:xfrm>
            <a:off x="589547" y="4523874"/>
            <a:ext cx="112365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Individuati i diametri per cui è rispettato il vincolo sulla velocità (0,5 m/s &lt; V &lt; 2 m/s), ovvero D = 150 mm e 200 mm, per poter applicare il </a:t>
            </a:r>
            <a:r>
              <a:rPr lang="it-IT" u="sng"/>
              <a:t>Criterio della minima passività </a:t>
            </a:r>
            <a:r>
              <a:rPr lang="it-IT"/>
              <a:t>abbiamo calcolato il  Costo dell’impianto </a:t>
            </a:r>
            <a:r>
              <a:rPr lang="it-IT" b="1"/>
              <a:t>C</a:t>
            </a:r>
            <a:r>
              <a:rPr lang="it-IT" b="1" baseline="-25000"/>
              <a:t>i</a:t>
            </a:r>
            <a:r>
              <a:rPr lang="it-IT"/>
              <a:t>, il Tasso di ammortamento del capitale </a:t>
            </a:r>
            <a:r>
              <a:rPr lang="it-IT" b="1"/>
              <a:t>r</a:t>
            </a:r>
            <a:r>
              <a:rPr lang="it-IT"/>
              <a:t> e infine il Costo dell’energia </a:t>
            </a:r>
            <a:r>
              <a:rPr lang="it-IT" b="1"/>
              <a:t>C</a:t>
            </a:r>
            <a:r>
              <a:rPr lang="it-IT" b="1" baseline="-25000"/>
              <a:t>e</a:t>
            </a:r>
          </a:p>
          <a:p>
            <a:endParaRPr lang="it-IT"/>
          </a:p>
          <a:p>
            <a:r>
              <a:rPr lang="it-IT"/>
              <a:t>Il diametro corrispondente alla minima passività è </a:t>
            </a:r>
            <a:r>
              <a:rPr lang="it-IT" b="1" u="sng"/>
              <a:t>D = 200 mm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D4A0F23-FE72-D34B-5A41-BA8466D6EA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97" t="42060" r="26797" b="30221"/>
          <a:stretch/>
        </p:blipFill>
        <p:spPr>
          <a:xfrm>
            <a:off x="187719" y="1600199"/>
            <a:ext cx="11638367" cy="262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752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put penna 16">
                <a:extLst>
                  <a:ext uri="{FF2B5EF4-FFF2-40B4-BE49-F238E27FC236}">
                    <a16:creationId xmlns:a16="http://schemas.microsoft.com/office/drawing/2014/main" id="{2D1CE1AA-0FDC-A85E-0DB3-BE18874302EE}"/>
                  </a:ext>
                </a:extLst>
              </p14:cNvPr>
              <p14:cNvContentPartPr/>
              <p14:nvPr/>
            </p14:nvContentPartPr>
            <p14:xfrm>
              <a:off x="7014143" y="3377383"/>
              <a:ext cx="21995" cy="909648"/>
            </p14:xfrm>
          </p:contentPart>
        </mc:Choice>
        <mc:Fallback xmlns="">
          <p:pic>
            <p:nvPicPr>
              <p:cNvPr id="17" name="Input penna 16">
                <a:extLst>
                  <a:ext uri="{FF2B5EF4-FFF2-40B4-BE49-F238E27FC236}">
                    <a16:creationId xmlns:a16="http://schemas.microsoft.com/office/drawing/2014/main" id="{2D1CE1AA-0FDC-A85E-0DB3-BE18874302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8667" y="3341400"/>
                <a:ext cx="92592" cy="981254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IMPIANTO DI SOLLEVAMENTO – Scelta del sistema di pompe</a:t>
            </a:r>
            <a:endParaRPr lang="it-IT" b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1" y="1600202"/>
            <a:ext cx="5092351" cy="42551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800" u="sng">
                <a:latin typeface="Calibri"/>
              </a:rPr>
              <a:t>Dati a disposizione</a:t>
            </a:r>
            <a:r>
              <a:rPr lang="it-IT" sz="1800">
                <a:latin typeface="Calibri"/>
              </a:rPr>
              <a:t>:</a:t>
            </a:r>
          </a:p>
          <a:p>
            <a:endParaRPr lang="it-IT" sz="1800">
              <a:latin typeface="Calibri"/>
            </a:endParaRPr>
          </a:p>
          <a:p>
            <a:pPr marL="285750" indent="-285750">
              <a:buFontTx/>
              <a:buChar char="-"/>
            </a:pPr>
            <a:r>
              <a:rPr lang="it-IT" sz="1800">
                <a:latin typeface="Calibri"/>
              </a:rPr>
              <a:t>Portata da sollevare: Q</a:t>
            </a:r>
            <a:r>
              <a:rPr lang="it-IT" sz="1800" baseline="-25000">
                <a:latin typeface="Calibri"/>
              </a:rPr>
              <a:t>0 </a:t>
            </a:r>
            <a:r>
              <a:rPr lang="it-IT" sz="1800">
                <a:latin typeface="Calibri"/>
              </a:rPr>
              <a:t>= 74,52 m</a:t>
            </a:r>
            <a:r>
              <a:rPr lang="it-IT" sz="1800" baseline="30000">
                <a:latin typeface="Calibri"/>
              </a:rPr>
              <a:t>3</a:t>
            </a:r>
            <a:r>
              <a:rPr lang="it-IT" sz="1800">
                <a:latin typeface="Calibri"/>
              </a:rPr>
              <a:t>/h</a:t>
            </a:r>
          </a:p>
          <a:p>
            <a:pPr marL="285750" indent="-285750">
              <a:buFontTx/>
              <a:buChar char="-"/>
            </a:pPr>
            <a:r>
              <a:rPr lang="it-IT" sz="1800">
                <a:latin typeface="Calibri"/>
              </a:rPr>
              <a:t>H</a:t>
            </a:r>
            <a:r>
              <a:rPr lang="it-IT" sz="1800" baseline="30000">
                <a:latin typeface="Calibri"/>
              </a:rPr>
              <a:t>*</a:t>
            </a:r>
            <a:r>
              <a:rPr lang="it-IT" sz="1800" baseline="-25000" err="1">
                <a:latin typeface="Calibri"/>
              </a:rPr>
              <a:t>prog</a:t>
            </a:r>
            <a:r>
              <a:rPr lang="it-IT" sz="1800">
                <a:latin typeface="Calibri"/>
              </a:rPr>
              <a:t> = 89.15</a:t>
            </a:r>
          </a:p>
          <a:p>
            <a:pPr marL="285750" indent="-285750">
              <a:buFontTx/>
              <a:buChar char="-"/>
            </a:pPr>
            <a:r>
              <a:rPr lang="it-IT" sz="1800">
                <a:latin typeface="Calibri"/>
              </a:rPr>
              <a:t>Curve caratteristiche delle pompe:</a:t>
            </a:r>
            <a:endParaRPr lang="it-IT"/>
          </a:p>
          <a:p>
            <a:pPr marL="285750" indent="-285750">
              <a:buFontTx/>
              <a:buChar char="-"/>
            </a:pPr>
            <a:endParaRPr lang="it-IT" sz="1800">
              <a:latin typeface="Calibri"/>
            </a:endParaRPr>
          </a:p>
          <a:p>
            <a:pPr marL="285750" indent="-285750">
              <a:buFontTx/>
              <a:buChar char="-"/>
            </a:pPr>
            <a:endParaRPr lang="it-IT" sz="1800">
              <a:latin typeface="Calibri"/>
            </a:endParaRPr>
          </a:p>
          <a:p>
            <a:pPr marL="285750" indent="-285750">
              <a:buFontTx/>
              <a:buChar char="-"/>
            </a:pPr>
            <a:endParaRPr lang="it-IT" sz="1800">
              <a:latin typeface="Calibri"/>
            </a:endParaRPr>
          </a:p>
          <a:p>
            <a:pPr marL="285750" indent="-285750">
              <a:buFontTx/>
              <a:buChar char="-"/>
            </a:pPr>
            <a:r>
              <a:rPr lang="it-IT" sz="1800">
                <a:latin typeface="Calibri"/>
              </a:rPr>
              <a:t>Curve di rendimento delle pompe:</a:t>
            </a:r>
          </a:p>
        </p:txBody>
      </p:sp>
      <p:pic>
        <p:nvPicPr>
          <p:cNvPr id="4" name="Immagine 4" descr="Immagine che contiene diagramma, testo, linea, Disegno tecnico&#10;&#10;Descrizione generata automaticamente">
            <a:extLst>
              <a:ext uri="{FF2B5EF4-FFF2-40B4-BE49-F238E27FC236}">
                <a16:creationId xmlns:a16="http://schemas.microsoft.com/office/drawing/2014/main" id="{EF6EEEEE-FBE4-C184-B7AB-E8A03C22B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050" y="2400598"/>
            <a:ext cx="4813539" cy="248419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put penna 6">
                <a:extLst>
                  <a:ext uri="{FF2B5EF4-FFF2-40B4-BE49-F238E27FC236}">
                    <a16:creationId xmlns:a16="http://schemas.microsoft.com/office/drawing/2014/main" id="{14D1EA46-9975-B825-3545-400BC6A649AA}"/>
                  </a:ext>
                </a:extLst>
              </p14:cNvPr>
              <p14:cNvContentPartPr/>
              <p14:nvPr/>
            </p14:nvContentPartPr>
            <p14:xfrm>
              <a:off x="8799507" y="3623756"/>
              <a:ext cx="384420" cy="171012"/>
            </p14:xfrm>
          </p:contentPart>
        </mc:Choice>
        <mc:Fallback xmlns="">
          <p:pic>
            <p:nvPicPr>
              <p:cNvPr id="7" name="Input penna 6">
                <a:extLst>
                  <a:ext uri="{FF2B5EF4-FFF2-40B4-BE49-F238E27FC236}">
                    <a16:creationId xmlns:a16="http://schemas.microsoft.com/office/drawing/2014/main" id="{14D1EA46-9975-B825-3545-400BC6A649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36576" y="3560884"/>
                <a:ext cx="509923" cy="296397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0874401-66B5-4CE2-9776-BB45EE5AFBA7}"/>
              </a:ext>
            </a:extLst>
          </p:cNvPr>
          <p:cNvSpPr txBox="1"/>
          <p:nvPr/>
        </p:nvSpPr>
        <p:spPr>
          <a:xfrm>
            <a:off x="8544278" y="4033468"/>
            <a:ext cx="1400855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it-IT" sz="1000" b="1">
                <a:solidFill>
                  <a:srgbClr val="262626"/>
                </a:solidFill>
                <a:latin typeface="Calibri"/>
                <a:cs typeface="Times New Roman"/>
              </a:rPr>
              <a:t>VASCA DI PRESA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put penna 11">
                <a:extLst>
                  <a:ext uri="{FF2B5EF4-FFF2-40B4-BE49-F238E27FC236}">
                    <a16:creationId xmlns:a16="http://schemas.microsoft.com/office/drawing/2014/main" id="{E1122333-4CA8-7670-9BA2-1BCBA435CDFA}"/>
                  </a:ext>
                </a:extLst>
              </p14:cNvPr>
              <p14:cNvContentPartPr/>
              <p14:nvPr/>
            </p14:nvContentPartPr>
            <p14:xfrm>
              <a:off x="8953541" y="3797293"/>
              <a:ext cx="7544" cy="7544"/>
            </p14:xfrm>
          </p:contentPart>
        </mc:Choice>
        <mc:Fallback xmlns="">
          <p:pic>
            <p:nvPicPr>
              <p:cNvPr id="12" name="Input penna 11">
                <a:extLst>
                  <a:ext uri="{FF2B5EF4-FFF2-40B4-BE49-F238E27FC236}">
                    <a16:creationId xmlns:a16="http://schemas.microsoft.com/office/drawing/2014/main" id="{E1122333-4CA8-7670-9BA2-1BCBA435CD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33341" y="2477093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put penna 12">
                <a:extLst>
                  <a:ext uri="{FF2B5EF4-FFF2-40B4-BE49-F238E27FC236}">
                    <a16:creationId xmlns:a16="http://schemas.microsoft.com/office/drawing/2014/main" id="{A0056270-BC79-19DB-78BE-B1A695ABC774}"/>
                  </a:ext>
                </a:extLst>
              </p14:cNvPr>
              <p14:cNvContentPartPr/>
              <p14:nvPr/>
            </p14:nvContentPartPr>
            <p14:xfrm>
              <a:off x="8953541" y="3812382"/>
              <a:ext cx="7544" cy="7544"/>
            </p14:xfrm>
          </p:contentPart>
        </mc:Choice>
        <mc:Fallback xmlns="">
          <p:pic>
            <p:nvPicPr>
              <p:cNvPr id="13" name="Input penna 12">
                <a:extLst>
                  <a:ext uri="{FF2B5EF4-FFF2-40B4-BE49-F238E27FC236}">
                    <a16:creationId xmlns:a16="http://schemas.microsoft.com/office/drawing/2014/main" id="{A0056270-BC79-19DB-78BE-B1A695ABC77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33341" y="2492182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put penna 14">
                <a:extLst>
                  <a:ext uri="{FF2B5EF4-FFF2-40B4-BE49-F238E27FC236}">
                    <a16:creationId xmlns:a16="http://schemas.microsoft.com/office/drawing/2014/main" id="{E4B9D73F-9CCC-F602-47D3-14FDF38125E9}"/>
                  </a:ext>
                </a:extLst>
              </p14:cNvPr>
              <p14:cNvContentPartPr/>
              <p14:nvPr/>
            </p14:nvContentPartPr>
            <p14:xfrm>
              <a:off x="9048632" y="3804837"/>
              <a:ext cx="7544" cy="7544"/>
            </p14:xfrm>
          </p:contentPart>
        </mc:Choice>
        <mc:Fallback xmlns="">
          <p:pic>
            <p:nvPicPr>
              <p:cNvPr id="15" name="Input penna 14">
                <a:extLst>
                  <a:ext uri="{FF2B5EF4-FFF2-40B4-BE49-F238E27FC236}">
                    <a16:creationId xmlns:a16="http://schemas.microsoft.com/office/drawing/2014/main" id="{E4B9D73F-9CCC-F602-47D3-14FDF38125E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01943" y="2484637"/>
                <a:ext cx="300084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EFFE07CA-2664-7D5C-451E-EB546A3E0A05}"/>
                  </a:ext>
                </a:extLst>
              </p14:cNvPr>
              <p14:cNvContentPartPr/>
              <p14:nvPr/>
            </p14:nvContentPartPr>
            <p14:xfrm>
              <a:off x="8991264" y="3804837"/>
              <a:ext cx="7544" cy="7544"/>
            </p14:xfrm>
          </p:contentPart>
        </mc:Choice>
        <mc:Fallback xmlns=""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EFFE07CA-2664-7D5C-451E-EB546A3E0A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71064" y="2484637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CC71205A-73D2-28FA-D2DB-ED954754E2B0}"/>
                  </a:ext>
                </a:extLst>
              </p14:cNvPr>
              <p14:cNvContentPartPr/>
              <p14:nvPr/>
            </p14:nvContentPartPr>
            <p14:xfrm>
              <a:off x="9051621" y="3782204"/>
              <a:ext cx="7544" cy="7544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CC71205A-73D2-28FA-D2DB-ED954754E2B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31421" y="2462004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put penna 18">
                <a:extLst>
                  <a:ext uri="{FF2B5EF4-FFF2-40B4-BE49-F238E27FC236}">
                    <a16:creationId xmlns:a16="http://schemas.microsoft.com/office/drawing/2014/main" id="{709B81A4-D9D6-617D-10CF-02FB99FC7EFE}"/>
                  </a:ext>
                </a:extLst>
              </p14:cNvPr>
              <p14:cNvContentPartPr/>
              <p14:nvPr/>
            </p14:nvContentPartPr>
            <p14:xfrm>
              <a:off x="9051621" y="3758885"/>
              <a:ext cx="7544" cy="15774"/>
            </p14:xfrm>
          </p:contentPart>
        </mc:Choice>
        <mc:Fallback xmlns="">
          <p:pic>
            <p:nvPicPr>
              <p:cNvPr id="19" name="Input penna 18">
                <a:extLst>
                  <a:ext uri="{FF2B5EF4-FFF2-40B4-BE49-F238E27FC236}">
                    <a16:creationId xmlns:a16="http://schemas.microsoft.com/office/drawing/2014/main" id="{709B81A4-D9D6-617D-10CF-02FB99FC7E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50067" y="3697542"/>
                <a:ext cx="210071" cy="138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put penna 19">
                <a:extLst>
                  <a:ext uri="{FF2B5EF4-FFF2-40B4-BE49-F238E27FC236}">
                    <a16:creationId xmlns:a16="http://schemas.microsoft.com/office/drawing/2014/main" id="{BF220F37-6F9A-A07F-0FEB-3FC2D6E885FC}"/>
                  </a:ext>
                </a:extLst>
              </p14:cNvPr>
              <p14:cNvContentPartPr/>
              <p14:nvPr/>
            </p14:nvContentPartPr>
            <p14:xfrm>
              <a:off x="9059165" y="3752026"/>
              <a:ext cx="7604" cy="7544"/>
            </p14:xfrm>
          </p:contentPart>
        </mc:Choice>
        <mc:Fallback xmlns="">
          <p:pic>
            <p:nvPicPr>
              <p:cNvPr id="20" name="Input penna 19">
                <a:extLst>
                  <a:ext uri="{FF2B5EF4-FFF2-40B4-BE49-F238E27FC236}">
                    <a16:creationId xmlns:a16="http://schemas.microsoft.com/office/drawing/2014/main" id="{BF220F37-6F9A-A07F-0FEB-3FC2D6E885F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98679" y="2431826"/>
                <a:ext cx="128231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put penna 20">
                <a:extLst>
                  <a:ext uri="{FF2B5EF4-FFF2-40B4-BE49-F238E27FC236}">
                    <a16:creationId xmlns:a16="http://schemas.microsoft.com/office/drawing/2014/main" id="{B86C49DD-B149-3DBD-18ED-A2B789CF9494}"/>
                  </a:ext>
                </a:extLst>
              </p14:cNvPr>
              <p14:cNvContentPartPr/>
              <p14:nvPr/>
            </p14:nvContentPartPr>
            <p14:xfrm>
              <a:off x="9089343" y="3752026"/>
              <a:ext cx="7544" cy="7544"/>
            </p14:xfrm>
          </p:contentPart>
        </mc:Choice>
        <mc:Fallback xmlns="">
          <p:pic>
            <p:nvPicPr>
              <p:cNvPr id="21" name="Input penna 20">
                <a:extLst>
                  <a:ext uri="{FF2B5EF4-FFF2-40B4-BE49-F238E27FC236}">
                    <a16:creationId xmlns:a16="http://schemas.microsoft.com/office/drawing/2014/main" id="{B86C49DD-B149-3DBD-18ED-A2B789CF94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69143" y="2431826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put penna 21">
                <a:extLst>
                  <a:ext uri="{FF2B5EF4-FFF2-40B4-BE49-F238E27FC236}">
                    <a16:creationId xmlns:a16="http://schemas.microsoft.com/office/drawing/2014/main" id="{60B85036-8D54-1C42-68BB-2651D0EB107B}"/>
                  </a:ext>
                </a:extLst>
              </p14:cNvPr>
              <p14:cNvContentPartPr/>
              <p14:nvPr/>
            </p14:nvContentPartPr>
            <p14:xfrm>
              <a:off x="9068953" y="3752026"/>
              <a:ext cx="20389" cy="7544"/>
            </p14:xfrm>
          </p:contentPart>
        </mc:Choice>
        <mc:Fallback xmlns="">
          <p:pic>
            <p:nvPicPr>
              <p:cNvPr id="22" name="Input penna 21">
                <a:extLst>
                  <a:ext uri="{FF2B5EF4-FFF2-40B4-BE49-F238E27FC236}">
                    <a16:creationId xmlns:a16="http://schemas.microsoft.com/office/drawing/2014/main" id="{60B85036-8D54-1C42-68BB-2651D0EB107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007434" y="3692017"/>
                <a:ext cx="143075" cy="127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3" name="Input penna 22">
                <a:extLst>
                  <a:ext uri="{FF2B5EF4-FFF2-40B4-BE49-F238E27FC236}">
                    <a16:creationId xmlns:a16="http://schemas.microsoft.com/office/drawing/2014/main" id="{1CEB40F6-D3D5-7CCB-1BF7-5FC61C05A55A}"/>
                  </a:ext>
                </a:extLst>
              </p14:cNvPr>
              <p14:cNvContentPartPr/>
              <p14:nvPr/>
            </p14:nvContentPartPr>
            <p14:xfrm>
              <a:off x="8946564" y="3759570"/>
              <a:ext cx="74877" cy="7544"/>
            </p14:xfrm>
          </p:contentPart>
        </mc:Choice>
        <mc:Fallback xmlns="">
          <p:pic>
            <p:nvPicPr>
              <p:cNvPr id="23" name="Input penna 22">
                <a:extLst>
                  <a:ext uri="{FF2B5EF4-FFF2-40B4-BE49-F238E27FC236}">
                    <a16:creationId xmlns:a16="http://schemas.microsoft.com/office/drawing/2014/main" id="{1CEB40F6-D3D5-7CCB-1BF7-5FC61C05A55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883868" y="2439370"/>
                <a:ext cx="199911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4" name="Input penna 23">
                <a:extLst>
                  <a:ext uri="{FF2B5EF4-FFF2-40B4-BE49-F238E27FC236}">
                    <a16:creationId xmlns:a16="http://schemas.microsoft.com/office/drawing/2014/main" id="{6102291C-57E2-8A21-F84C-0E108F943354}"/>
                  </a:ext>
                </a:extLst>
              </p14:cNvPr>
              <p14:cNvContentPartPr/>
              <p14:nvPr/>
            </p14:nvContentPartPr>
            <p14:xfrm>
              <a:off x="8930908" y="3759570"/>
              <a:ext cx="7544" cy="7544"/>
            </p14:xfrm>
          </p:contentPart>
        </mc:Choice>
        <mc:Fallback xmlns="">
          <p:pic>
            <p:nvPicPr>
              <p:cNvPr id="24" name="Input penna 23">
                <a:extLst>
                  <a:ext uri="{FF2B5EF4-FFF2-40B4-BE49-F238E27FC236}">
                    <a16:creationId xmlns:a16="http://schemas.microsoft.com/office/drawing/2014/main" id="{6102291C-57E2-8A21-F84C-0E108F9433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10708" y="2439370"/>
                <a:ext cx="2640400" cy="26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Input penna 25">
                <a:extLst>
                  <a:ext uri="{FF2B5EF4-FFF2-40B4-BE49-F238E27FC236}">
                    <a16:creationId xmlns:a16="http://schemas.microsoft.com/office/drawing/2014/main" id="{79E5A493-F383-523D-3B8E-94471731989C}"/>
                  </a:ext>
                </a:extLst>
              </p14:cNvPr>
              <p14:cNvContentPartPr/>
              <p14:nvPr/>
            </p14:nvContentPartPr>
            <p14:xfrm>
              <a:off x="8905286" y="3759570"/>
              <a:ext cx="7544" cy="7544"/>
            </p14:xfrm>
          </p:contentPart>
        </mc:Choice>
        <mc:Fallback xmlns="">
          <p:pic>
            <p:nvPicPr>
              <p:cNvPr id="26" name="Input penna 25">
                <a:extLst>
                  <a:ext uri="{FF2B5EF4-FFF2-40B4-BE49-F238E27FC236}">
                    <a16:creationId xmlns:a16="http://schemas.microsoft.com/office/drawing/2014/main" id="{79E5A493-F383-523D-3B8E-94471731989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73266" y="2439370"/>
                <a:ext cx="270830" cy="2640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3E11281A-1F53-093A-3FEA-413A8364A242}"/>
              </a:ext>
            </a:extLst>
          </p:cNvPr>
          <p:cNvSpPr txBox="1"/>
          <p:nvPr/>
        </p:nvSpPr>
        <p:spPr>
          <a:xfrm>
            <a:off x="7080588" y="2883279"/>
            <a:ext cx="1817798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1000" b="1">
                <a:solidFill>
                  <a:schemeClr val="accent1"/>
                </a:solidFill>
                <a:latin typeface="Calibri"/>
                <a:cs typeface="Times New Roman"/>
              </a:rPr>
              <a:t>SISTEMA DI POMPE</a:t>
            </a:r>
            <a:endParaRPr lang="it-IT">
              <a:solidFill>
                <a:schemeClr val="accent1"/>
              </a:solidFill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82D34B0E-0D2B-F7F7-3161-7EE0D5BF55E5}"/>
              </a:ext>
            </a:extLst>
          </p:cNvPr>
          <p:cNvSpPr/>
          <p:nvPr/>
        </p:nvSpPr>
        <p:spPr>
          <a:xfrm>
            <a:off x="7481031" y="3212983"/>
            <a:ext cx="356040" cy="323962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45AFAB1-4E0B-E5AA-3EB3-4A3DC9E44129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t="-1" b="-28229"/>
          <a:stretch/>
        </p:blipFill>
        <p:spPr>
          <a:xfrm>
            <a:off x="1031978" y="3308248"/>
            <a:ext cx="2943225" cy="46412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6233A29-DEB5-93B9-0C49-117FF788435C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1" t="-1" r="-2658" b="-18848"/>
          <a:stretch/>
        </p:blipFill>
        <p:spPr>
          <a:xfrm>
            <a:off x="1031977" y="3760443"/>
            <a:ext cx="2943225" cy="464126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91B7DF55-5CD6-B724-896C-94B370A3FA4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31977" y="4676764"/>
            <a:ext cx="3505200" cy="438150"/>
          </a:xfrm>
          <a:prstGeom prst="rect">
            <a:avLst/>
          </a:prstGeom>
        </p:spPr>
      </p:pic>
      <p:pic>
        <p:nvPicPr>
          <p:cNvPr id="29" name="Immagine 28">
            <a:extLst>
              <a:ext uri="{FF2B5EF4-FFF2-40B4-BE49-F238E27FC236}">
                <a16:creationId xmlns:a16="http://schemas.microsoft.com/office/drawing/2014/main" id="{6EFEBEBF-89AC-0B02-791A-80CEC7F7F1F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31977" y="5182460"/>
            <a:ext cx="380047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40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F85155-791A-E5DE-A201-08F692F60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53" y="1314285"/>
            <a:ext cx="10905893" cy="729658"/>
          </a:xfrm>
        </p:spPr>
        <p:txBody>
          <a:bodyPr>
            <a:noAutofit/>
          </a:bodyPr>
          <a:lstStyle/>
          <a:p>
            <a:r>
              <a:rPr lang="it-IT" sz="1200"/>
              <a:t>Nota la curva di impianto e il punto di funzionamento teorico dell’impianto (coordinate Q</a:t>
            </a:r>
            <a:r>
              <a:rPr lang="it-IT" sz="1200" baseline="-25000"/>
              <a:t>0</a:t>
            </a:r>
            <a:r>
              <a:rPr lang="it-IT" sz="1200"/>
              <a:t> e </a:t>
            </a:r>
            <a:r>
              <a:rPr lang="it-IT" sz="1200" err="1"/>
              <a:t>H</a:t>
            </a:r>
            <a:r>
              <a:rPr lang="it-IT" sz="1200" baseline="-25000" err="1"/>
              <a:t>prog</a:t>
            </a:r>
            <a:r>
              <a:rPr lang="it-IT" sz="1200"/>
              <a:t>), abbiamo costruito diverse combinazioni di sole pompe 1 e sole pompe 2 al fine di individuare le combinazioni che garantissero per la portata da sollevare Q</a:t>
            </a:r>
            <a:r>
              <a:rPr lang="it-IT" sz="1200" baseline="-25000"/>
              <a:t>0 </a:t>
            </a:r>
            <a:r>
              <a:rPr lang="it-IT" sz="1200"/>
              <a:t>una prevalenza fornita superiore al valore di progetto </a:t>
            </a:r>
            <a:r>
              <a:rPr lang="it-IT" sz="1200" err="1"/>
              <a:t>H</a:t>
            </a:r>
            <a:r>
              <a:rPr lang="it-IT" sz="1200" baseline="-25000" err="1"/>
              <a:t>prog</a:t>
            </a:r>
            <a:endParaRPr lang="it-IT" sz="1200" baseline="-25000"/>
          </a:p>
          <a:p>
            <a:r>
              <a:rPr lang="it-IT" sz="1200"/>
              <a:t>(ovvero un punto di funzionamento con una portata leggermente superiore alla portata da sollevare)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BC238588-B185-C0BF-5AD6-FB0A8065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IMPIANTO DI SOLLEVAMENTO – Scelta del sistema di pompe</a:t>
            </a:r>
            <a:endParaRPr lang="it-IT" b="0"/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2F853EDB-69F7-E111-7235-50122D201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07997"/>
              </p:ext>
            </p:extLst>
          </p:nvPr>
        </p:nvGraphicFramePr>
        <p:xfrm>
          <a:off x="258349" y="5111370"/>
          <a:ext cx="5391974" cy="438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4765">
                  <a:extLst>
                    <a:ext uri="{9D8B030D-6E8A-4147-A177-3AD203B41FA5}">
                      <a16:colId xmlns:a16="http://schemas.microsoft.com/office/drawing/2014/main" val="3839119166"/>
                    </a:ext>
                  </a:extLst>
                </a:gridCol>
                <a:gridCol w="736106">
                  <a:extLst>
                    <a:ext uri="{9D8B030D-6E8A-4147-A177-3AD203B41FA5}">
                      <a16:colId xmlns:a16="http://schemas.microsoft.com/office/drawing/2014/main" val="289553349"/>
                    </a:ext>
                  </a:extLst>
                </a:gridCol>
                <a:gridCol w="726905">
                  <a:extLst>
                    <a:ext uri="{9D8B030D-6E8A-4147-A177-3AD203B41FA5}">
                      <a16:colId xmlns:a16="http://schemas.microsoft.com/office/drawing/2014/main" val="3152881305"/>
                    </a:ext>
                  </a:extLst>
                </a:gridCol>
                <a:gridCol w="760643">
                  <a:extLst>
                    <a:ext uri="{9D8B030D-6E8A-4147-A177-3AD203B41FA5}">
                      <a16:colId xmlns:a16="http://schemas.microsoft.com/office/drawing/2014/main" val="2062447210"/>
                    </a:ext>
                  </a:extLst>
                </a:gridCol>
                <a:gridCol w="690099">
                  <a:extLst>
                    <a:ext uri="{9D8B030D-6E8A-4147-A177-3AD203B41FA5}">
                      <a16:colId xmlns:a16="http://schemas.microsoft.com/office/drawing/2014/main" val="2683451211"/>
                    </a:ext>
                  </a:extLst>
                </a:gridCol>
                <a:gridCol w="601152">
                  <a:extLst>
                    <a:ext uri="{9D8B030D-6E8A-4147-A177-3AD203B41FA5}">
                      <a16:colId xmlns:a16="http://schemas.microsoft.com/office/drawing/2014/main" val="1051235311"/>
                    </a:ext>
                  </a:extLst>
                </a:gridCol>
                <a:gridCol w="601152">
                  <a:extLst>
                    <a:ext uri="{9D8B030D-6E8A-4147-A177-3AD203B41FA5}">
                      <a16:colId xmlns:a16="http://schemas.microsoft.com/office/drawing/2014/main" val="3599834734"/>
                    </a:ext>
                  </a:extLst>
                </a:gridCol>
                <a:gridCol w="601152">
                  <a:extLst>
                    <a:ext uri="{9D8B030D-6E8A-4147-A177-3AD203B41FA5}">
                      <a16:colId xmlns:a16="http://schemas.microsoft.com/office/drawing/2014/main" val="2168618473"/>
                    </a:ext>
                  </a:extLst>
                </a:gridCol>
              </a:tblGrid>
              <a:tr h="26219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Q (m</a:t>
                      </a:r>
                      <a:r>
                        <a:rPr lang="it-IT" sz="1100" u="none" strike="noStrike" baseline="30000">
                          <a:effectLst/>
                        </a:rPr>
                        <a:t>3</a:t>
                      </a:r>
                      <a:r>
                        <a:rPr lang="it-IT" sz="1100" u="none" strike="noStrike">
                          <a:effectLst/>
                        </a:rPr>
                        <a:t>/s)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(m)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(2 par)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(2+2)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(3 par)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(3+2)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(4 par)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</a:t>
                      </a:r>
                      <a:r>
                        <a:rPr lang="it-IT" sz="1100" u="none" strike="noStrike" baseline="-25000">
                          <a:effectLst/>
                        </a:rPr>
                        <a:t>TOT </a:t>
                      </a:r>
                      <a:r>
                        <a:rPr lang="it-IT" sz="1100" u="none" strike="noStrike">
                          <a:effectLst/>
                        </a:rPr>
                        <a:t>(m)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80285"/>
                  </a:ext>
                </a:extLst>
              </a:tr>
              <a:tr h="17595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0,0207</a:t>
                      </a: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-122,129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44,468</a:t>
                      </a: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88,935</a:t>
                      </a: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75,319</a:t>
                      </a: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119,787</a:t>
                      </a: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86,117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82,657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26" marR="11526" marT="65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53422"/>
                  </a:ext>
                </a:extLst>
              </a:tr>
            </a:tbl>
          </a:graphicData>
        </a:graphic>
      </p:graphicFrame>
      <p:pic>
        <p:nvPicPr>
          <p:cNvPr id="10" name="Immagine 9">
            <a:extLst>
              <a:ext uri="{FF2B5EF4-FFF2-40B4-BE49-F238E27FC236}">
                <a16:creationId xmlns:a16="http://schemas.microsoft.com/office/drawing/2014/main" id="{05E33CFC-655E-1ED1-BB35-EAA7C138B9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-28229"/>
          <a:stretch/>
        </p:blipFill>
        <p:spPr>
          <a:xfrm>
            <a:off x="1482722" y="5718711"/>
            <a:ext cx="2943225" cy="464126"/>
          </a:xfrm>
          <a:prstGeom prst="rect">
            <a:avLst/>
          </a:prstGeom>
        </p:spPr>
      </p:pic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F4132939-15F1-D782-7815-F41E9C1A6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638121"/>
              </p:ext>
            </p:extLst>
          </p:nvPr>
        </p:nvGraphicFramePr>
        <p:xfrm>
          <a:off x="6224322" y="5111370"/>
          <a:ext cx="5732000" cy="438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677976103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547528317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749064398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150644876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3655178726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3848386539"/>
                    </a:ext>
                  </a:extLst>
                </a:gridCol>
                <a:gridCol w="669759">
                  <a:extLst>
                    <a:ext uri="{9D8B030D-6E8A-4147-A177-3AD203B41FA5}">
                      <a16:colId xmlns:a16="http://schemas.microsoft.com/office/drawing/2014/main" val="846275785"/>
                    </a:ext>
                  </a:extLst>
                </a:gridCol>
                <a:gridCol w="625642">
                  <a:extLst>
                    <a:ext uri="{9D8B030D-6E8A-4147-A177-3AD203B41FA5}">
                      <a16:colId xmlns:a16="http://schemas.microsoft.com/office/drawing/2014/main" val="3209548317"/>
                    </a:ext>
                  </a:extLst>
                </a:gridCol>
                <a:gridCol w="626599">
                  <a:extLst>
                    <a:ext uri="{9D8B030D-6E8A-4147-A177-3AD203B41FA5}">
                      <a16:colId xmlns:a16="http://schemas.microsoft.com/office/drawing/2014/main" val="163230739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Q (m</a:t>
                      </a:r>
                      <a:r>
                        <a:rPr lang="it-IT" sz="1100" u="none" strike="noStrike" baseline="30000">
                          <a:effectLst/>
                        </a:rPr>
                        <a:t>3</a:t>
                      </a:r>
                      <a:r>
                        <a:rPr lang="it-IT" sz="1100" u="none" strike="noStrike">
                          <a:effectLst/>
                        </a:rPr>
                        <a:t>/s)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(m)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(2 par)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(3 par)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(3+2)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(3+3)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(3+2+2)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 (4+3)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u="none" strike="noStrike">
                          <a:effectLst/>
                        </a:rPr>
                        <a:t>H</a:t>
                      </a:r>
                      <a:r>
                        <a:rPr lang="it-IT" sz="1100" u="none" strike="noStrike" baseline="-25000">
                          <a:effectLst/>
                        </a:rPr>
                        <a:t>TOT </a:t>
                      </a:r>
                      <a:r>
                        <a:rPr lang="it-IT" sz="1100" u="none" strike="noStrike">
                          <a:effectLst/>
                        </a:rPr>
                        <a:t>(m)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9972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0,0207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-78,831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25,292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44,574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69,867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89,149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95,159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95,897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82,657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882240"/>
                  </a:ext>
                </a:extLst>
              </a:tr>
            </a:tbl>
          </a:graphicData>
        </a:graphic>
      </p:graphicFrame>
      <p:pic>
        <p:nvPicPr>
          <p:cNvPr id="13" name="Immagine 12">
            <a:extLst>
              <a:ext uri="{FF2B5EF4-FFF2-40B4-BE49-F238E27FC236}">
                <a16:creationId xmlns:a16="http://schemas.microsoft.com/office/drawing/2014/main" id="{3AA97F16-4B96-3EB1-FE6B-2FC39A374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010" y="5719501"/>
            <a:ext cx="2944623" cy="46333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84E4D4B-8684-7CF0-7552-770BCE9714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556" t="40471" r="44567" b="24501"/>
          <a:stretch/>
        </p:blipFill>
        <p:spPr>
          <a:xfrm>
            <a:off x="63922" y="2279983"/>
            <a:ext cx="5865666" cy="253407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1BED47D-EAF5-7618-D177-06E11EC6454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968" t="37296" r="12813" b="27076"/>
          <a:stretch/>
        </p:blipFill>
        <p:spPr>
          <a:xfrm>
            <a:off x="6003503" y="2378663"/>
            <a:ext cx="6124575" cy="230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41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F85155-791A-E5DE-A201-08F692F60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258" y="1564104"/>
            <a:ext cx="11002264" cy="4525963"/>
          </a:xfrm>
        </p:spPr>
        <p:txBody>
          <a:bodyPr>
            <a:normAutofit/>
          </a:bodyPr>
          <a:lstStyle/>
          <a:p>
            <a:r>
              <a:rPr lang="it-IT" sz="1600">
                <a:latin typeface="+mn-lt"/>
              </a:rPr>
              <a:t>Per le combinazioni selezionate, abbiamo calcolato prima il rendimento totale dei sistemi e poi la potenza totale da essi assorbita. Confrontando i valori ottenuti, si è scelta la combinazione di pompe con potenza totale minima (2 serie di 3 pompe in parallelo)</a:t>
            </a:r>
            <a:endParaRPr lang="it-IT" sz="1600" b="0" i="0" u="none" strike="noStrike" baseline="0">
              <a:solidFill>
                <a:srgbClr val="FF0000"/>
              </a:solidFill>
              <a:latin typeface="+mn-lt"/>
            </a:endParaRPr>
          </a:p>
          <a:p>
            <a:endParaRPr lang="it-IT" sz="1800" baseline="-25000"/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BC238588-B185-C0BF-5AD6-FB0A8065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IMPIANTO DI SOLLEVAMENTO – Scelta del sistema di pompe</a:t>
            </a:r>
            <a:endParaRPr lang="it-IT" b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DE24014-DFDF-3A3E-971D-96D7A3ACF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45" y="5085431"/>
            <a:ext cx="1943100" cy="8763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1813354-4993-CA4D-C6AC-D7673408EB7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070" b="1"/>
          <a:stretch/>
        </p:blipFill>
        <p:spPr>
          <a:xfrm>
            <a:off x="6188386" y="5085431"/>
            <a:ext cx="1895475" cy="87630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6778E9CA-4BFB-CA90-2A7D-038A5F5D9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5902" y="5247356"/>
            <a:ext cx="2076450" cy="552450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24AA5A8-A3BF-014F-B743-A575E11B8BBB}"/>
              </a:ext>
            </a:extLst>
          </p:cNvPr>
          <p:cNvSpPr txBox="1"/>
          <p:nvPr/>
        </p:nvSpPr>
        <p:spPr>
          <a:xfrm>
            <a:off x="1027946" y="5339458"/>
            <a:ext cx="2780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u="sng"/>
              <a:t>Formule utilizzate</a:t>
            </a:r>
            <a:r>
              <a:rPr lang="it-IT" sz="1600"/>
              <a:t>: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6819867-73B3-8EE6-B42A-14DE8168F28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955" t="53176" r="23688" b="38450"/>
          <a:stretch/>
        </p:blipFill>
        <p:spPr>
          <a:xfrm>
            <a:off x="209799" y="2316451"/>
            <a:ext cx="11772402" cy="989157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F2E0E38D-1AFA-1176-9BB7-0D13CAD32CD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956" t="66935" r="10660" b="21734"/>
          <a:stretch/>
        </p:blipFill>
        <p:spPr>
          <a:xfrm>
            <a:off x="39653" y="3625561"/>
            <a:ext cx="12152347" cy="130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05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F85155-791A-E5DE-A201-08F692F60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443" y="1552074"/>
            <a:ext cx="10905893" cy="4525963"/>
          </a:xfrm>
        </p:spPr>
        <p:txBody>
          <a:bodyPr>
            <a:normAutofit/>
          </a:bodyPr>
          <a:lstStyle/>
          <a:p>
            <a:r>
              <a:rPr lang="it-IT" sz="1800"/>
              <a:t>Affinché il punto di funzionamento dell’impianto coincida con il punto di funzionamento teorico, calcolo in corrispondenza della portata di progetto Q</a:t>
            </a:r>
            <a:r>
              <a:rPr lang="it-IT" sz="1800" baseline="-25000"/>
              <a:t>0 </a:t>
            </a:r>
            <a:r>
              <a:rPr lang="it-IT" sz="1800"/>
              <a:t>la perdita di carico che deve essere dissipata dalla </a:t>
            </a:r>
            <a:r>
              <a:rPr lang="it-IT" sz="1800" u="sng"/>
              <a:t>valvola di regolazione</a:t>
            </a:r>
            <a:r>
              <a:rPr lang="it-IT" sz="1800"/>
              <a:t> che andrò ad introdurre:</a:t>
            </a:r>
          </a:p>
          <a:p>
            <a:endParaRPr lang="it-IT" sz="1800" b="0" i="0" u="none" strike="noStrike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endParaRPr lang="it-IT" sz="180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endParaRPr lang="it-IT" sz="1800" b="0" i="0" u="none" strike="noStrike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endParaRPr lang="it-IT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1800">
                <a:latin typeface="Arial" panose="020B0604020202020204" pitchFamily="34" charset="0"/>
                <a:cs typeface="Arial" panose="020B0604020202020204" pitchFamily="34" charset="0"/>
              </a:rPr>
              <a:t>Per dissipare questo valore di </a:t>
            </a:r>
            <a:r>
              <a:rPr lang="el-GR" sz="1800" b="0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Δ𝐻</a:t>
            </a:r>
            <a:r>
              <a:rPr lang="it-IT" sz="1800" b="0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nota V = </a:t>
            </a:r>
            <a:r>
              <a:rPr lang="it-IT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0,64299</a:t>
            </a:r>
            <a:r>
              <a:rPr lang="it-IT" sz="1400"/>
              <a:t> </a:t>
            </a:r>
            <a:r>
              <a:rPr lang="it-IT" sz="1800"/>
              <a:t>m/s, il coefficiente della valvola di regolazione deve essere pari a:</a:t>
            </a:r>
            <a:endParaRPr lang="it-IT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BC238588-B185-C0BF-5AD6-FB0A8065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/>
              <a:t>IMPIANTO DI SOLLEVAMENTO – Scelta del sistema di pompe</a:t>
            </a:r>
            <a:endParaRPr lang="it-IT" b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6DC9263-71EC-65FC-B5CC-82E8666ED2E3}"/>
              </a:ext>
            </a:extLst>
          </p:cNvPr>
          <p:cNvSpPr txBox="1"/>
          <p:nvPr/>
        </p:nvSpPr>
        <p:spPr>
          <a:xfrm>
            <a:off x="4420968" y="2839453"/>
            <a:ext cx="32311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l-GR" sz="1800" b="0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Δ𝐻</a:t>
            </a:r>
            <a:r>
              <a:rPr lang="el-GR" sz="1800" b="0" i="0" u="none" strike="noStrike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𝑣𝑎𝑙𝑣</a:t>
            </a:r>
            <a:r>
              <a:rPr lang="it-IT" sz="1800" b="0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H – </a:t>
            </a:r>
            <a:r>
              <a:rPr lang="it-IT" sz="1800" b="0" i="0" u="none" strike="noStrike" baseline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it-IT" sz="1800" b="0" i="0" u="none" strike="noStrike" baseline="-2500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</a:t>
            </a:r>
            <a:r>
              <a:rPr lang="it-IT" sz="1800" b="0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6,192</a:t>
            </a:r>
            <a:r>
              <a:rPr lang="it-IT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DA5109D-B6E7-14A3-3D2C-3DB3D17E9545}"/>
              </a:ext>
            </a:extLst>
          </p:cNvPr>
          <p:cNvSpPr txBox="1"/>
          <p:nvPr/>
        </p:nvSpPr>
        <p:spPr>
          <a:xfrm>
            <a:off x="5195683" y="4705255"/>
            <a:ext cx="181941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l-GR" sz="1800" b="0" i="0" u="none" strike="noStrike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𝑣𝑎𝑙𝑣</a:t>
            </a:r>
            <a:r>
              <a:rPr lang="it-IT" sz="1800" b="0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lang="it-IT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293,372</a:t>
            </a:r>
          </a:p>
        </p:txBody>
      </p:sp>
    </p:spTree>
    <p:extLst>
      <p:ext uri="{BB962C8B-B14F-4D97-AF65-F5344CB8AC3E}">
        <p14:creationId xmlns:p14="http://schemas.microsoft.com/office/powerpoint/2010/main" val="1193171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4ACA500-AE87-14ED-5BF3-841B02282B8B}"/>
              </a:ext>
            </a:extLst>
          </p:cNvPr>
          <p:cNvSpPr txBox="1"/>
          <p:nvPr/>
        </p:nvSpPr>
        <p:spPr>
          <a:xfrm>
            <a:off x="4655985" y="3636786"/>
            <a:ext cx="288002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it-IT" sz="2800">
                <a:latin typeface="Arial Nova"/>
                <a:cs typeface="Arial"/>
              </a:rPr>
              <a:t>RETE NERA</a:t>
            </a:r>
          </a:p>
          <a:p>
            <a:pPr marL="285750" indent="-285750">
              <a:buFont typeface="Wingdings"/>
              <a:buChar char="§"/>
            </a:pPr>
            <a:r>
              <a:rPr lang="it-IT" sz="2800">
                <a:latin typeface="Arial Nova"/>
                <a:cs typeface="Arial"/>
              </a:rPr>
              <a:t>RETE BIANCA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1B3B15-1E18-CFD8-6487-AF343CCA6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49" y="2101516"/>
            <a:ext cx="11098301" cy="4024648"/>
          </a:xfrm>
        </p:spPr>
        <p:txBody>
          <a:bodyPr anchor="t">
            <a:normAutofit/>
          </a:bodyPr>
          <a:lstStyle/>
          <a:p>
            <a:pPr algn="ctr"/>
            <a:r>
              <a:rPr lang="it-IT" sz="6000" u="sng">
                <a:solidFill>
                  <a:schemeClr val="tx2"/>
                </a:solidFill>
                <a:latin typeface="Arial Nova"/>
                <a:ea typeface="STHupo"/>
              </a:rPr>
              <a:t>FOGNATURA</a:t>
            </a:r>
            <a:endParaRPr lang="it-IT" sz="6000"/>
          </a:p>
        </p:txBody>
      </p:sp>
    </p:spTree>
    <p:extLst>
      <p:ext uri="{BB962C8B-B14F-4D97-AF65-F5344CB8AC3E}">
        <p14:creationId xmlns:p14="http://schemas.microsoft.com/office/powerpoint/2010/main" val="3589452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7D4467-61E1-4EF4-B56B-9BFD9C487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FOGNATURA – Dati di progetto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C3FC27-1147-45B3-9C03-F6065861E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39" y="1459221"/>
            <a:ext cx="11098301" cy="4525963"/>
          </a:xfrm>
        </p:spPr>
        <p:txBody>
          <a:bodyPr>
            <a:normAutofit/>
          </a:bodyPr>
          <a:lstStyle/>
          <a:p>
            <a:r>
              <a:rPr lang="it-IT" sz="1800">
                <a:latin typeface="+mj-lt"/>
              </a:rPr>
              <a:t>Caratteristiche dei bacini: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28864C51-17C7-45CC-01C4-70B6BB8BC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415594"/>
              </p:ext>
            </p:extLst>
          </p:nvPr>
        </p:nvGraphicFramePr>
        <p:xfrm>
          <a:off x="546849" y="1842165"/>
          <a:ext cx="3048002" cy="2498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0484">
                  <a:extLst>
                    <a:ext uri="{9D8B030D-6E8A-4147-A177-3AD203B41FA5}">
                      <a16:colId xmlns:a16="http://schemas.microsoft.com/office/drawing/2014/main" val="167811254"/>
                    </a:ext>
                  </a:extLst>
                </a:gridCol>
                <a:gridCol w="623777">
                  <a:extLst>
                    <a:ext uri="{9D8B030D-6E8A-4147-A177-3AD203B41FA5}">
                      <a16:colId xmlns:a16="http://schemas.microsoft.com/office/drawing/2014/main" val="1946051194"/>
                    </a:ext>
                  </a:extLst>
                </a:gridCol>
                <a:gridCol w="694661">
                  <a:extLst>
                    <a:ext uri="{9D8B030D-6E8A-4147-A177-3AD203B41FA5}">
                      <a16:colId xmlns:a16="http://schemas.microsoft.com/office/drawing/2014/main" val="3472710837"/>
                    </a:ext>
                  </a:extLst>
                </a:gridCol>
                <a:gridCol w="467833">
                  <a:extLst>
                    <a:ext uri="{9D8B030D-6E8A-4147-A177-3AD203B41FA5}">
                      <a16:colId xmlns:a16="http://schemas.microsoft.com/office/drawing/2014/main" val="3850300261"/>
                    </a:ext>
                  </a:extLst>
                </a:gridCol>
                <a:gridCol w="581247">
                  <a:extLst>
                    <a:ext uri="{9D8B030D-6E8A-4147-A177-3AD203B41FA5}">
                      <a16:colId xmlns:a16="http://schemas.microsoft.com/office/drawing/2014/main" val="972094533"/>
                    </a:ext>
                  </a:extLst>
                </a:gridCol>
              </a:tblGrid>
              <a:tr h="26934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Bacino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S[ha]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IMP[-]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i[-]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L [m]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41948"/>
                  </a:ext>
                </a:extLst>
              </a:tr>
              <a:tr h="22290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2,5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0,52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0,009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103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985614"/>
                  </a:ext>
                </a:extLst>
              </a:tr>
              <a:tr h="22290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2,5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0,52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0,009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89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203778"/>
                  </a:ext>
                </a:extLst>
              </a:tr>
              <a:tr h="22290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2,3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0,7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0,009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115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256671"/>
                  </a:ext>
                </a:extLst>
              </a:tr>
              <a:tr h="22290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2,5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0,28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0,009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130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078406"/>
                  </a:ext>
                </a:extLst>
              </a:tr>
              <a:tr h="22290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1,8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0,55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0,007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122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952010"/>
                  </a:ext>
                </a:extLst>
              </a:tr>
              <a:tr h="22290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3,6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0,36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0,007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190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498984"/>
                  </a:ext>
                </a:extLst>
              </a:tr>
              <a:tr h="22290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7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4,5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0,45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0,006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243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326120"/>
                  </a:ext>
                </a:extLst>
              </a:tr>
              <a:tr h="22290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8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2,4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0,75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0,004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195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96436"/>
                  </a:ext>
                </a:extLst>
              </a:tr>
              <a:tr h="22290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9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5,9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0,75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0,006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184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896119"/>
                  </a:ext>
                </a:extLst>
              </a:tr>
              <a:tr h="22290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6,3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0,75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0,003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100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65094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561B6096-D48A-732B-E298-B0A6B63B1105}"/>
              </a:ext>
            </a:extLst>
          </p:cNvPr>
          <p:cNvSpPr txBox="1"/>
          <p:nvPr/>
        </p:nvSpPr>
        <p:spPr>
          <a:xfrm>
            <a:off x="4077733" y="1472833"/>
            <a:ext cx="3397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Curve di possibilità pluviometrica: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FF4E9461-A9F6-8406-60AD-91FD8C6C9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293002"/>
              </p:ext>
            </p:extLst>
          </p:nvPr>
        </p:nvGraphicFramePr>
        <p:xfrm>
          <a:off x="4201546" y="1849811"/>
          <a:ext cx="2877681" cy="6735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195">
                  <a:extLst>
                    <a:ext uri="{9D8B030D-6E8A-4147-A177-3AD203B41FA5}">
                      <a16:colId xmlns:a16="http://schemas.microsoft.com/office/drawing/2014/main" val="4166079847"/>
                    </a:ext>
                  </a:extLst>
                </a:gridCol>
                <a:gridCol w="1077594">
                  <a:extLst>
                    <a:ext uri="{9D8B030D-6E8A-4147-A177-3AD203B41FA5}">
                      <a16:colId xmlns:a16="http://schemas.microsoft.com/office/drawing/2014/main" val="2196455595"/>
                    </a:ext>
                  </a:extLst>
                </a:gridCol>
                <a:gridCol w="977892">
                  <a:extLst>
                    <a:ext uri="{9D8B030D-6E8A-4147-A177-3AD203B41FA5}">
                      <a16:colId xmlns:a16="http://schemas.microsoft.com/office/drawing/2014/main" val="1989481632"/>
                    </a:ext>
                  </a:extLst>
                </a:gridCol>
              </a:tblGrid>
              <a:tr h="22451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CURVA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a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n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725259"/>
                  </a:ext>
                </a:extLst>
              </a:tr>
              <a:tr h="22451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h(</a:t>
                      </a:r>
                      <a:r>
                        <a:rPr lang="el-GR" sz="1400" u="none" strike="noStrike">
                          <a:effectLst/>
                          <a:latin typeface="+mn-lt"/>
                        </a:rPr>
                        <a:t>θ&lt;30)</a:t>
                      </a:r>
                      <a:endParaRPr lang="el-G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42,00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0,4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495076"/>
                  </a:ext>
                </a:extLst>
              </a:tr>
              <a:tr h="22451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h(</a:t>
                      </a:r>
                      <a:r>
                        <a:rPr lang="el-GR" sz="1400" u="none" strike="noStrike">
                          <a:effectLst/>
                          <a:latin typeface="+mn-lt"/>
                        </a:rPr>
                        <a:t>θ&gt;30)</a:t>
                      </a:r>
                      <a:endParaRPr lang="el-GR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37,10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0,3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768462"/>
                  </a:ext>
                </a:extLst>
              </a:tr>
            </a:tbl>
          </a:graphicData>
        </a:graphic>
      </p:graphicFrame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3702B7E-4C17-06B6-5512-C2A5041C7230}"/>
              </a:ext>
            </a:extLst>
          </p:cNvPr>
          <p:cNvSpPr txBox="1"/>
          <p:nvPr/>
        </p:nvSpPr>
        <p:spPr>
          <a:xfrm>
            <a:off x="4166221" y="3234838"/>
            <a:ext cx="2458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Due materiali possibili:</a:t>
            </a: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A6E76669-3A92-C8C2-742D-1C1CF92D8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720352"/>
              </p:ext>
            </p:extLst>
          </p:nvPr>
        </p:nvGraphicFramePr>
        <p:xfrm>
          <a:off x="4298512" y="3604170"/>
          <a:ext cx="2458065" cy="688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2029">
                  <a:extLst>
                    <a:ext uri="{9D8B030D-6E8A-4147-A177-3AD203B41FA5}">
                      <a16:colId xmlns:a16="http://schemas.microsoft.com/office/drawing/2014/main" val="3824305989"/>
                    </a:ext>
                  </a:extLst>
                </a:gridCol>
                <a:gridCol w="1246036">
                  <a:extLst>
                    <a:ext uri="{9D8B030D-6E8A-4147-A177-3AD203B41FA5}">
                      <a16:colId xmlns:a16="http://schemas.microsoft.com/office/drawing/2014/main" val="401780077"/>
                    </a:ext>
                  </a:extLst>
                </a:gridCol>
              </a:tblGrid>
              <a:tr h="242020">
                <a:tc>
                  <a:txBody>
                    <a:bodyPr/>
                    <a:lstStyle/>
                    <a:p>
                      <a:pPr algn="ctr" fontAlgn="b"/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K</a:t>
                      </a:r>
                      <a:r>
                        <a:rPr lang="it-IT" sz="1400" u="none" strike="noStrike" baseline="-25000">
                          <a:effectLst/>
                          <a:latin typeface="+mn-lt"/>
                        </a:rPr>
                        <a:t>S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642935"/>
                  </a:ext>
                </a:extLst>
              </a:tr>
              <a:tr h="22340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CALCESTRUZZO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70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056486"/>
                  </a:ext>
                </a:extLst>
              </a:tr>
              <a:tr h="22340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GRES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90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638534"/>
                  </a:ext>
                </a:extLst>
              </a:tr>
            </a:tbl>
          </a:graphicData>
        </a:graphic>
      </p:graphicFrame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064308D-4D75-7D9F-98BE-CDA18C1F54F1}"/>
              </a:ext>
            </a:extLst>
          </p:cNvPr>
          <p:cNvSpPr txBox="1"/>
          <p:nvPr/>
        </p:nvSpPr>
        <p:spPr>
          <a:xfrm>
            <a:off x="424395" y="4892249"/>
            <a:ext cx="2517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Coefficiente udometrico:</a:t>
            </a:r>
          </a:p>
        </p:txBody>
      </p:sp>
      <p:graphicFrame>
        <p:nvGraphicFramePr>
          <p:cNvPr id="17" name="Tabella 16">
            <a:extLst>
              <a:ext uri="{FF2B5EF4-FFF2-40B4-BE49-F238E27FC236}">
                <a16:creationId xmlns:a16="http://schemas.microsoft.com/office/drawing/2014/main" id="{004545DC-5AA5-949B-433D-7E1FB306A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974164"/>
              </p:ext>
            </p:extLst>
          </p:nvPr>
        </p:nvGraphicFramePr>
        <p:xfrm>
          <a:off x="598824" y="5249845"/>
          <a:ext cx="2168949" cy="44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5690">
                  <a:extLst>
                    <a:ext uri="{9D8B030D-6E8A-4147-A177-3AD203B41FA5}">
                      <a16:colId xmlns:a16="http://schemas.microsoft.com/office/drawing/2014/main" val="221892461"/>
                    </a:ext>
                  </a:extLst>
                </a:gridCol>
                <a:gridCol w="1093259">
                  <a:extLst>
                    <a:ext uri="{9D8B030D-6E8A-4147-A177-3AD203B41FA5}">
                      <a16:colId xmlns:a16="http://schemas.microsoft.com/office/drawing/2014/main" val="258666686"/>
                    </a:ext>
                  </a:extLst>
                </a:gridCol>
              </a:tblGrid>
              <a:tr h="17323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COEFFICIENTE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L/s/ha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814676"/>
                  </a:ext>
                </a:extLst>
              </a:tr>
              <a:tr h="18102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Un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1,5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679278"/>
                  </a:ext>
                </a:extLst>
              </a:tr>
            </a:tbl>
          </a:graphicData>
        </a:graphic>
      </p:graphicFrame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2B4552B-52C0-0E77-6434-11A43931348B}"/>
              </a:ext>
            </a:extLst>
          </p:cNvPr>
          <p:cNvSpPr txBox="1"/>
          <p:nvPr/>
        </p:nvSpPr>
        <p:spPr>
          <a:xfrm>
            <a:off x="8490285" y="1472833"/>
            <a:ext cx="3271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Coefficienti di deflusso utilizzati:</a:t>
            </a:r>
          </a:p>
        </p:txBody>
      </p:sp>
      <p:graphicFrame>
        <p:nvGraphicFramePr>
          <p:cNvPr id="19" name="Tabella 18">
            <a:extLst>
              <a:ext uri="{FF2B5EF4-FFF2-40B4-BE49-F238E27FC236}">
                <a16:creationId xmlns:a16="http://schemas.microsoft.com/office/drawing/2014/main" id="{E937BC4B-64DB-33E9-4DE0-1EE31B454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433132"/>
              </p:ext>
            </p:extLst>
          </p:nvPr>
        </p:nvGraphicFramePr>
        <p:xfrm>
          <a:off x="8597151" y="1862326"/>
          <a:ext cx="2035277" cy="4594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6990">
                  <a:extLst>
                    <a:ext uri="{9D8B030D-6E8A-4147-A177-3AD203B41FA5}">
                      <a16:colId xmlns:a16="http://schemas.microsoft.com/office/drawing/2014/main" val="2911676922"/>
                    </a:ext>
                  </a:extLst>
                </a:gridCol>
                <a:gridCol w="1018287">
                  <a:extLst>
                    <a:ext uri="{9D8B030D-6E8A-4147-A177-3AD203B41FA5}">
                      <a16:colId xmlns:a16="http://schemas.microsoft.com/office/drawing/2014/main" val="3689561600"/>
                    </a:ext>
                  </a:extLst>
                </a:gridCol>
              </a:tblGrid>
              <a:tr h="229747">
                <a:tc>
                  <a:txBody>
                    <a:bodyPr/>
                    <a:lstStyle/>
                    <a:p>
                      <a:pPr algn="ctr" fontAlgn="b"/>
                      <a:r>
                        <a:rPr lang="el-GR" sz="1400" u="none" strike="noStrike">
                          <a:effectLst/>
                        </a:rPr>
                        <a:t>φ</a:t>
                      </a:r>
                      <a:r>
                        <a:rPr lang="it-IT" sz="1400" u="none" strike="noStrike" err="1">
                          <a:effectLst/>
                        </a:rPr>
                        <a:t>imp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0,72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652930"/>
                  </a:ext>
                </a:extLst>
              </a:tr>
              <a:tr h="229747">
                <a:tc>
                  <a:txBody>
                    <a:bodyPr/>
                    <a:lstStyle/>
                    <a:p>
                      <a:pPr algn="ctr" fontAlgn="b"/>
                      <a:r>
                        <a:rPr lang="el-GR" sz="1400" u="none" strike="noStrike">
                          <a:effectLst/>
                        </a:rPr>
                        <a:t>φ</a:t>
                      </a:r>
                      <a:r>
                        <a:rPr lang="it-IT" sz="1400" u="none" strike="noStrike" err="1">
                          <a:effectLst/>
                        </a:rPr>
                        <a:t>perm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0,17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17632"/>
                  </a:ext>
                </a:extLst>
              </a:tr>
            </a:tbl>
          </a:graphicData>
        </a:graphic>
      </p:graphicFrame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B4B07FEC-56C9-C2C5-8BF1-B1E418763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674545"/>
              </p:ext>
            </p:extLst>
          </p:nvPr>
        </p:nvGraphicFramePr>
        <p:xfrm>
          <a:off x="3527058" y="5249845"/>
          <a:ext cx="4487264" cy="44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0384">
                  <a:extLst>
                    <a:ext uri="{9D8B030D-6E8A-4147-A177-3AD203B41FA5}">
                      <a16:colId xmlns:a16="http://schemas.microsoft.com/office/drawing/2014/main" val="2862000459"/>
                    </a:ext>
                  </a:extLst>
                </a:gridCol>
                <a:gridCol w="1573132">
                  <a:extLst>
                    <a:ext uri="{9D8B030D-6E8A-4147-A177-3AD203B41FA5}">
                      <a16:colId xmlns:a16="http://schemas.microsoft.com/office/drawing/2014/main" val="2701487442"/>
                    </a:ext>
                  </a:extLst>
                </a:gridCol>
                <a:gridCol w="1803748">
                  <a:extLst>
                    <a:ext uri="{9D8B030D-6E8A-4147-A177-3AD203B41FA5}">
                      <a16:colId xmlns:a16="http://schemas.microsoft.com/office/drawing/2014/main" val="269041123"/>
                    </a:ext>
                  </a:extLst>
                </a:gridCol>
              </a:tblGrid>
              <a:tr h="21440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Corrivazione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Tempo d'entrata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400" u="none" strike="noStrike">
                          <a:effectLst/>
                        </a:rPr>
                        <a:t>   Te   5   [min]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915212"/>
                  </a:ext>
                </a:extLst>
              </a:tr>
              <a:tr h="21440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Invaso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Volume piccoli invasi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400" u="none" strike="noStrike">
                          <a:effectLst/>
                        </a:rPr>
                        <a:t>   w0   10   [m^3/</a:t>
                      </a:r>
                      <a:r>
                        <a:rPr lang="it-IT" sz="1400" u="none" strike="noStrike" err="1">
                          <a:effectLst/>
                        </a:rPr>
                        <a:t>haimp</a:t>
                      </a:r>
                      <a:r>
                        <a:rPr lang="it-IT" sz="1400" u="none" strike="noStrike">
                          <a:effectLst/>
                        </a:rPr>
                        <a:t>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776996"/>
                  </a:ext>
                </a:extLst>
              </a:tr>
            </a:tbl>
          </a:graphicData>
        </a:graphic>
      </p:graphicFrame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6917D65-ED24-17F9-74ED-284C1FC26E8D}"/>
              </a:ext>
            </a:extLst>
          </p:cNvPr>
          <p:cNvSpPr txBox="1"/>
          <p:nvPr/>
        </p:nvSpPr>
        <p:spPr>
          <a:xfrm>
            <a:off x="3431459" y="4880513"/>
            <a:ext cx="197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Parametri specifici:</a:t>
            </a: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70C12B68-D5A6-AF46-1AAC-2A20BE75C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705" y="2523344"/>
            <a:ext cx="4244406" cy="2289442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71A0DCD-B68F-1111-6907-7DE0069A69B7}"/>
              </a:ext>
            </a:extLst>
          </p:cNvPr>
          <p:cNvSpPr txBox="1"/>
          <p:nvPr/>
        </p:nvSpPr>
        <p:spPr>
          <a:xfrm>
            <a:off x="8597151" y="4880513"/>
            <a:ext cx="1244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Per n = 0.4:</a:t>
            </a:r>
          </a:p>
        </p:txBody>
      </p:sp>
      <p:graphicFrame>
        <p:nvGraphicFramePr>
          <p:cNvPr id="24" name="Tabella 23">
            <a:extLst>
              <a:ext uri="{FF2B5EF4-FFF2-40B4-BE49-F238E27FC236}">
                <a16:creationId xmlns:a16="http://schemas.microsoft.com/office/drawing/2014/main" id="{DFF2C550-BBDD-8D73-C429-612DCBAC8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009598"/>
              </p:ext>
            </p:extLst>
          </p:nvPr>
        </p:nvGraphicFramePr>
        <p:xfrm>
          <a:off x="8760542" y="5249845"/>
          <a:ext cx="1871886" cy="44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5943">
                  <a:extLst>
                    <a:ext uri="{9D8B030D-6E8A-4147-A177-3AD203B41FA5}">
                      <a16:colId xmlns:a16="http://schemas.microsoft.com/office/drawing/2014/main" val="1059239895"/>
                    </a:ext>
                  </a:extLst>
                </a:gridCol>
                <a:gridCol w="935943">
                  <a:extLst>
                    <a:ext uri="{9D8B030D-6E8A-4147-A177-3AD203B41FA5}">
                      <a16:colId xmlns:a16="http://schemas.microsoft.com/office/drawing/2014/main" val="2904561430"/>
                    </a:ext>
                  </a:extLst>
                </a:gridCol>
              </a:tblGrid>
              <a:tr h="21515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C(n)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0,97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20509"/>
                  </a:ext>
                </a:extLst>
              </a:tr>
              <a:tr h="21515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D(n)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0,63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6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8161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A227C3-380A-326A-EE2E-E4E913D4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FOGNATURA – Scala delle portate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B64BB6-EF5F-124B-E180-CA86339AD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95" y="1506052"/>
            <a:ext cx="11098301" cy="4525963"/>
          </a:xfrm>
        </p:spPr>
        <p:txBody>
          <a:bodyPr>
            <a:normAutofit/>
          </a:bodyPr>
          <a:lstStyle/>
          <a:p>
            <a:r>
              <a:rPr lang="it-IT" sz="1800">
                <a:latin typeface="+mn-lt"/>
              </a:rPr>
              <a:t>Per la verifica delle velocità e del grado di riempimento h/d abbiamo utilizzato la seguente scala delle portate:</a:t>
            </a:r>
          </a:p>
          <a:p>
            <a:endParaRPr lang="it-IT" sz="1800">
              <a:latin typeface="+mn-lt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B4120C1-49F0-9797-073A-F10CAB37D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965" y="1977770"/>
            <a:ext cx="3947502" cy="256816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AD36949-F3A8-FC95-8196-4D9026E4C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390" y="1954908"/>
            <a:ext cx="3947502" cy="259102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9B69F91-A5B5-6910-F51B-7495B3F31FCA}"/>
              </a:ext>
            </a:extLst>
          </p:cNvPr>
          <p:cNvSpPr txBox="1"/>
          <p:nvPr/>
        </p:nvSpPr>
        <p:spPr>
          <a:xfrm>
            <a:off x="560516" y="4771947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La rete bianca è stata dimensionata in modo che le velocità fossero comprese tra 0.5 – 5 m/s mentre il grado di riempimento h/d compreso tra 0.5 – 0.75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5407680-F7B0-2E80-5444-A90CC6FEEF79}"/>
              </a:ext>
            </a:extLst>
          </p:cNvPr>
          <p:cNvSpPr txBox="1"/>
          <p:nvPr/>
        </p:nvSpPr>
        <p:spPr>
          <a:xfrm>
            <a:off x="560516" y="5591024"/>
            <a:ext cx="1062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La rete nera è stata dimensionata in modo da avere velocità non inferiori a 0.4 m/s</a:t>
            </a:r>
          </a:p>
        </p:txBody>
      </p:sp>
    </p:spTree>
    <p:extLst>
      <p:ext uri="{BB962C8B-B14F-4D97-AF65-F5344CB8AC3E}">
        <p14:creationId xmlns:p14="http://schemas.microsoft.com/office/powerpoint/2010/main" val="3791374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03B01E-99E7-4AD0-23B5-BBE3FE8D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FOGNATURA – Rete acque nere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81A167E-A5BA-C9B1-EF9B-FBF979DFEBE9}"/>
              </a:ext>
            </a:extLst>
          </p:cNvPr>
          <p:cNvSpPr txBox="1"/>
          <p:nvPr/>
        </p:nvSpPr>
        <p:spPr>
          <a:xfrm>
            <a:off x="718847" y="4572000"/>
            <a:ext cx="65471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La portata nera è stata ricavata da </a:t>
            </a:r>
            <a:r>
              <a:rPr lang="it-IT" err="1"/>
              <a:t>Q</a:t>
            </a:r>
            <a:r>
              <a:rPr lang="it-IT" baseline="-25000" err="1"/>
              <a:t>n</a:t>
            </a:r>
            <a:r>
              <a:rPr lang="it-IT"/>
              <a:t> = u</a:t>
            </a:r>
            <a:r>
              <a:rPr lang="it-IT" baseline="-25000"/>
              <a:t>n</a:t>
            </a:r>
            <a:r>
              <a:rPr lang="it-IT"/>
              <a:t> * S</a:t>
            </a:r>
          </a:p>
          <a:p>
            <a:endParaRPr lang="it-IT"/>
          </a:p>
          <a:p>
            <a:r>
              <a:rPr lang="it-IT"/>
              <a:t>- La velocità </a:t>
            </a:r>
            <a:r>
              <a:rPr lang="it-IT" err="1"/>
              <a:t>Vr</a:t>
            </a:r>
            <a:r>
              <a:rPr lang="it-IT"/>
              <a:t> è stata ricavata dall’equazione di </a:t>
            </a:r>
            <a:r>
              <a:rPr lang="it-IT" err="1"/>
              <a:t>Chèzy</a:t>
            </a:r>
            <a:r>
              <a:rPr lang="it-IT"/>
              <a:t> per il moto a pelo libero:</a:t>
            </a:r>
          </a:p>
          <a:p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2F30147-1281-D9EA-D5F0-D4C7EF54A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377" y="5201072"/>
            <a:ext cx="3191776" cy="449893"/>
          </a:xfrm>
          <a:prstGeom prst="rect">
            <a:avLst/>
          </a:prstGeom>
        </p:spPr>
      </p:pic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047C1177-60C8-954B-F2B8-0E07EEC4C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E67F4C3-53F4-BBE6-B8B6-D1CDB52D5E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578" t="36573" r="12422" b="39879"/>
          <a:stretch/>
        </p:blipFill>
        <p:spPr>
          <a:xfrm>
            <a:off x="258265" y="1600201"/>
            <a:ext cx="11675469" cy="270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64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DCF983-24F6-3871-640F-CC042B49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FOGNATURA – Rete acque meteoriche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B725B96-E465-AE66-FCE7-85C483380DFA}"/>
              </a:ext>
            </a:extLst>
          </p:cNvPr>
          <p:cNvSpPr txBox="1"/>
          <p:nvPr/>
        </p:nvSpPr>
        <p:spPr>
          <a:xfrm>
            <a:off x="7403690" y="1852055"/>
            <a:ext cx="4304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Abbiamo diviso le sezioni e considerato i bacini che avevano rami a monte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C644E81-6BB3-0D28-7A82-4D6359AEDFD4}"/>
              </a:ext>
            </a:extLst>
          </p:cNvPr>
          <p:cNvSpPr txBox="1"/>
          <p:nvPr/>
        </p:nvSpPr>
        <p:spPr>
          <a:xfrm>
            <a:off x="7403690" y="2977698"/>
            <a:ext cx="43044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L’IMP totale è stato calcolato come media pesata degli IMP dei rami a monte sulle rispettive superfici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0495C18-E121-F315-8319-4E5396CA00F5}"/>
              </a:ext>
            </a:extLst>
          </p:cNvPr>
          <p:cNvSpPr txBox="1"/>
          <p:nvPr/>
        </p:nvSpPr>
        <p:spPr>
          <a:xfrm>
            <a:off x="7403690" y="4380340"/>
            <a:ext cx="4422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Il coefficiente di deflusso </a:t>
            </a:r>
            <a:r>
              <a:rPr lang="el-GR" sz="1800" u="none" strike="noStrike">
                <a:effectLst/>
              </a:rPr>
              <a:t>ϕ</a:t>
            </a:r>
            <a:r>
              <a:rPr lang="it-IT">
                <a:solidFill>
                  <a:srgbClr val="000000"/>
                </a:solidFill>
              </a:rPr>
              <a:t> è stato valutato come</a:t>
            </a:r>
            <a:r>
              <a:rPr lang="it-IT">
                <a:solidFill>
                  <a:srgbClr val="000000"/>
                </a:solidFill>
                <a:sym typeface="Wingdings" panose="05000000000000000000" pitchFamily="2" charset="2"/>
              </a:rPr>
              <a:t>:</a:t>
            </a:r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F9F023D-E896-CBED-3776-80324BBF3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690" y="5026671"/>
            <a:ext cx="3989776" cy="487959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F427195-0318-92F6-E932-EFD376E69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CCD6293E-C2C4-25E6-4504-65450D0331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30" t="34409" r="72965" b="12464"/>
          <a:stretch/>
        </p:blipFill>
        <p:spPr>
          <a:xfrm>
            <a:off x="927620" y="1436735"/>
            <a:ext cx="3989776" cy="485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55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D8E2F9-0A6D-DCE7-768E-18F3674A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FOGNATURA – Rete acque meteoriche metodo della corrivazione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53AFA7D-A6F0-78D2-78D5-C6504B12FC16}"/>
              </a:ext>
            </a:extLst>
          </p:cNvPr>
          <p:cNvSpPr txBox="1"/>
          <p:nvPr/>
        </p:nvSpPr>
        <p:spPr>
          <a:xfrm>
            <a:off x="8465574" y="1774530"/>
            <a:ext cx="3726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-Abbiamo scelto condotte in calcestruzzo con </a:t>
            </a:r>
            <a:r>
              <a:rPr lang="it-IT" err="1"/>
              <a:t>ks</a:t>
            </a:r>
            <a:r>
              <a:rPr lang="it-IT"/>
              <a:t> = 70 m</a:t>
            </a:r>
            <a:r>
              <a:rPr lang="it-IT" baseline="30000"/>
              <a:t>1/3</a:t>
            </a:r>
            <a:r>
              <a:rPr lang="it-IT"/>
              <a:t>/s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27FB43D-DFD1-090A-5643-D55494E81FEC}"/>
              </a:ext>
            </a:extLst>
          </p:cNvPr>
          <p:cNvSpPr txBox="1"/>
          <p:nvPr/>
        </p:nvSpPr>
        <p:spPr>
          <a:xfrm>
            <a:off x="8465574" y="2954873"/>
            <a:ext cx="3726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-La portata critica </a:t>
            </a:r>
            <a:r>
              <a:rPr lang="it-IT" err="1"/>
              <a:t>Qc</a:t>
            </a:r>
            <a:r>
              <a:rPr lang="it-IT"/>
              <a:t> è stata calcolata tramite</a:t>
            </a:r>
            <a:r>
              <a:rPr lang="it-IT">
                <a:sym typeface="Wingdings" panose="05000000000000000000" pitchFamily="2" charset="2"/>
              </a:rPr>
              <a:t>: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26AF607-03B3-68BB-612F-8441550285F6}"/>
              </a:ext>
            </a:extLst>
          </p:cNvPr>
          <p:cNvSpPr txBox="1"/>
          <p:nvPr/>
        </p:nvSpPr>
        <p:spPr>
          <a:xfrm>
            <a:off x="8465574" y="4022897"/>
            <a:ext cx="3726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Dove T0 è il tempo di corrivazione valutato come: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4CBB464-4504-1721-C67F-E26C7CAA7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776" y="3635618"/>
            <a:ext cx="3287310" cy="37512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F9BE9A22-C29E-7A36-B4A5-9B404EFC9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776" y="4669228"/>
            <a:ext cx="1790335" cy="677173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BC9D88A-99E8-917C-F417-24AF97E4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1A66B39D-C1F1-1FDC-D66D-D3F8E362DD7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188" t="31202" r="21250" b="14918"/>
          <a:stretch/>
        </p:blipFill>
        <p:spPr>
          <a:xfrm>
            <a:off x="743134" y="1333803"/>
            <a:ext cx="6343650" cy="505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626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CB8A75-ED8B-F5E4-FA28-1CF647B3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FOGNATURA – Rete acque meteoriche metodo dell’invaso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5FF4902-EECA-CFE0-7592-5A8735625BB1}"/>
              </a:ext>
            </a:extLst>
          </p:cNvPr>
          <p:cNvSpPr txBox="1"/>
          <p:nvPr/>
        </p:nvSpPr>
        <p:spPr>
          <a:xfrm>
            <a:off x="8721213" y="1570404"/>
            <a:ext cx="3470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</a:t>
            </a:r>
            <a:r>
              <a:rPr lang="it-IT" err="1"/>
              <a:t>Qc</a:t>
            </a:r>
            <a:r>
              <a:rPr lang="it-IT"/>
              <a:t> è stata calcolata come: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94AFB35-A81A-A041-AD6B-2B7693CF72B7}"/>
              </a:ext>
            </a:extLst>
          </p:cNvPr>
          <p:cNvSpPr txBox="1"/>
          <p:nvPr/>
        </p:nvSpPr>
        <p:spPr>
          <a:xfrm>
            <a:off x="8662220" y="2976921"/>
            <a:ext cx="3372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La costante di invaso K è stata stimata tramite il metodo italiano:</a:t>
            </a:r>
          </a:p>
          <a:p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EE4297D-D3F9-CDD9-B42B-83DF57AE3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213" y="1939736"/>
            <a:ext cx="3129045" cy="36933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5126581-AC97-071D-50A7-D09B570D0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0205" y="3664335"/>
            <a:ext cx="2202426" cy="605248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2E2412A-4C97-423D-87D0-CC85158DD0CE}"/>
              </a:ext>
            </a:extLst>
          </p:cNvPr>
          <p:cNvSpPr txBox="1"/>
          <p:nvPr/>
        </p:nvSpPr>
        <p:spPr>
          <a:xfrm>
            <a:off x="8681884" y="4269583"/>
            <a:ext cx="34511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Dove W</a:t>
            </a:r>
            <a:r>
              <a:rPr lang="it-IT" baseline="-25000"/>
              <a:t>0</a:t>
            </a:r>
            <a:r>
              <a:rPr lang="it-IT"/>
              <a:t> è il volume complessivo dei piccoli invasi e </a:t>
            </a:r>
            <a:r>
              <a:rPr lang="it-IT" err="1"/>
              <a:t>Wr</a:t>
            </a:r>
            <a:r>
              <a:rPr lang="it-IT"/>
              <a:t> il volume invasato nella rete, pari all’80% dei volumi massimi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76B9AD55-0F10-F093-C2A9-E6FFF66E1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764A62AD-5D0D-023E-CF36-7227D37D28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922" t="33025" r="35859" b="13907"/>
          <a:stretch/>
        </p:blipFill>
        <p:spPr>
          <a:xfrm>
            <a:off x="484098" y="1226329"/>
            <a:ext cx="6871629" cy="503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878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98F940-5822-EBE0-3788-03A0B98F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FOGNATURA – Vasca di prima pioggia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8FD8C3-CD9D-F3A6-302F-BDBE0FA0C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1800">
                <a:latin typeface="+mn-lt"/>
              </a:rPr>
              <a:t>- Il volume della vasca di prima pioggia è dettato dal regolamento regionale n. 4/2006 e va calcolato tramite la seguente formula:</a:t>
            </a:r>
          </a:p>
          <a:p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endParaRPr lang="it-IT" sz="1800">
              <a:latin typeface="+mn-lt"/>
            </a:endParaRPr>
          </a:p>
          <a:p>
            <a:r>
              <a:rPr lang="it-IT" sz="1800">
                <a:latin typeface="+mn-lt"/>
              </a:rPr>
              <a:t>  </a:t>
            </a:r>
          </a:p>
          <a:p>
            <a:endParaRPr lang="it-IT" sz="1800">
              <a:latin typeface="+mn-lt"/>
            </a:endParaRPr>
          </a:p>
          <a:p>
            <a:r>
              <a:rPr lang="it-IT" sz="1800">
                <a:latin typeface="+mn-lt"/>
              </a:rPr>
              <a:t> - Dove w</a:t>
            </a:r>
            <a:r>
              <a:rPr lang="it-IT" sz="1800" baseline="-25000">
                <a:latin typeface="+mn-lt"/>
              </a:rPr>
              <a:t>0</a:t>
            </a:r>
            <a:r>
              <a:rPr lang="it-IT" sz="1800">
                <a:latin typeface="+mn-lt"/>
              </a:rPr>
              <a:t> è pari a 50 m</a:t>
            </a:r>
            <a:r>
              <a:rPr lang="it-IT" sz="1800" baseline="30000">
                <a:latin typeface="+mn-lt"/>
              </a:rPr>
              <a:t>3</a:t>
            </a:r>
            <a:r>
              <a:rPr lang="it-IT" sz="1800">
                <a:latin typeface="+mn-lt"/>
              </a:rPr>
              <a:t>/</a:t>
            </a:r>
            <a:r>
              <a:rPr lang="it-IT" sz="1800" err="1">
                <a:latin typeface="+mn-lt"/>
              </a:rPr>
              <a:t>ha</a:t>
            </a:r>
            <a:r>
              <a:rPr lang="it-IT" sz="1800" baseline="-25000" err="1">
                <a:latin typeface="+mn-lt"/>
              </a:rPr>
              <a:t>imp</a:t>
            </a:r>
            <a:endParaRPr lang="it-IT" sz="1800" baseline="-25000">
              <a:latin typeface="+mn-lt"/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C4E0CF89-8496-7190-08A7-1BD766337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382061"/>
              </p:ext>
            </p:extLst>
          </p:nvPr>
        </p:nvGraphicFramePr>
        <p:xfrm>
          <a:off x="6459795" y="2837054"/>
          <a:ext cx="4124610" cy="21577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2187">
                  <a:extLst>
                    <a:ext uri="{9D8B030D-6E8A-4147-A177-3AD203B41FA5}">
                      <a16:colId xmlns:a16="http://schemas.microsoft.com/office/drawing/2014/main" val="3228896630"/>
                    </a:ext>
                  </a:extLst>
                </a:gridCol>
                <a:gridCol w="1132615">
                  <a:extLst>
                    <a:ext uri="{9D8B030D-6E8A-4147-A177-3AD203B41FA5}">
                      <a16:colId xmlns:a16="http://schemas.microsoft.com/office/drawing/2014/main" val="3901986637"/>
                    </a:ext>
                  </a:extLst>
                </a:gridCol>
                <a:gridCol w="1179808">
                  <a:extLst>
                    <a:ext uri="{9D8B030D-6E8A-4147-A177-3AD203B41FA5}">
                      <a16:colId xmlns:a16="http://schemas.microsoft.com/office/drawing/2014/main" val="2421428781"/>
                    </a:ext>
                  </a:extLst>
                </a:gridCol>
              </a:tblGrid>
              <a:tr h="486882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Volume da normativa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50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[m</a:t>
                      </a:r>
                      <a:r>
                        <a:rPr lang="it-IT" sz="1400" u="none" strike="noStrike" baseline="30000">
                          <a:effectLst/>
                          <a:latin typeface="+mn-lt"/>
                        </a:rPr>
                        <a:t>3</a:t>
                      </a:r>
                      <a:r>
                        <a:rPr lang="it-IT" sz="1400" u="none" strike="noStrike">
                          <a:effectLst/>
                          <a:latin typeface="+mn-lt"/>
                        </a:rPr>
                        <a:t>/ha</a:t>
                      </a:r>
                      <a:r>
                        <a:rPr lang="it-IT" sz="1400" u="none" strike="noStrike" baseline="-25000">
                          <a:effectLst/>
                          <a:latin typeface="+mn-lt"/>
                        </a:rPr>
                        <a:t>imp</a:t>
                      </a:r>
                      <a:r>
                        <a:rPr lang="it-IT" sz="1400" u="none" strike="noStrike">
                          <a:effectLst/>
                          <a:latin typeface="+mn-lt"/>
                        </a:rPr>
                        <a:t>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092955"/>
                  </a:ext>
                </a:extLst>
              </a:tr>
              <a:tr h="41771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S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34,3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[ha]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67587"/>
                  </a:ext>
                </a:extLst>
              </a:tr>
              <a:tr h="41771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IMP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0,588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[/]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79837"/>
                  </a:ext>
                </a:extLst>
              </a:tr>
              <a:tr h="41771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S. impermeabile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20,171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[ha</a:t>
                      </a:r>
                      <a:r>
                        <a:rPr lang="it-IT" sz="1400" u="none" strike="noStrike" baseline="-25000">
                          <a:effectLst/>
                          <a:latin typeface="+mn-lt"/>
                        </a:rPr>
                        <a:t>imp</a:t>
                      </a:r>
                      <a:r>
                        <a:rPr lang="it-IT" sz="1400" u="none" strike="noStrike">
                          <a:effectLst/>
                          <a:latin typeface="+mn-lt"/>
                        </a:rPr>
                        <a:t>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604698"/>
                  </a:ext>
                </a:extLst>
              </a:tr>
              <a:tr h="41771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Wpp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1008,55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[m</a:t>
                      </a:r>
                      <a:r>
                        <a:rPr lang="it-IT" sz="14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]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449149"/>
                  </a:ext>
                </a:extLst>
              </a:tr>
            </a:tbl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5387AD9B-7B64-2204-841D-E39501E59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30" y="2941408"/>
            <a:ext cx="3860555" cy="48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82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74A02F-629D-2036-A2D6-5D7C6A6F7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VASCA VOLANO – Dati di progetto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4BD7F144-5DDC-35AD-1A3C-B448D675DD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181378"/>
              </p:ext>
            </p:extLst>
          </p:nvPr>
        </p:nvGraphicFramePr>
        <p:xfrm>
          <a:off x="747251" y="1877961"/>
          <a:ext cx="5270090" cy="1647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6620">
                  <a:extLst>
                    <a:ext uri="{9D8B030D-6E8A-4147-A177-3AD203B41FA5}">
                      <a16:colId xmlns:a16="http://schemas.microsoft.com/office/drawing/2014/main" val="3980591193"/>
                    </a:ext>
                  </a:extLst>
                </a:gridCol>
                <a:gridCol w="1135387">
                  <a:extLst>
                    <a:ext uri="{9D8B030D-6E8A-4147-A177-3AD203B41FA5}">
                      <a16:colId xmlns:a16="http://schemas.microsoft.com/office/drawing/2014/main" val="358604321"/>
                    </a:ext>
                  </a:extLst>
                </a:gridCol>
                <a:gridCol w="1182696">
                  <a:extLst>
                    <a:ext uri="{9D8B030D-6E8A-4147-A177-3AD203B41FA5}">
                      <a16:colId xmlns:a16="http://schemas.microsoft.com/office/drawing/2014/main" val="4196023889"/>
                    </a:ext>
                  </a:extLst>
                </a:gridCol>
                <a:gridCol w="1135387">
                  <a:extLst>
                    <a:ext uri="{9D8B030D-6E8A-4147-A177-3AD203B41FA5}">
                      <a16:colId xmlns:a16="http://schemas.microsoft.com/office/drawing/2014/main" val="4172265703"/>
                    </a:ext>
                  </a:extLst>
                </a:gridCol>
              </a:tblGrid>
              <a:tr h="43262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tempo di ritorno 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T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20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anni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53359"/>
                  </a:ext>
                </a:extLst>
              </a:tr>
              <a:tr h="39329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Portata uscente specifica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Qsu_max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20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[l/s/ha</a:t>
                      </a:r>
                      <a:r>
                        <a:rPr lang="it-IT" sz="1400" u="none" strike="noStrike" baseline="-25000">
                          <a:effectLst/>
                          <a:latin typeface="+mn-lt"/>
                        </a:rPr>
                        <a:t>imp</a:t>
                      </a:r>
                      <a:r>
                        <a:rPr lang="it-IT" sz="1400" u="none" strike="noStrike">
                          <a:effectLst/>
                          <a:latin typeface="+mn-lt"/>
                        </a:rPr>
                        <a:t>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848024"/>
                  </a:ext>
                </a:extLst>
              </a:tr>
              <a:tr h="41940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portata scaricata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Qu_max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403,42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[l/s]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034572"/>
                  </a:ext>
                </a:extLst>
              </a:tr>
              <a:tr h="40262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Coefficiente di deflusso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u="none" strike="noStrike">
                          <a:effectLst/>
                        </a:rPr>
                        <a:t>ϕ</a:t>
                      </a:r>
                      <a:endParaRPr lang="el-GR" sz="1400" b="0" i="0" u="none" strike="noStrike">
                        <a:solidFill>
                          <a:srgbClr val="000000"/>
                        </a:solidFill>
                        <a:effectLst/>
                        <a:latin typeface="Georgia Pro" panose="02040502050405020303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+mn-lt"/>
                        </a:rPr>
                        <a:t>0,4934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[/]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69114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A8DBF329-E886-8E7C-F73B-85624416A31D}"/>
              </a:ext>
            </a:extLst>
          </p:cNvPr>
          <p:cNvSpPr txBox="1"/>
          <p:nvPr/>
        </p:nvSpPr>
        <p:spPr>
          <a:xfrm>
            <a:off x="639096" y="4054960"/>
            <a:ext cx="4069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Parametri curva possibilità pluviometrica: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4C78EF5C-CEE9-002A-FD62-8B4BEF97A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019723"/>
              </p:ext>
            </p:extLst>
          </p:nvPr>
        </p:nvGraphicFramePr>
        <p:xfrm>
          <a:off x="1671484" y="4601497"/>
          <a:ext cx="1966452" cy="5423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3226">
                  <a:extLst>
                    <a:ext uri="{9D8B030D-6E8A-4147-A177-3AD203B41FA5}">
                      <a16:colId xmlns:a16="http://schemas.microsoft.com/office/drawing/2014/main" val="3842286673"/>
                    </a:ext>
                  </a:extLst>
                </a:gridCol>
                <a:gridCol w="983226">
                  <a:extLst>
                    <a:ext uri="{9D8B030D-6E8A-4147-A177-3AD203B41FA5}">
                      <a16:colId xmlns:a16="http://schemas.microsoft.com/office/drawing/2014/main" val="2925229505"/>
                    </a:ext>
                  </a:extLst>
                </a:gridCol>
              </a:tblGrid>
              <a:tr h="27117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[mm/h</a:t>
                      </a:r>
                      <a:r>
                        <a:rPr lang="it-IT" sz="14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  <a:r>
                        <a:rPr lang="it-IT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55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043867"/>
                  </a:ext>
                </a:extLst>
              </a:tr>
              <a:tr h="271179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n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440740"/>
                  </a:ext>
                </a:extLst>
              </a:tr>
            </a:tbl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5E02CE44-C94B-C249-0EE9-31C6B3289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746" y="1877961"/>
            <a:ext cx="4372003" cy="235826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5B1D5ACE-39E9-986F-5FA6-EF9712FA4AC0}"/>
              </a:ext>
            </a:extLst>
          </p:cNvPr>
          <p:cNvSpPr txBox="1"/>
          <p:nvPr/>
        </p:nvSpPr>
        <p:spPr>
          <a:xfrm>
            <a:off x="7083357" y="4503344"/>
            <a:ext cx="3437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Coefficienti C(n) e D(n) per n = 0,4:</a:t>
            </a: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3CF584DC-A332-5D8F-4DBD-ED9ECF364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657956"/>
              </p:ext>
            </p:extLst>
          </p:nvPr>
        </p:nvGraphicFramePr>
        <p:xfrm>
          <a:off x="7954297" y="4976598"/>
          <a:ext cx="2330246" cy="7484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0207">
                  <a:extLst>
                    <a:ext uri="{9D8B030D-6E8A-4147-A177-3AD203B41FA5}">
                      <a16:colId xmlns:a16="http://schemas.microsoft.com/office/drawing/2014/main" val="38845421"/>
                    </a:ext>
                  </a:extLst>
                </a:gridCol>
                <a:gridCol w="1170039">
                  <a:extLst>
                    <a:ext uri="{9D8B030D-6E8A-4147-A177-3AD203B41FA5}">
                      <a16:colId xmlns:a16="http://schemas.microsoft.com/office/drawing/2014/main" val="1207601162"/>
                    </a:ext>
                  </a:extLst>
                </a:gridCol>
              </a:tblGrid>
              <a:tr h="37424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C(n)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0,97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275434"/>
                  </a:ext>
                </a:extLst>
              </a:tr>
              <a:tr h="37424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D(n)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0,63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368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242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7FBFAE-9B2C-F23B-0C1D-66D17C491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VASCA VOLANO – Metodo della corrivazione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3B48C42-34F1-2154-5DEB-A40FCC859515}"/>
              </a:ext>
            </a:extLst>
          </p:cNvPr>
          <p:cNvSpPr txBox="1"/>
          <p:nvPr/>
        </p:nvSpPr>
        <p:spPr>
          <a:xfrm>
            <a:off x="609600" y="4920167"/>
            <a:ext cx="3686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- La portata critica è stata ricavata da: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85FB421-D37A-6A56-D850-EE47EFD42C33}"/>
              </a:ext>
            </a:extLst>
          </p:cNvPr>
          <p:cNvSpPr txBox="1"/>
          <p:nvPr/>
        </p:nvSpPr>
        <p:spPr>
          <a:xfrm>
            <a:off x="7236541" y="1568501"/>
            <a:ext cx="4660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Il rapporto di laminazione </a:t>
            </a:r>
            <a:r>
              <a:rPr lang="it-IT" sz="1800" b="0" i="0" u="none" strike="noStrike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lang="it-IT"/>
              <a:t> è stato ricavato come </a:t>
            </a:r>
            <a:r>
              <a:rPr lang="it-IT" sz="1800" b="0" i="0" u="none" strike="noStrike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lang="it-IT"/>
              <a:t> = </a:t>
            </a:r>
            <a:r>
              <a:rPr lang="it-IT" err="1"/>
              <a:t>Qumax</a:t>
            </a:r>
            <a:r>
              <a:rPr lang="it-IT"/>
              <a:t>/</a:t>
            </a:r>
            <a:r>
              <a:rPr lang="it-IT" err="1"/>
              <a:t>Qc</a:t>
            </a:r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76EABDA4-8B0E-E3B6-B0B9-FC0E3AC9F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487" y="3331217"/>
            <a:ext cx="4589545" cy="523732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DD61E37A-4007-3D8C-9852-BF9E7DDF683B}"/>
              </a:ext>
            </a:extLst>
          </p:cNvPr>
          <p:cNvSpPr txBox="1"/>
          <p:nvPr/>
        </p:nvSpPr>
        <p:spPr>
          <a:xfrm>
            <a:off x="7236541" y="2684886"/>
            <a:ext cx="4589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Il volume massimo di invaso è stato calcolato con: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99F5F9A-43C6-4244-4DDD-AF233AA877FE}"/>
              </a:ext>
            </a:extLst>
          </p:cNvPr>
          <p:cNvSpPr txBox="1"/>
          <p:nvPr/>
        </p:nvSpPr>
        <p:spPr>
          <a:xfrm>
            <a:off x="7236541" y="3890138"/>
            <a:ext cx="4392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Dove per </a:t>
            </a:r>
            <a:r>
              <a:rPr lang="el-G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θ</a:t>
            </a:r>
            <a:r>
              <a:rPr lang="it-IT" baseline="-25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/>
              <a:t>è stata utilizzatala durata critica d’invaso </a:t>
            </a:r>
            <a:r>
              <a:rPr lang="el-G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θ</a:t>
            </a:r>
            <a:r>
              <a:rPr lang="it-IT" sz="1800" baseline="-25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</a:t>
            </a:r>
            <a:r>
              <a:rPr lang="it-IT"/>
              <a:t>, ricavata ponendo </a:t>
            </a:r>
            <a:r>
              <a:rPr lang="it-IT" err="1"/>
              <a:t>dW</a:t>
            </a:r>
            <a:r>
              <a:rPr lang="it-IT"/>
              <a:t>/d</a:t>
            </a:r>
            <a:r>
              <a:rPr lang="el-G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θ</a:t>
            </a:r>
            <a:r>
              <a:rPr lang="it-IT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/>
              <a:t>= 0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2335D2-74C8-47DD-3B71-3ECE6DB1E778}"/>
              </a:ext>
            </a:extLst>
          </p:cNvPr>
          <p:cNvSpPr txBox="1"/>
          <p:nvPr/>
        </p:nvSpPr>
        <p:spPr>
          <a:xfrm>
            <a:off x="7280782" y="5036538"/>
            <a:ext cx="4626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Il volume della vasca volano </a:t>
            </a:r>
            <a:r>
              <a:rPr lang="it-IT" err="1"/>
              <a:t>Wv</a:t>
            </a:r>
            <a:r>
              <a:rPr lang="it-IT"/>
              <a:t> è pari a </a:t>
            </a:r>
            <a:r>
              <a:rPr lang="it-IT" err="1"/>
              <a:t>Wv</a:t>
            </a:r>
            <a:r>
              <a:rPr lang="it-IT"/>
              <a:t> =  W0(</a:t>
            </a:r>
            <a:r>
              <a:rPr lang="el-G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θ</a:t>
            </a:r>
            <a:r>
              <a:rPr lang="it-IT" sz="1800" baseline="-25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it-IT"/>
              <a:t>) - </a:t>
            </a:r>
            <a:r>
              <a:rPr lang="it-IT" err="1"/>
              <a:t>Wpp</a:t>
            </a:r>
            <a:endParaRPr lang="it-IT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6D7537F7-273C-73F8-595A-A6B4A0950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26" y="5270957"/>
            <a:ext cx="3609654" cy="411912"/>
          </a:xfrm>
          <a:prstGeom prst="rect">
            <a:avLst/>
          </a:prstGeom>
        </p:spPr>
      </p:pic>
      <p:sp>
        <p:nvSpPr>
          <p:cNvPr id="16" name="Segnaposto contenuto 15">
            <a:extLst>
              <a:ext uri="{FF2B5EF4-FFF2-40B4-BE49-F238E27FC236}">
                <a16:creationId xmlns:a16="http://schemas.microsoft.com/office/drawing/2014/main" id="{46AC0312-D66B-3282-10A8-EBE73491A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95482C5A-487E-C99B-9736-4D8DC1D778B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56" t="51251" r="48359" b="27096"/>
          <a:stretch/>
        </p:blipFill>
        <p:spPr>
          <a:xfrm>
            <a:off x="821264" y="1723136"/>
            <a:ext cx="6372236" cy="310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4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2F6E50-49C7-8E7D-A5E8-1A3A06CF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VASCA VOLANO – Metodo dell’invaso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8FA273-7FDF-BE99-607A-9361A5C54067}"/>
              </a:ext>
            </a:extLst>
          </p:cNvPr>
          <p:cNvSpPr txBox="1"/>
          <p:nvPr/>
        </p:nvSpPr>
        <p:spPr>
          <a:xfrm>
            <a:off x="654848" y="4818148"/>
            <a:ext cx="3686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- La portata critica è stata ricavata da: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AABF197-4ECD-3C1B-6CB6-AD7BA8EFFB12}"/>
              </a:ext>
            </a:extLst>
          </p:cNvPr>
          <p:cNvSpPr txBox="1"/>
          <p:nvPr/>
        </p:nvSpPr>
        <p:spPr>
          <a:xfrm>
            <a:off x="6752494" y="1673165"/>
            <a:ext cx="5215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Le grandezze adimensionali F e G sono state ricavate tramite le equazioni implicite: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C3F1699-7417-94E3-532A-4366EAC7F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900" y="2322133"/>
            <a:ext cx="4913802" cy="166435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EFFA510-E206-8C17-AA8F-F55FFCFDCA98}"/>
              </a:ext>
            </a:extLst>
          </p:cNvPr>
          <p:cNvSpPr txBox="1"/>
          <p:nvPr/>
        </p:nvSpPr>
        <p:spPr>
          <a:xfrm>
            <a:off x="6852900" y="4434888"/>
            <a:ext cx="4809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- La durata critica dell’invaso </a:t>
            </a:r>
            <a:r>
              <a:rPr lang="el-G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θ</a:t>
            </a:r>
            <a:r>
              <a:rPr lang="it-IT" baseline="-25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 </a:t>
            </a:r>
            <a:r>
              <a:rPr lang="it-IT"/>
              <a:t>è pari a </a:t>
            </a:r>
            <a:r>
              <a:rPr lang="el-G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θ</a:t>
            </a:r>
            <a:r>
              <a:rPr lang="it-IT" baseline="-25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it-IT"/>
              <a:t>K*F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3C22C2F-555B-5D04-7CB5-AEEAE32CE931}"/>
              </a:ext>
            </a:extLst>
          </p:cNvPr>
          <p:cNvSpPr txBox="1"/>
          <p:nvPr/>
        </p:nvSpPr>
        <p:spPr>
          <a:xfrm>
            <a:off x="6882582" y="5034116"/>
            <a:ext cx="479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W0 è stato calcolato come W0 = G*k*</a:t>
            </a:r>
            <a:r>
              <a:rPr lang="it-IT" err="1"/>
              <a:t>Qc</a:t>
            </a:r>
            <a:endParaRPr lang="it-IT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74A8AF92-8301-A548-E989-319F22C0C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95" y="5182688"/>
            <a:ext cx="4183309" cy="479550"/>
          </a:xfrm>
          <a:prstGeom prst="rect">
            <a:avLst/>
          </a:prstGeom>
        </p:spPr>
      </p:pic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7FA671B-1FED-F245-F695-40D4454BD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117B9A0-1B16-07DA-BD82-48661CF3776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34" t="40640" r="51369" b="36721"/>
          <a:stretch/>
        </p:blipFill>
        <p:spPr>
          <a:xfrm>
            <a:off x="484099" y="1756642"/>
            <a:ext cx="5708471" cy="304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53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5FFB58-8AFE-D079-CA01-2E1B4EA7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it-IT"/>
              <a:t>VASCA VOLANO – Metodo delle sole piogge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61110A8-EDA4-F2DA-0A40-114B377B08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711863"/>
              </p:ext>
            </p:extLst>
          </p:nvPr>
        </p:nvGraphicFramePr>
        <p:xfrm>
          <a:off x="776749" y="1747684"/>
          <a:ext cx="4873548" cy="1681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9931">
                  <a:extLst>
                    <a:ext uri="{9D8B030D-6E8A-4147-A177-3AD203B41FA5}">
                      <a16:colId xmlns:a16="http://schemas.microsoft.com/office/drawing/2014/main" val="3537512993"/>
                    </a:ext>
                  </a:extLst>
                </a:gridCol>
                <a:gridCol w="1049956">
                  <a:extLst>
                    <a:ext uri="{9D8B030D-6E8A-4147-A177-3AD203B41FA5}">
                      <a16:colId xmlns:a16="http://schemas.microsoft.com/office/drawing/2014/main" val="2976125917"/>
                    </a:ext>
                  </a:extLst>
                </a:gridCol>
                <a:gridCol w="1093705">
                  <a:extLst>
                    <a:ext uri="{9D8B030D-6E8A-4147-A177-3AD203B41FA5}">
                      <a16:colId xmlns:a16="http://schemas.microsoft.com/office/drawing/2014/main" val="1875896498"/>
                    </a:ext>
                  </a:extLst>
                </a:gridCol>
                <a:gridCol w="1049956">
                  <a:extLst>
                    <a:ext uri="{9D8B030D-6E8A-4147-A177-3AD203B41FA5}">
                      <a16:colId xmlns:a16="http://schemas.microsoft.com/office/drawing/2014/main" val="364801369"/>
                    </a:ext>
                  </a:extLst>
                </a:gridCol>
              </a:tblGrid>
              <a:tr h="3492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Durata critica invaso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θ</a:t>
                      </a:r>
                      <a:r>
                        <a:rPr lang="it-IT" sz="1400" baseline="-25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  <a:r>
                        <a:rPr lang="it-IT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4,809132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[h]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122704"/>
                  </a:ext>
                </a:extLst>
              </a:tr>
              <a:tr h="32875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Volume entrante max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</a:rPr>
                        <a:t>We_max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17446,94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[m^3]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637054"/>
                  </a:ext>
                </a:extLst>
              </a:tr>
              <a:tr h="369843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Volume uscente 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Wu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6984,36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[m^3]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485929"/>
                  </a:ext>
                </a:extLst>
              </a:tr>
              <a:tr h="3492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Volume max invasato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W0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10476,54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[m^3]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473595"/>
                  </a:ext>
                </a:extLst>
              </a:tr>
              <a:tr h="284131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volume vasca volano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err="1">
                          <a:effectLst/>
                        </a:rPr>
                        <a:t>Wv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9467,99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</a:rPr>
                        <a:t>[m^3]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260280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65BC7C-BB64-FE97-A044-33830EB5E541}"/>
              </a:ext>
            </a:extLst>
          </p:cNvPr>
          <p:cNvSpPr txBox="1"/>
          <p:nvPr/>
        </p:nvSpPr>
        <p:spPr>
          <a:xfrm>
            <a:off x="6704105" y="2219010"/>
            <a:ext cx="4943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- La durata critica dell’invaso </a:t>
            </a:r>
            <a:r>
              <a:rPr lang="el-G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θ</a:t>
            </a:r>
            <a:r>
              <a:rPr lang="it-IT" baseline="-25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it-IT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/>
              <a:t>è stata ricavata da: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88ED07C-7EE0-D833-920B-55618D68D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101" y="2588342"/>
            <a:ext cx="3079743" cy="98925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120AC3DE-C9D5-69B4-63F4-73D94FDF9B9B}"/>
              </a:ext>
            </a:extLst>
          </p:cNvPr>
          <p:cNvSpPr txBox="1"/>
          <p:nvPr/>
        </p:nvSpPr>
        <p:spPr>
          <a:xfrm>
            <a:off x="776750" y="4032116"/>
            <a:ext cx="4873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Il volume entrante massimo </a:t>
            </a:r>
            <a:r>
              <a:rPr lang="it-IT" err="1"/>
              <a:t>We_max</a:t>
            </a:r>
            <a:r>
              <a:rPr lang="it-IT"/>
              <a:t> ed il volume uscente </a:t>
            </a:r>
            <a:r>
              <a:rPr lang="it-IT" err="1"/>
              <a:t>Wu</a:t>
            </a:r>
            <a:r>
              <a:rPr lang="it-IT"/>
              <a:t> risultano rispettivamente: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868E49E-2A5A-1566-07BE-CA6B3C05A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899" y="4783246"/>
            <a:ext cx="2287830" cy="115395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27BF51B-7C55-017F-F611-1AAD95373841}"/>
              </a:ext>
            </a:extLst>
          </p:cNvPr>
          <p:cNvSpPr txBox="1"/>
          <p:nvPr/>
        </p:nvSpPr>
        <p:spPr>
          <a:xfrm>
            <a:off x="6635281" y="4355281"/>
            <a:ext cx="4735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- Il massimo volume invasato risulta pari a </a:t>
            </a:r>
          </a:p>
          <a:p>
            <a:r>
              <a:rPr lang="it-IT"/>
              <a:t>W0 = </a:t>
            </a:r>
            <a:r>
              <a:rPr lang="it-IT" err="1"/>
              <a:t>We_max</a:t>
            </a:r>
            <a:r>
              <a:rPr lang="it-IT"/>
              <a:t> - </a:t>
            </a:r>
            <a:r>
              <a:rPr lang="it-IT" err="1"/>
              <a:t>Wu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07348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A7A4C0-B325-7220-218B-422FE119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EAC36A-D0B1-7F19-42BF-74AD739A7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1566168"/>
      </p:ext>
    </p:extLst>
  </p:cSld>
  <p:clrMapOvr>
    <a:masterClrMapping/>
  </p:clrMapOvr>
</p:sld>
</file>

<file path=ppt/theme/theme1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O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</Template>
  <Application>Microsoft Office PowerPoint</Application>
  <PresentationFormat>Widescreen</PresentationFormat>
  <Slides>40</Slides>
  <Notes>10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Titoli diapositive</vt:lpstr>
      </vt:variant>
      <vt:variant>
        <vt:i4>40</vt:i4>
      </vt:variant>
    </vt:vector>
  </HeadingPairs>
  <TitlesOfParts>
    <vt:vector size="42" baseType="lpstr">
      <vt:lpstr>POLI</vt:lpstr>
      <vt:lpstr>POLI</vt:lpstr>
      <vt:lpstr>LABORATORIO PROGETTUALE  CORSO DI COSTRUZIONI IDRAULICHE A.A. 2023/2024     </vt:lpstr>
      <vt:lpstr>INTRODUZIONE LABORATORIO PROGETTUALE</vt:lpstr>
      <vt:lpstr>Presentazione standard di PowerPoint</vt:lpstr>
      <vt:lpstr>RETE DI ADDUZIONE - Dimensionamento</vt:lpstr>
      <vt:lpstr>RETE DI ADDUZIONE - Dimensionamento</vt:lpstr>
      <vt:lpstr>RETE DI ADDUZIONE - Verifiche</vt:lpstr>
      <vt:lpstr>RETE DI ADDUZIONE – Linee piezometriche</vt:lpstr>
      <vt:lpstr>SERBATOIO DI COMPENSO – Dati di progetto</vt:lpstr>
      <vt:lpstr>SERBATOIO DI COMPENSO – Volume di compenso</vt:lpstr>
      <vt:lpstr>SERBATOIO DI COMPENSO – Capacità totale del serbatoio</vt:lpstr>
      <vt:lpstr>RETE DI DISTRIBUZIONE – Dati di progetto</vt:lpstr>
      <vt:lpstr>RETE DI DISTRIBUZIONE - Schema </vt:lpstr>
      <vt:lpstr>RETE DI DISTRIBUZIONE - Predimensionamento</vt:lpstr>
      <vt:lpstr>RETE DI DISTRIBUZIONE – Portata massima del giorno di massimo consumo</vt:lpstr>
      <vt:lpstr>RETE DI DISTRIBUZIONE – Portata minima</vt:lpstr>
      <vt:lpstr>RETE DI DISTRIBUZIONE – Portata antincendio</vt:lpstr>
      <vt:lpstr>RETE DI DISTRIBUZIONE – Rottura di un lato</vt:lpstr>
      <vt:lpstr>Presentazione standard di PowerPoint</vt:lpstr>
      <vt:lpstr>IMPIANTO DI SOLLEVAMENTO – Dimensionamento vasca di presa</vt:lpstr>
      <vt:lpstr>IMPIANTO DI SOLLEVAMENTO – Dimensionamento vasca di presa</vt:lpstr>
      <vt:lpstr>IMPIANTO DI SOLLEVAMENTO – Dimensionamento vasca di presa</vt:lpstr>
      <vt:lpstr>IMPIANTO DI SOLLEVAMENTO – Dimensionamento condotta di mandata</vt:lpstr>
      <vt:lpstr>IMPIANTO DI SOLLEVAMENTO – Dimensionamento condotta di mandata</vt:lpstr>
      <vt:lpstr>IMPIANTO DI SOLLEVAMENTO – Scelta del sistema di pompe</vt:lpstr>
      <vt:lpstr>IMPIANTO DI SOLLEVAMENTO – Scelta del sistema di pompe</vt:lpstr>
      <vt:lpstr>IMPIANTO DI SOLLEVAMENTO – Scelta del sistema di pompe</vt:lpstr>
      <vt:lpstr>IMPIANTO DI SOLLEVAMENTO – Scelta del sistema di pompe</vt:lpstr>
      <vt:lpstr>Presentazione standard di PowerPoint</vt:lpstr>
      <vt:lpstr>FOGNATURA – Dati di progetto</vt:lpstr>
      <vt:lpstr>FOGNATURA – Scala delle portate</vt:lpstr>
      <vt:lpstr>FOGNATURA – Rete acque nere</vt:lpstr>
      <vt:lpstr>FOGNATURA – Rete acque meteoriche</vt:lpstr>
      <vt:lpstr>FOGNATURA – Rete acque meteoriche metodo della corrivazione</vt:lpstr>
      <vt:lpstr>FOGNATURA – Rete acque meteoriche metodo dell’invaso</vt:lpstr>
      <vt:lpstr>FOGNATURA – Vasca di prima pioggia</vt:lpstr>
      <vt:lpstr>VASCA VOLANO – Dati di progetto</vt:lpstr>
      <vt:lpstr>VASCA VOLANO – Metodo della corrivazione</vt:lpstr>
      <vt:lpstr>VASCA VOLANO – Metodo dell’invaso</vt:lpstr>
      <vt:lpstr>VASCA VOLANO – Metodo delle sole piogge</vt:lpstr>
      <vt:lpstr>Presentazione standard di PowerPoint</vt:lpstr>
    </vt:vector>
  </TitlesOfParts>
  <Company>Area Servizi 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Alessandro Colleoni</dc:creator>
  <cp:revision>4</cp:revision>
  <dcterms:created xsi:type="dcterms:W3CDTF">2015-05-26T12:27:57Z</dcterms:created>
  <dcterms:modified xsi:type="dcterms:W3CDTF">2024-10-28T13:30:38Z</dcterms:modified>
</cp:coreProperties>
</file>